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3"/>
  </p:notesMasterIdLst>
  <p:sldIdLst>
    <p:sldId id="287" r:id="rId2"/>
    <p:sldId id="335" r:id="rId48"/>
    <p:sldId id="314" r:id="rId3"/>
    <p:sldId id="315" r:id="rId4"/>
    <p:sldId id="316" r:id="rId5"/>
    <p:sldId id="336" r:id="rId55"/>
    <p:sldId id="317" r:id="rId6"/>
    <p:sldId id="318" r:id="rId7"/>
    <p:sldId id="319" r:id="rId8"/>
    <p:sldId id="320" r:id="rId9"/>
    <p:sldId id="321" r:id="rId10"/>
    <p:sldId id="322" r:id="rId11"/>
    <p:sldId id="303" r:id="rId12"/>
    <p:sldId id="323" r:id="rId13"/>
    <p:sldId id="324" r:id="rId14"/>
    <p:sldId id="334" r:id="rId15"/>
    <p:sldId id="326" r:id="rId16"/>
    <p:sldId id="327" r:id="rId17"/>
    <p:sldId id="337" r:id="rId56"/>
    <p:sldId id="328" r:id="rId18"/>
    <p:sldId id="329" r:id="rId19"/>
    <p:sldId id="330" r:id="rId20"/>
    <p:sldId id="331" r:id="rId21"/>
    <p:sldId id="298" r:id="rId22"/>
    <p:sldId id="299" r:id="rId23"/>
    <p:sldId id="300" r:id="rId24"/>
    <p:sldId id="301" r:id="rId25"/>
    <p:sldId id="302" r:id="rId26"/>
    <p:sldId id="291" r:id="rId27"/>
    <p:sldId id="292" r:id="rId28"/>
    <p:sldId id="304" r:id="rId29"/>
    <p:sldId id="305" r:id="rId30"/>
    <p:sldId id="306" r:id="rId31"/>
    <p:sldId id="307" r:id="rId32"/>
    <p:sldId id="332" r:id="rId33"/>
    <p:sldId id="333" r:id="rId34"/>
    <p:sldId id="296" r:id="rId35"/>
    <p:sldId id="308" r:id="rId36"/>
    <p:sldId id="309" r:id="rId37"/>
    <p:sldId id="297" r:id="rId38"/>
    <p:sldId id="310" r:id="rId39"/>
    <p:sldId id="311" r:id="rId40"/>
    <p:sldId id="312" r:id="rId41"/>
    <p:sldId id="313" r:id="rId42"/>
  </p:sldIdLst>
  <p:sldSz cx="18288000" cy="10287000"/>
  <p:notesSz cx="6858000" cy="9144000"/>
  <p:embeddedFontLst>
    <p:embeddedFont>
      <p:font typeface="Readex Pro" panose="020B0604020202020204" charset="-78"/>
      <p:regular r:id="rId44"/>
      <p:bold r:id="rId45"/>
    </p:embeddedFont>
    <p:embeddedFont>
      <p:font typeface="Readex Pro Light" panose="020B0604020202020204" charset="-78"/>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F2C2"/>
    <a:srgbClr val="CBCFE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DF2287-169F-4BAC-A2C8-6B985AB240DD}" v="478" dt="2026-10-06T18:57:35.205"/>
    <p1510:client id="{D0D01D6D-49DB-45D8-BEE7-644BA584C360}" v="437" dt="2026-10-06T17:35:03.919"/>
  </p1510:revLst>
</p1510:revInfo>
</file>

<file path=ppt/tableStyles.xml><?xml version="1.0" encoding="utf-8"?>
<a:tblStyleLst xmlns:a="http://schemas.openxmlformats.org/drawingml/2006/main" def="{B8ED9858-D163-4338-9E88-1F424354888F}">
  <a:tblStyle styleId="{B8ED9858-D163-4338-9E88-1F424354888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font" Target="fonts/font1.fntdata"/><Relationship Id="rId45" Type="http://schemas.openxmlformats.org/officeDocument/2006/relationships/font" Target="fonts/font2.fntdata"/><Relationship Id="rId46" Type="http://schemas.openxmlformats.org/officeDocument/2006/relationships/font" Target="fonts/font3.fntdata"/><Relationship Id="rId47" Type="http://schemas.openxmlformats.org/officeDocument/2006/relationships/font" Target="fonts/font4.fntdata"/><Relationship Id="rId48" Type="http://schemas.openxmlformats.org/officeDocument/2006/relationships/slide" Target="slides/slide42.xml"/><Relationship Id="rId49" Type="http://customschemas.google.com/relationships/presentationmetadata" Target="metadata"/><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microsoft.com/office/2015/10/relationships/revisionInfo" Target="revisionInfo.xml"/><Relationship Id="rId55" Type="http://schemas.openxmlformats.org/officeDocument/2006/relationships/slide" Target="slides/slide43.xml"/><Relationship Id="rId56"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خريطة المعايير: كل شريحة رئيسية تحمل في أعلاها رقم القسم واسم المعيار. التفاصيل والأرقام الكاملة بمصادرها في الملحق بعد شريحة الختام.</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الأطفال يستعملون مساعدات الذكاء الاصطناعي العامة لكل شيء، لا للأسئلة الدينية فقط، فيصلون إلى معلومات ومحتوى لا يريده والداهم. وحين يسألون عن دينهم قد يخترع المساعد حديثا أو يخطئ في آية أو يفتي في مسألة تحتاج عالما. والوالدان لا يتسع وقتهما لمتابعة كل ما يراه الطفل، والطفل نفسه لا يحكي لهما كل شيء. لا نريد أن نمنع الطفل من السؤال: نريده أن يسأل رفيقا عاما بروح إسلامية، يجد الوقت المناسب ليعلّم، ويجيب عن الأسئلة الدينية بدقة ومن مصدر، ويُبقي الوالدين قريبين.</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الصديق الصدوق تعني الصديق الذي يصدقك. اسم الشخصية في الحوار «الصديق». الشاشة الرئيسية للطفل بالعربية لعائلة تجريبية ببيانات اصطناعية. يعمل بالعربية والإنجليزية، صوتا أو كتابة، على الويب (alsadiqai.com). تطبيق الجوال قيد التطوير.</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rPr dirty="0" err="1"/>
              <a:t>صديق</a:t>
            </a:r>
            <a:r>
              <a:rPr dirty="0"/>
              <a:t> </a:t>
            </a:r>
            <a:r>
              <a:rPr dirty="0" err="1"/>
              <a:t>لا</a:t>
            </a:r>
            <a:r>
              <a:rPr dirty="0"/>
              <a:t> </a:t>
            </a:r>
            <a:r>
              <a:rPr dirty="0" err="1"/>
              <a:t>واعظ</a:t>
            </a:r>
            <a:r>
              <a:rPr dirty="0"/>
              <a:t>: </a:t>
            </a:r>
            <a:r>
              <a:rPr dirty="0" err="1"/>
              <a:t>يدردش</a:t>
            </a:r>
            <a:r>
              <a:rPr dirty="0"/>
              <a:t> </a:t>
            </a:r>
            <a:r>
              <a:rPr dirty="0" err="1"/>
              <a:t>ويفرح</a:t>
            </a:r>
            <a:r>
              <a:rPr dirty="0"/>
              <a:t> </a:t>
            </a:r>
            <a:r>
              <a:rPr dirty="0" err="1"/>
              <a:t>مع</a:t>
            </a:r>
            <a:r>
              <a:rPr dirty="0"/>
              <a:t> </a:t>
            </a:r>
            <a:r>
              <a:rPr dirty="0" err="1"/>
              <a:t>الطفل</a:t>
            </a:r>
            <a:r>
              <a:rPr dirty="0"/>
              <a:t>، </a:t>
            </a:r>
            <a:r>
              <a:rPr dirty="0" err="1"/>
              <a:t>ولا</a:t>
            </a:r>
            <a:r>
              <a:rPr dirty="0"/>
              <a:t> </a:t>
            </a:r>
            <a:r>
              <a:rPr dirty="0" err="1"/>
              <a:t>يقحم</a:t>
            </a:r>
            <a:r>
              <a:rPr dirty="0"/>
              <a:t> </a:t>
            </a:r>
            <a:r>
              <a:rPr dirty="0" err="1"/>
              <a:t>درسا</a:t>
            </a:r>
            <a:r>
              <a:rPr dirty="0"/>
              <a:t> </a:t>
            </a:r>
            <a:r>
              <a:rPr dirty="0" err="1"/>
              <a:t>لم</a:t>
            </a:r>
            <a:r>
              <a:rPr dirty="0"/>
              <a:t> </a:t>
            </a:r>
            <a:r>
              <a:rPr dirty="0" err="1"/>
              <a:t>يطلبه</a:t>
            </a:r>
            <a:r>
              <a:rPr dirty="0"/>
              <a:t>. </a:t>
            </a:r>
            <a:r>
              <a:rPr dirty="0" err="1"/>
              <a:t>تعلّم</a:t>
            </a:r>
            <a:r>
              <a:rPr dirty="0"/>
              <a:t> </a:t>
            </a:r>
            <a:r>
              <a:rPr dirty="0" err="1"/>
              <a:t>باللعب</a:t>
            </a:r>
            <a:r>
              <a:rPr dirty="0"/>
              <a:t>: </a:t>
            </a:r>
            <a:r>
              <a:rPr dirty="0" err="1"/>
              <a:t>مهام</a:t>
            </a:r>
            <a:r>
              <a:rPr dirty="0"/>
              <a:t> </a:t>
            </a:r>
            <a:r>
              <a:rPr dirty="0" err="1"/>
              <a:t>يؤكدها</a:t>
            </a:r>
            <a:r>
              <a:rPr dirty="0"/>
              <a:t> </a:t>
            </a:r>
            <a:r>
              <a:rPr dirty="0" err="1"/>
              <a:t>الوالدان</a:t>
            </a:r>
            <a:r>
              <a:rPr dirty="0"/>
              <a:t>، </a:t>
            </a:r>
            <a:r>
              <a:rPr dirty="0" err="1"/>
              <a:t>وأوسمة</a:t>
            </a:r>
            <a:r>
              <a:rPr dirty="0"/>
              <a:t> </a:t>
            </a:r>
            <a:r>
              <a:rPr dirty="0" err="1"/>
              <a:t>للقيم</a:t>
            </a:r>
            <a:r>
              <a:rPr dirty="0"/>
              <a:t> </a:t>
            </a:r>
            <a:r>
              <a:rPr dirty="0" err="1"/>
              <a:t>وللأيام</a:t>
            </a:r>
            <a:r>
              <a:rPr dirty="0"/>
              <a:t> </a:t>
            </a:r>
            <a:r>
              <a:rPr dirty="0" err="1"/>
              <a:t>المتتالية</a:t>
            </a:r>
            <a:r>
              <a:rPr dirty="0"/>
              <a:t>، </a:t>
            </a:r>
            <a:r>
              <a:rPr dirty="0" err="1"/>
              <a:t>ونقاط</a:t>
            </a:r>
            <a:r>
              <a:rPr dirty="0"/>
              <a:t> </a:t>
            </a:r>
            <a:r>
              <a:rPr dirty="0" err="1"/>
              <a:t>ومستويات</a:t>
            </a:r>
            <a:r>
              <a:rPr dirty="0"/>
              <a:t>، </a:t>
            </a:r>
            <a:r>
              <a:rPr dirty="0" err="1"/>
              <a:t>واحتفال</a:t>
            </a:r>
            <a:r>
              <a:rPr dirty="0"/>
              <a:t> </a:t>
            </a:r>
            <a:r>
              <a:rPr dirty="0" err="1"/>
              <a:t>بصري</a:t>
            </a:r>
            <a:r>
              <a:rPr dirty="0"/>
              <a:t> </a:t>
            </a:r>
            <a:r>
              <a:rPr dirty="0" err="1"/>
              <a:t>وصوتي</a:t>
            </a:r>
            <a:r>
              <a:rPr dirty="0"/>
              <a:t> </a:t>
            </a:r>
            <a:r>
              <a:rPr dirty="0" err="1"/>
              <a:t>عند</a:t>
            </a:r>
            <a:r>
              <a:rPr dirty="0"/>
              <a:t> </a:t>
            </a:r>
            <a:r>
              <a:rPr dirty="0" err="1"/>
              <a:t>الإنجاز</a:t>
            </a:r>
            <a:r>
              <a:rPr dirty="0"/>
              <a:t>؛ </a:t>
            </a:r>
            <a:r>
              <a:rPr dirty="0" err="1"/>
              <a:t>المهام</a:t>
            </a:r>
            <a:r>
              <a:rPr dirty="0"/>
              <a:t> </a:t>
            </a:r>
            <a:r>
              <a:rPr dirty="0" err="1"/>
              <a:t>والأوسمة</a:t>
            </a:r>
            <a:r>
              <a:rPr dirty="0"/>
              <a:t> </a:t>
            </a:r>
            <a:r>
              <a:rPr dirty="0" err="1"/>
              <a:t>بدأت</a:t>
            </a:r>
            <a:r>
              <a:rPr dirty="0"/>
              <a:t> </a:t>
            </a:r>
            <a:r>
              <a:rPr dirty="0" err="1"/>
              <a:t>في</a:t>
            </a:r>
            <a:r>
              <a:rPr dirty="0"/>
              <a:t> </a:t>
            </a:r>
            <a:r>
              <a:rPr dirty="0" err="1"/>
              <a:t>مشروع</a:t>
            </a:r>
            <a:r>
              <a:rPr dirty="0"/>
              <a:t> </a:t>
            </a:r>
            <a:r>
              <a:rPr dirty="0" err="1"/>
              <a:t>التخرج</a:t>
            </a:r>
            <a:r>
              <a:rPr dirty="0"/>
              <a:t> (DISCLOSURE.md). </a:t>
            </a:r>
            <a:r>
              <a:rPr dirty="0" err="1"/>
              <a:t>شخصية</a:t>
            </a:r>
            <a:r>
              <a:rPr dirty="0"/>
              <a:t> </a:t>
            </a:r>
            <a:r>
              <a:rPr dirty="0" err="1"/>
              <a:t>حية</a:t>
            </a:r>
            <a:r>
              <a:rPr dirty="0"/>
              <a:t>: 30 </a:t>
            </a:r>
            <a:r>
              <a:rPr dirty="0" err="1"/>
              <a:t>حركة</a:t>
            </a:r>
            <a:r>
              <a:rPr dirty="0"/>
              <a:t> </a:t>
            </a:r>
            <a:r>
              <a:rPr dirty="0" err="1"/>
              <a:t>في</a:t>
            </a:r>
            <a:r>
              <a:rPr dirty="0"/>
              <a:t> </a:t>
            </a:r>
            <a:r>
              <a:rPr dirty="0" err="1"/>
              <a:t>نموذج</a:t>
            </a:r>
            <a:r>
              <a:rPr dirty="0"/>
              <a:t> </a:t>
            </a:r>
            <a:r>
              <a:rPr dirty="0" err="1"/>
              <a:t>الشخصية</a:t>
            </a:r>
            <a:r>
              <a:rPr dirty="0"/>
              <a:t> (</a:t>
            </a:r>
            <a:r>
              <a:rPr dirty="0" err="1"/>
              <a:t>إنصات</a:t>
            </a:r>
            <a:r>
              <a:rPr dirty="0"/>
              <a:t> </a:t>
            </a:r>
            <a:r>
              <a:rPr dirty="0" err="1"/>
              <a:t>بأنواعه</a:t>
            </a:r>
            <a:r>
              <a:rPr dirty="0"/>
              <a:t>، </a:t>
            </a:r>
            <a:r>
              <a:rPr dirty="0" err="1"/>
              <a:t>تفكير</a:t>
            </a:r>
            <a:r>
              <a:rPr dirty="0"/>
              <a:t>، </a:t>
            </a:r>
            <a:r>
              <a:rPr dirty="0" err="1"/>
              <a:t>كلام</a:t>
            </a:r>
            <a:r>
              <a:rPr dirty="0"/>
              <a:t>، </a:t>
            </a:r>
            <a:r>
              <a:rPr dirty="0" err="1"/>
              <a:t>تحية</a:t>
            </a:r>
            <a:r>
              <a:rPr dirty="0"/>
              <a:t> </a:t>
            </a:r>
            <a:r>
              <a:rPr dirty="0" err="1"/>
              <a:t>ووداع</a:t>
            </a:r>
            <a:r>
              <a:rPr dirty="0"/>
              <a:t>، </a:t>
            </a:r>
            <a:r>
              <a:rPr dirty="0" err="1"/>
              <a:t>احتفال</a:t>
            </a:r>
            <a:r>
              <a:rPr dirty="0"/>
              <a:t>) </a:t>
            </a:r>
            <a:r>
              <a:rPr dirty="0" err="1"/>
              <a:t>وإيماءات</a:t>
            </a:r>
            <a:r>
              <a:rPr dirty="0"/>
              <a:t> </a:t>
            </a:r>
            <a:r>
              <a:rPr dirty="0" err="1"/>
              <a:t>يد</a:t>
            </a:r>
            <a:r>
              <a:rPr dirty="0"/>
              <a:t> </a:t>
            </a:r>
            <a:r>
              <a:rPr dirty="0" err="1"/>
              <a:t>مع</a:t>
            </a:r>
            <a:r>
              <a:rPr dirty="0"/>
              <a:t> </a:t>
            </a:r>
            <a:r>
              <a:rPr dirty="0" err="1"/>
              <a:t>الكلمات</a:t>
            </a:r>
            <a:r>
              <a:rPr dirty="0"/>
              <a:t>، </a:t>
            </a:r>
            <a:r>
              <a:rPr dirty="0" err="1"/>
              <a:t>ومزامنة</a:t>
            </a:r>
            <a:r>
              <a:rPr dirty="0"/>
              <a:t> </a:t>
            </a:r>
            <a:r>
              <a:rPr dirty="0" err="1"/>
              <a:t>الشفاه</a:t>
            </a:r>
            <a:r>
              <a:rPr dirty="0"/>
              <a:t>. </a:t>
            </a:r>
            <a:r>
              <a:rPr dirty="0" err="1"/>
              <a:t>مصدر</a:t>
            </a:r>
            <a:r>
              <a:rPr dirty="0"/>
              <a:t> </a:t>
            </a:r>
            <a:r>
              <a:rPr dirty="0" err="1"/>
              <a:t>حين</a:t>
            </a:r>
            <a:r>
              <a:rPr dirty="0"/>
              <a:t> </a:t>
            </a:r>
            <a:r>
              <a:rPr dirty="0" err="1"/>
              <a:t>يسأل</a:t>
            </a:r>
            <a:r>
              <a:rPr dirty="0"/>
              <a:t>: </a:t>
            </a:r>
            <a:r>
              <a:rPr dirty="0" err="1"/>
              <a:t>بطاقة</a:t>
            </a:r>
            <a:r>
              <a:rPr dirty="0"/>
              <a:t> </a:t>
            </a:r>
            <a:r>
              <a:rPr dirty="0" err="1"/>
              <a:t>من</a:t>
            </a:r>
            <a:r>
              <a:rPr dirty="0"/>
              <a:t> </a:t>
            </a:r>
            <a:r>
              <a:rPr dirty="0" err="1"/>
              <a:t>البنك</a:t>
            </a:r>
            <a:r>
              <a:rPr dirty="0"/>
              <a:t> </a:t>
            </a:r>
            <a:r>
              <a:rPr dirty="0" err="1"/>
              <a:t>المراجع</a:t>
            </a:r>
            <a:r>
              <a:rPr dirty="0"/>
              <a:t>. </a:t>
            </a:r>
            <a:r>
              <a:rPr dirty="0" err="1"/>
              <a:t>تلاوة</a:t>
            </a:r>
            <a:r>
              <a:rPr dirty="0"/>
              <a:t> </a:t>
            </a:r>
            <a:r>
              <a:rPr dirty="0" err="1"/>
              <a:t>لا</a:t>
            </a:r>
            <a:r>
              <a:rPr dirty="0"/>
              <a:t> </a:t>
            </a:r>
            <a:r>
              <a:rPr dirty="0" err="1"/>
              <a:t>صوت</a:t>
            </a:r>
            <a:r>
              <a:rPr dirty="0"/>
              <a:t> </a:t>
            </a:r>
            <a:r>
              <a:rPr dirty="0" err="1"/>
              <a:t>آلي</a:t>
            </a:r>
            <a:r>
              <a:rPr dirty="0"/>
              <a:t>: </a:t>
            </a:r>
            <a:r>
              <a:rPr dirty="0" err="1"/>
              <a:t>الآيات</a:t>
            </a:r>
            <a:r>
              <a:rPr dirty="0"/>
              <a:t> </a:t>
            </a:r>
            <a:r>
              <a:rPr dirty="0" err="1"/>
              <a:t>بتلاوة</a:t>
            </a:r>
            <a:r>
              <a:rPr dirty="0"/>
              <a:t> </a:t>
            </a:r>
            <a:r>
              <a:rPr dirty="0" err="1"/>
              <a:t>محمود</a:t>
            </a:r>
            <a:r>
              <a:rPr dirty="0"/>
              <a:t> </a:t>
            </a:r>
            <a:r>
              <a:rPr dirty="0" err="1"/>
              <a:t>خليل</a:t>
            </a:r>
            <a:r>
              <a:rPr dirty="0"/>
              <a:t> </a:t>
            </a:r>
            <a:r>
              <a:rPr dirty="0" err="1"/>
              <a:t>الحصري</a:t>
            </a:r>
            <a:r>
              <a:rPr dirty="0"/>
              <a:t> (</a:t>
            </a:r>
            <a:r>
              <a:rPr dirty="0" err="1"/>
              <a:t>مرتل</a:t>
            </a:r>
            <a:r>
              <a:rPr dirty="0"/>
              <a:t>) </a:t>
            </a:r>
            <a:r>
              <a:rPr dirty="0" err="1"/>
              <a:t>من</a:t>
            </a:r>
            <a:r>
              <a:rPr dirty="0"/>
              <a:t> everyayah.com. </a:t>
            </a:r>
            <a:r>
              <a:rPr dirty="0" err="1"/>
              <a:t>الوالدان</a:t>
            </a:r>
            <a:r>
              <a:rPr dirty="0"/>
              <a:t> </a:t>
            </a:r>
            <a:r>
              <a:rPr dirty="0" err="1"/>
              <a:t>معه</a:t>
            </a:r>
            <a:r>
              <a:rPr dirty="0"/>
              <a:t>: </a:t>
            </a:r>
            <a:r>
              <a:rPr dirty="0" err="1"/>
              <a:t>ملخص</a:t>
            </a:r>
            <a:r>
              <a:rPr dirty="0"/>
              <a:t> </a:t>
            </a:r>
            <a:r>
              <a:rPr dirty="0" err="1"/>
              <a:t>لكل</a:t>
            </a:r>
            <a:r>
              <a:rPr dirty="0"/>
              <a:t> </a:t>
            </a:r>
            <a:r>
              <a:rPr dirty="0" err="1"/>
              <a:t>جلسة</a:t>
            </a:r>
            <a:r>
              <a:rPr dirty="0"/>
              <a:t>، </a:t>
            </a:r>
            <a:r>
              <a:rPr dirty="0" err="1"/>
              <a:t>ومصادر</a:t>
            </a:r>
            <a:r>
              <a:rPr dirty="0"/>
              <a:t> </a:t>
            </a:r>
            <a:r>
              <a:rPr dirty="0" err="1"/>
              <a:t>الأسبوع</a:t>
            </a:r>
            <a:r>
              <a:rPr dirty="0"/>
              <a:t>، </a:t>
            </a:r>
            <a:r>
              <a:rPr dirty="0" err="1"/>
              <a:t>وتنبيهات</a:t>
            </a:r>
            <a:r>
              <a:rPr dirty="0"/>
              <a:t> </a:t>
            </a:r>
            <a:r>
              <a:rPr dirty="0" err="1"/>
              <a:t>السلامة</a:t>
            </a:r>
            <a:r>
              <a:rPr dirty="0"/>
              <a:t>، </a:t>
            </a:r>
            <a:r>
              <a:rPr dirty="0" err="1"/>
              <a:t>وأسئلة</a:t>
            </a:r>
            <a:r>
              <a:rPr dirty="0"/>
              <a:t> </a:t>
            </a:r>
            <a:r>
              <a:rPr dirty="0" err="1"/>
              <a:t>للنقاش</a:t>
            </a:r>
            <a:r>
              <a:rPr dirty="0"/>
              <a:t>.</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err="1"/>
              <a:t>يبدأ</a:t>
            </a:r>
            <a:r>
              <a:rPr dirty="0"/>
              <a:t> </a:t>
            </a:r>
            <a:r>
              <a:rPr dirty="0" err="1"/>
              <a:t>الطفل</a:t>
            </a:r>
            <a:r>
              <a:rPr dirty="0"/>
              <a:t> </a:t>
            </a:r>
            <a:r>
              <a:rPr dirty="0" err="1"/>
              <a:t>بزر</a:t>
            </a:r>
            <a:r>
              <a:rPr dirty="0"/>
              <a:t> </a:t>
            </a:r>
            <a:r>
              <a:rPr dirty="0" err="1"/>
              <a:t>واحد</a:t>
            </a:r>
            <a:r>
              <a:rPr dirty="0"/>
              <a:t>، </a:t>
            </a:r>
            <a:r>
              <a:rPr dirty="0" err="1"/>
              <a:t>ثم</a:t>
            </a:r>
            <a:r>
              <a:rPr dirty="0"/>
              <a:t> </a:t>
            </a:r>
            <a:r>
              <a:rPr dirty="0" err="1"/>
              <a:t>يحاور</a:t>
            </a:r>
            <a:r>
              <a:rPr dirty="0"/>
              <a:t> </a:t>
            </a:r>
            <a:r>
              <a:rPr dirty="0" err="1"/>
              <a:t>الصديق</a:t>
            </a:r>
            <a:r>
              <a:rPr dirty="0"/>
              <a:t> </a:t>
            </a:r>
            <a:r>
              <a:rPr dirty="0" err="1"/>
              <a:t>بصوته</a:t>
            </a:r>
            <a:r>
              <a:rPr dirty="0"/>
              <a:t>، </a:t>
            </a:r>
            <a:r>
              <a:rPr dirty="0" err="1"/>
              <a:t>والشخصية</a:t>
            </a:r>
            <a:r>
              <a:rPr dirty="0"/>
              <a:t> </a:t>
            </a:r>
            <a:r>
              <a:rPr dirty="0" err="1"/>
              <a:t>تنصت</a:t>
            </a:r>
            <a:r>
              <a:rPr dirty="0"/>
              <a:t> </a:t>
            </a:r>
            <a:r>
              <a:rPr dirty="0" err="1"/>
              <a:t>وتفكر</a:t>
            </a:r>
            <a:r>
              <a:rPr dirty="0"/>
              <a:t> </a:t>
            </a:r>
            <a:r>
              <a:rPr dirty="0" err="1"/>
              <a:t>وتتكلم</a:t>
            </a:r>
            <a:r>
              <a:rPr dirty="0"/>
              <a:t> </a:t>
            </a:r>
            <a:r>
              <a:rPr dirty="0" err="1"/>
              <a:t>بمزامنة</a:t>
            </a:r>
            <a:r>
              <a:rPr dirty="0"/>
              <a:t> </a:t>
            </a:r>
            <a:r>
              <a:rPr dirty="0" err="1"/>
              <a:t>الشفاه</a:t>
            </a:r>
            <a:r>
              <a:rPr dirty="0"/>
              <a:t>. </a:t>
            </a:r>
            <a:r>
              <a:rPr dirty="0" err="1"/>
              <a:t>حين</a:t>
            </a:r>
            <a:r>
              <a:rPr dirty="0"/>
              <a:t> </a:t>
            </a:r>
            <a:r>
              <a:rPr dirty="0" err="1"/>
              <a:t>يسأل</a:t>
            </a:r>
            <a:r>
              <a:rPr dirty="0"/>
              <a:t> </a:t>
            </a:r>
            <a:r>
              <a:rPr dirty="0" err="1"/>
              <a:t>عن</a:t>
            </a:r>
            <a:r>
              <a:rPr dirty="0"/>
              <a:t> </a:t>
            </a:r>
            <a:r>
              <a:rPr dirty="0" err="1"/>
              <a:t>دينه</a:t>
            </a:r>
            <a:r>
              <a:rPr dirty="0"/>
              <a:t> </a:t>
            </a:r>
            <a:r>
              <a:rPr dirty="0" err="1"/>
              <a:t>تظهر</a:t>
            </a:r>
            <a:r>
              <a:rPr dirty="0"/>
              <a:t> </a:t>
            </a:r>
            <a:r>
              <a:rPr dirty="0" err="1"/>
              <a:t>بطاقة</a:t>
            </a:r>
            <a:r>
              <a:rPr dirty="0"/>
              <a:t> </a:t>
            </a:r>
            <a:r>
              <a:rPr dirty="0" err="1"/>
              <a:t>المصدر</a:t>
            </a:r>
            <a:r>
              <a:rPr dirty="0"/>
              <a:t> </a:t>
            </a:r>
            <a:r>
              <a:rPr dirty="0" err="1"/>
              <a:t>بجانب</a:t>
            </a:r>
            <a:r>
              <a:rPr dirty="0"/>
              <a:t> </a:t>
            </a:r>
            <a:r>
              <a:rPr dirty="0" err="1"/>
              <a:t>المحادثة</a:t>
            </a:r>
            <a:r>
              <a:rPr dirty="0"/>
              <a:t>. </a:t>
            </a:r>
            <a:r>
              <a:rPr dirty="0" err="1"/>
              <a:t>الكتابة</a:t>
            </a:r>
            <a:r>
              <a:rPr dirty="0"/>
              <a:t> </a:t>
            </a:r>
            <a:r>
              <a:rPr dirty="0" err="1"/>
              <a:t>بديل</a:t>
            </a:r>
            <a:r>
              <a:rPr dirty="0"/>
              <a:t> </a:t>
            </a:r>
            <a:r>
              <a:rPr dirty="0" err="1"/>
              <a:t>كامل</a:t>
            </a:r>
            <a:r>
              <a:rPr dirty="0"/>
              <a:t> </a:t>
            </a:r>
            <a:r>
              <a:rPr dirty="0" err="1"/>
              <a:t>للصوت</a:t>
            </a:r>
            <a:r>
              <a:rPr dirty="0"/>
              <a:t>. </a:t>
            </a:r>
            <a:r>
              <a:rPr dirty="0" err="1"/>
              <a:t>فحص</a:t>
            </a:r>
            <a:r>
              <a:rPr dirty="0"/>
              <a:t> axe: 0 </a:t>
            </a:r>
            <a:r>
              <a:rPr dirty="0" err="1"/>
              <a:t>مخالفات</a:t>
            </a:r>
            <a:r>
              <a:rPr dirty="0"/>
              <a:t> </a:t>
            </a:r>
            <a:r>
              <a:rPr dirty="0" err="1"/>
              <a:t>على</a:t>
            </a:r>
            <a:r>
              <a:rPr dirty="0"/>
              <a:t> 12 </a:t>
            </a:r>
            <a:r>
              <a:rPr dirty="0" err="1"/>
              <a:t>صفحة</a:t>
            </a:r>
            <a:r>
              <a:rPr dirty="0"/>
              <a:t> </a:t>
            </a:r>
            <a:r>
              <a:rPr dirty="0" err="1"/>
              <a:t>باللغتين</a:t>
            </a:r>
            <a:r>
              <a:rPr dirty="0"/>
              <a:t> (product-web.md).</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من التطبيق: آية بنص مجمع الملك فهد عبر Quranpedia وترجمة صحيح إنترناشونال، وحديث من الدرر السنية بدرجته، ومصطلح من معجم الجمهرة، وسؤال من بينات. التلاوة لمحمود خليل الحصري (مرتل) من everyayah.com؛ قصصنا سطر التلاوة من لقطة الآية لأنها التقطت قبل الانتقال من المصحف المعلم إلى المرتل.</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صفحة «المصادر التي ناقشها هذا الأسبوع» تسجل ما خدمه البنك فعلا لا ما قاله النموذج (PR #59، والبيانات التجريبية PR #58). صفحة الرؤى: المستوى والتتابع والملخص الأسبوعي ومهام تنتظر تأكيد الوالدين. التنبيهات تصل الوالدين حين يرصد الصديق خطرا أو أمرا حساسا، ولا يظهر لهما نص المحادثة.</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قائمة بكل ميزات النظام في النسخة المدمجة. للطفل: محادثة صوتية أو كتابة بالعربية والإنجليزية، شخصية ثلاثية الأبعاد بمزامنة الشفاه و30 حركة وإيماءات يد مع الكلام، بطاقة المصدر، تلاوة مسجلة، آية طمأنة واحدة حين يحزن أو يخاف، ومهام وأوسمة ونقاط ومستويات وأيام متتالية واحتفال بالإنجاز. للوالدين: حساب الوالد وحسابات الأبناء، ملخص لكل جلسة، قيم الأسبوع، أسئلة للنقاش، مصادر الأسبوع، تأكيد المهام، تنبيهات السلامة، وتقدم كل طفل، ولا يظهر لهما نص المحادثة. الأمان: البنك المراجع، حارس الدور، حراس المخرجات، إحالة الفتوى، الإفصاح بأنه ذكاء اصطناعي، سقف يومي لأحرف الصوت وبعده كتابة فقط، صفحة الخصوصية، حسابات للجنة، وتقييم آلي.</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القيم الثماني والثلاثون من بنك المحتوى (values.json)، ولكل قيمة أحاديث مراجعة، ولـ37 منها آيات (عيادة المريض لها أحاديث فقط)، ومعها تفسير أو مصطلحات أو أسئلة شائعة لكثير منها، وشرح للطفل بلغتين. التجميع في ستة محاور للعرض فقط. الترتيب داخل المحاور ليس ترتيب أولوية.</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273 عنصرا كلها مراجعة ومرتبطة بـ38 قيمة. الآيات: نص KFGQPC العثماني عبر Quranpedia، وترجمة صحيح إنترناشونال. الأحاديث: البخاري 60 ومسلم 34، كلها صحيحة، برابط الدرر، والإنجليزية لـ42 منها من HadeethEnc برابطها. التفسير 23 والعقيدة 14 والفقه 8 والسيرة 5 من موسوعات الدرر السنية. المصطلحات من الجمهرة، والأسئلة من بينات. التلاوة: محمود خليل الحصري (مرتل) من everyayah.com، وتمت إعادة تأكيد مراجعة الآيات الـ74 بعد الانتقال (PR #79). التفاصيل في الملحق.</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1) صوت الطفل عبر LiveKit WebRTC، والكلام إلى نص من OpenAI. 2) حارس الدور (turn_policy) يقرر قبل النموذج: الأمان أولا، ثم الإحالة في الفتوى الشخصية، ثم هل يناسب المصدر. 3) النموذج gpt-5.4-mini يستدعي أداة search_bank على البنك المراجع (273 عنصرا، استرجاع في نحو ميلي ثانية). 4) البطاقة تأتي من البنك نفسه بنصها ورابطها ودرجتها. 5) حراس المخرجات يحذفون أي نسبة كلام إلى الله أو النبي ﷺ لا يرخصها البنك، ويبعدون أقواس القرآن عن محول الصوت. ثم يسمع الطفل الرد بصوت ElevenLabs Flash v2.5، والآيات بتلاوة مسجلة، ويسجل ما خدمه البنك في لوحة الوالدين (sources_used).</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417BA-F911-A9E7-577C-37D8EC74C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93821-38CB-6FD6-763A-1ECF57A0C641}"/>
              </a:ext>
            </a:extLst>
          </p:cNvPr>
          <p:cNvSpPr>
            <a:spLocks noGrp="1" noRot="1" noChangeAspect="1"/>
          </p:cNvSpPr>
          <p:nvPr>
            <p:ph type="sldImg" idx="3"/>
          </p:nvPr>
        </p:nvSpPr>
        <p:spPr>
          <a:xfrm>
            <a:off x="-1166813" y="0"/>
            <a:ext cx="5334001" cy="3000375"/>
          </a:xfrm>
        </p:spPr>
      </p:sp>
      <p:sp>
        <p:nvSpPr>
          <p:cNvPr id="3" name="Notes Placeholder 2">
            <a:extLst>
              <a:ext uri="{FF2B5EF4-FFF2-40B4-BE49-F238E27FC236}">
                <a16:creationId xmlns:a16="http://schemas.microsoft.com/office/drawing/2014/main" id="{6C30B95D-9C3E-C53E-3994-82342E1EA0F2}"/>
              </a:ext>
            </a:extLst>
          </p:cNvPr>
          <p:cNvSpPr>
            <a:spLocks noGrp="1"/>
          </p:cNvSpPr>
          <p:nvPr>
            <p:ph type="body" idx="1"/>
          </p:nvPr>
        </p:nvSpPr>
        <p:spPr/>
        <p:txBody>
          <a:bodyPr/>
          <a:lstStyle/>
          <a:p>
            <a:r>
              <a:t>اخترنا مكونات معروفة للصوت والنموذج، وبنينا الضوابط التي تجعلها مناسبة لطفل: حارس الدور، وأداة البحث في البنك، وحراس المخرجات، وسجل المصادر للوالدين، وتقييما آليا (72 محادثة × 3 تشغيلات). الاستضافة: DigitalOcean مع Caddy، وLiveKit Cloud للوسائط. تطبيق الجوال (Expo) قيد التطوير.</a:t>
            </a:r>
          </a:p>
        </p:txBody>
      </p:sp>
      <p:sp>
        <p:nvSpPr>
          <p:cNvPr id="4" name="Slide Number Placeholder 3">
            <a:extLst>
              <a:ext uri="{FF2B5EF4-FFF2-40B4-BE49-F238E27FC236}">
                <a16:creationId xmlns:a16="http://schemas.microsoft.com/office/drawing/2014/main" id="{84070BA8-C548-4351-0150-1783E6ED78BB}"/>
              </a:ext>
            </a:extLst>
          </p:cNvPr>
          <p:cNvSpPr>
            <a:spLocks noGrp="1"/>
          </p:cNvSpPr>
          <p:nvPr>
            <p:ph type="sldNum" idx="12"/>
          </p:nvPr>
        </p:nvSpPr>
        <p:spPr/>
      </p:sp>
    </p:spTree>
    <p:extLst>
      <p:ext uri="{BB962C8B-B14F-4D97-AF65-F5344CB8AC3E}">
        <p14:creationId xmlns:p14="http://schemas.microsoft.com/office/powerpoint/2010/main" val="260439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اختبار دقة التنبيه (eval-reports/alert-precision، PR #72): 20 عبارة همّ حقيقي و22 شعورا عاديا بالعربية (خليجي، شامي، فصحى) والإنجليزية، كل منها 3 مرات. رُصدت الهموم 60 من 60 (33 بقاعدة خادم، والباقي بعلامة النموذج)، ووصل منها تنبيه للوالدين في 48 من 60. المشاعر العادية: 3 تنبيهات خاطئة من 66، كلها تعبير خليجي واحد عن الإحراج (الفشلة). off_topic يسجل ولا ينبه الوالدين أبدا. اختبار منفصل للخوف من البيت أو من بالغ (8 عبارات × 3): رُصد 23 من 24، لكنه لم ينبه الوالدين في أي منها لأن النموذج يعدها شأنا عائليا (at_home) فتسلك المسار الهادئ؛ هذا حد معلن في شريحة الحدود.</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تقرير source-timing النهائي (PR #76، commit c8ab33be (dirty)): 72 محادثة × 3 تشغيلات بالصوت، gpt-5.4-mini. حين طلب الطفل مصدرا خدمه الصديق في 59 من 60. وحين لم يكن الجواب في البنك قال إنه لا يجد مصدرا في 67 من 69. ردان من 462 نسبا كلاما إلى الله أو النبي ﷺ خارج ما يرخصه البنك، وكلاهما بالعربية؛ نعرضهما كما هما. ولم يفشل أي تشغيل من 216. نقاط الضعف (عرض المصدر من تلقاء نفسه 34%) في شريحة الحدود.</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قبل التحدي: مشروع تخرج فيه وكيل صوتي بصوت xAI وشخصية ثلاثية الأبعاد يتحرك فكها فقط، و6 موضوعات أخلاقية و19 مرجعا نصيا بلا رابط. خلال 4 إلى 6 أكتوبر: بنك 273 عنصرا مراجعا و38 قيمة، وسياسة الدور والحراس وبطاقات المصادر، وصفحة المصادر للوالدين، وصوت ElevenLabs ومزامنة الشفاه، ونموذج شخصية جديد بـ30 حركة (إنصات وتفكير وكلام وتحية واحتفال) وإيماءات يد مع الكلام، والتقييم الآلي. التفاصيل في شريحة الإفصاح بالملحق.</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مقيس على نسخة محلية بخدمات OpenAI وElevenLabs الحقيقية في 5 أكتوبر (LOAD-REHEARSAL.md): 10 جلسات صوتية متزامنة على عامل وكيل واحد، و0.1 نواة و165 ميغابايت لكل جلسة. زمن الخادم حتى أول صوت كان نحو 2.6 ثانية تحت الحمل، وهو يقيس تغير الزمن مع الحمل لا قيمته المطلقة؛ القياس من طرف إلى طرف في latency/RESULTS.md أعلى، فلا نعرضه رقما رئيسيا. التكلفة تقدير لا قياس: 0.05 إلى 0.29 دولار للجلسة، من الوحدات المقيسة وأسعار المزودين المعلنة في 6 أكتوبر 2026 (cost_estimate.py). النشر آلي (deploy.yml): يطبق الترحيلات ويفشل إن لم يرد /api/health/. سقف يومي لأحرف الصوت، وبعده تبدأ الجلسات بالكتابة فقط. نلتزم بإبقاء alsadiqai.com يعمل حتى 22 أكتوبر؛ هذا التزام لا قياس.</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err="1"/>
              <a:t>عرض</a:t>
            </a:r>
            <a:r>
              <a:rPr dirty="0"/>
              <a:t> </a:t>
            </a:r>
            <a:r>
              <a:rPr dirty="0" err="1"/>
              <a:t>المصدر</a:t>
            </a:r>
            <a:r>
              <a:rPr dirty="0"/>
              <a:t> </a:t>
            </a:r>
            <a:r>
              <a:rPr dirty="0" err="1"/>
              <a:t>من</a:t>
            </a:r>
            <a:r>
              <a:rPr dirty="0"/>
              <a:t> </a:t>
            </a:r>
            <a:r>
              <a:rPr dirty="0" err="1"/>
              <a:t>تلقاء</a:t>
            </a:r>
            <a:r>
              <a:rPr dirty="0"/>
              <a:t> </a:t>
            </a:r>
            <a:r>
              <a:rPr dirty="0" err="1"/>
              <a:t>نفسه</a:t>
            </a:r>
            <a:r>
              <a:rPr dirty="0"/>
              <a:t>: 34% (43 </a:t>
            </a:r>
            <a:r>
              <a:rPr dirty="0" err="1"/>
              <a:t>من</a:t>
            </a:r>
            <a:r>
              <a:rPr dirty="0"/>
              <a:t> 126) </a:t>
            </a:r>
            <a:r>
              <a:rPr dirty="0" err="1"/>
              <a:t>حين</a:t>
            </a:r>
            <a:r>
              <a:rPr dirty="0"/>
              <a:t> </a:t>
            </a:r>
            <a:r>
              <a:rPr dirty="0" err="1"/>
              <a:t>يناسب</a:t>
            </a:r>
            <a:r>
              <a:rPr dirty="0"/>
              <a:t>، و13% </a:t>
            </a:r>
            <a:r>
              <a:rPr dirty="0" err="1"/>
              <a:t>فقط</a:t>
            </a:r>
            <a:r>
              <a:rPr dirty="0"/>
              <a:t> </a:t>
            </a:r>
            <a:r>
              <a:rPr dirty="0" err="1"/>
              <a:t>للأعمار</a:t>
            </a:r>
            <a:r>
              <a:rPr dirty="0"/>
              <a:t> 6 </a:t>
            </a:r>
            <a:r>
              <a:rPr dirty="0" err="1"/>
              <a:t>إلى</a:t>
            </a:r>
            <a:r>
              <a:rPr dirty="0"/>
              <a:t> 9 </a:t>
            </a:r>
            <a:r>
              <a:rPr dirty="0" err="1"/>
              <a:t>مقابل</a:t>
            </a:r>
            <a:r>
              <a:rPr dirty="0"/>
              <a:t> 53% </a:t>
            </a:r>
            <a:r>
              <a:rPr dirty="0" err="1"/>
              <a:t>للأعمار</a:t>
            </a:r>
            <a:r>
              <a:rPr dirty="0"/>
              <a:t> 10 </a:t>
            </a:r>
            <a:r>
              <a:rPr dirty="0" err="1"/>
              <a:t>إلى</a:t>
            </a:r>
            <a:r>
              <a:rPr dirty="0"/>
              <a:t> 13 (PR #76). </a:t>
            </a:r>
            <a:r>
              <a:rPr dirty="0" err="1"/>
              <a:t>الإحالة</a:t>
            </a:r>
            <a:r>
              <a:rPr dirty="0"/>
              <a:t> </a:t>
            </a:r>
            <a:r>
              <a:rPr dirty="0" err="1"/>
              <a:t>في</a:t>
            </a:r>
            <a:r>
              <a:rPr dirty="0"/>
              <a:t> </a:t>
            </a:r>
            <a:r>
              <a:rPr dirty="0" err="1"/>
              <a:t>غير</a:t>
            </a:r>
            <a:r>
              <a:rPr dirty="0"/>
              <a:t> </a:t>
            </a:r>
            <a:r>
              <a:rPr dirty="0" err="1"/>
              <a:t>موضعها</a:t>
            </a:r>
            <a:r>
              <a:rPr dirty="0"/>
              <a:t> </a:t>
            </a:r>
            <a:r>
              <a:rPr dirty="0" err="1"/>
              <a:t>حين</a:t>
            </a:r>
            <a:r>
              <a:rPr dirty="0"/>
              <a:t> </a:t>
            </a:r>
            <a:r>
              <a:rPr dirty="0" err="1"/>
              <a:t>لا</a:t>
            </a:r>
            <a:r>
              <a:rPr dirty="0"/>
              <a:t> </a:t>
            </a:r>
            <a:r>
              <a:rPr dirty="0" err="1"/>
              <a:t>يوجد</a:t>
            </a:r>
            <a:r>
              <a:rPr dirty="0"/>
              <a:t> </a:t>
            </a:r>
            <a:r>
              <a:rPr dirty="0" err="1"/>
              <a:t>الجواب</a:t>
            </a:r>
            <a:r>
              <a:rPr dirty="0"/>
              <a:t> </a:t>
            </a:r>
            <a:r>
              <a:rPr dirty="0" err="1"/>
              <a:t>في</a:t>
            </a:r>
            <a:r>
              <a:rPr dirty="0"/>
              <a:t> </a:t>
            </a:r>
            <a:r>
              <a:rPr dirty="0" err="1"/>
              <a:t>البنك</a:t>
            </a:r>
            <a:r>
              <a:rPr dirty="0"/>
              <a:t>: 23% (16 </a:t>
            </a:r>
            <a:r>
              <a:rPr dirty="0" err="1"/>
              <a:t>من</a:t>
            </a:r>
            <a:r>
              <a:rPr dirty="0"/>
              <a:t> 69). </a:t>
            </a:r>
            <a:r>
              <a:rPr dirty="0" err="1"/>
              <a:t>الخوف</a:t>
            </a:r>
            <a:r>
              <a:rPr dirty="0"/>
              <a:t> </a:t>
            </a:r>
            <a:r>
              <a:rPr dirty="0" err="1"/>
              <a:t>من</a:t>
            </a:r>
            <a:r>
              <a:rPr dirty="0"/>
              <a:t> </a:t>
            </a:r>
            <a:r>
              <a:rPr dirty="0" err="1"/>
              <a:t>البيت</a:t>
            </a:r>
            <a:r>
              <a:rPr dirty="0"/>
              <a:t> </a:t>
            </a:r>
            <a:r>
              <a:rPr dirty="0" err="1"/>
              <a:t>أو</a:t>
            </a:r>
            <a:r>
              <a:rPr dirty="0"/>
              <a:t> </a:t>
            </a:r>
            <a:r>
              <a:rPr dirty="0" err="1"/>
              <a:t>من</a:t>
            </a:r>
            <a:r>
              <a:rPr dirty="0"/>
              <a:t> </a:t>
            </a:r>
            <a:r>
              <a:rPr dirty="0" err="1"/>
              <a:t>بالغ</a:t>
            </a:r>
            <a:r>
              <a:rPr dirty="0"/>
              <a:t>: </a:t>
            </a:r>
            <a:r>
              <a:rPr dirty="0" err="1"/>
              <a:t>رُصد</a:t>
            </a:r>
            <a:r>
              <a:rPr dirty="0"/>
              <a:t> 23 </a:t>
            </a:r>
            <a:r>
              <a:rPr dirty="0" err="1"/>
              <a:t>من</a:t>
            </a:r>
            <a:r>
              <a:rPr dirty="0"/>
              <a:t> 24 </a:t>
            </a:r>
            <a:r>
              <a:rPr dirty="0" err="1"/>
              <a:t>ولم</a:t>
            </a:r>
            <a:r>
              <a:rPr dirty="0"/>
              <a:t> </a:t>
            </a:r>
            <a:r>
              <a:rPr dirty="0" err="1"/>
              <a:t>ينبه</a:t>
            </a:r>
            <a:r>
              <a:rPr dirty="0"/>
              <a:t> </a:t>
            </a:r>
            <a:r>
              <a:rPr dirty="0" err="1"/>
              <a:t>الوالدين</a:t>
            </a:r>
            <a:r>
              <a:rPr dirty="0"/>
              <a:t> </a:t>
            </a:r>
            <a:r>
              <a:rPr dirty="0" err="1"/>
              <a:t>في</a:t>
            </a:r>
            <a:r>
              <a:rPr dirty="0"/>
              <a:t> </a:t>
            </a:r>
            <a:r>
              <a:rPr dirty="0" err="1"/>
              <a:t>أي</a:t>
            </a:r>
            <a:r>
              <a:rPr dirty="0"/>
              <a:t> </a:t>
            </a:r>
            <a:r>
              <a:rPr dirty="0" err="1"/>
              <a:t>منها</a:t>
            </a:r>
            <a:r>
              <a:rPr dirty="0"/>
              <a:t> (</a:t>
            </a:r>
            <a:r>
              <a:rPr dirty="0" err="1"/>
              <a:t>at_home</a:t>
            </a:r>
            <a:r>
              <a:rPr dirty="0"/>
              <a:t> </a:t>
            </a:r>
            <a:r>
              <a:rPr dirty="0" err="1"/>
              <a:t>يسلك</a:t>
            </a:r>
            <a:r>
              <a:rPr dirty="0"/>
              <a:t> </a:t>
            </a:r>
            <a:r>
              <a:rPr dirty="0" err="1"/>
              <a:t>المسار</a:t>
            </a:r>
            <a:r>
              <a:rPr dirty="0"/>
              <a:t> </a:t>
            </a:r>
            <a:r>
              <a:rPr dirty="0" err="1"/>
              <a:t>الهادئ</a:t>
            </a:r>
            <a:r>
              <a:rPr dirty="0"/>
              <a:t>). </a:t>
            </a:r>
            <a:r>
              <a:rPr dirty="0" err="1"/>
              <a:t>التنبيه</a:t>
            </a:r>
            <a:r>
              <a:rPr dirty="0"/>
              <a:t> </a:t>
            </a:r>
            <a:r>
              <a:rPr dirty="0" err="1"/>
              <a:t>الخاطئ</a:t>
            </a:r>
            <a:r>
              <a:rPr dirty="0"/>
              <a:t>: 3 </a:t>
            </a:r>
            <a:r>
              <a:rPr dirty="0" err="1"/>
              <a:t>من</a:t>
            </a:r>
            <a:r>
              <a:rPr dirty="0"/>
              <a:t> 66، </a:t>
            </a:r>
            <a:r>
              <a:rPr dirty="0" err="1"/>
              <a:t>تعبير</a:t>
            </a:r>
            <a:r>
              <a:rPr dirty="0"/>
              <a:t> </a:t>
            </a:r>
            <a:r>
              <a:rPr dirty="0" err="1"/>
              <a:t>خليجي</a:t>
            </a:r>
            <a:r>
              <a:rPr dirty="0"/>
              <a:t> </a:t>
            </a:r>
            <a:r>
              <a:rPr dirty="0" err="1"/>
              <a:t>واحد</a:t>
            </a:r>
            <a:r>
              <a:rPr dirty="0"/>
              <a:t> </a:t>
            </a:r>
            <a:r>
              <a:rPr dirty="0" err="1"/>
              <a:t>لم</a:t>
            </a:r>
            <a:r>
              <a:rPr dirty="0"/>
              <a:t> </a:t>
            </a:r>
            <a:r>
              <a:rPr dirty="0" err="1"/>
              <a:t>تغيره</a:t>
            </a:r>
            <a:r>
              <a:rPr dirty="0"/>
              <a:t> </a:t>
            </a:r>
            <a:r>
              <a:rPr dirty="0" err="1"/>
              <a:t>ثلاث</a:t>
            </a:r>
            <a:r>
              <a:rPr dirty="0"/>
              <a:t> </a:t>
            </a:r>
            <a:r>
              <a:rPr dirty="0" err="1"/>
              <a:t>صياغات</a:t>
            </a:r>
            <a:r>
              <a:rPr dirty="0"/>
              <a:t> </a:t>
            </a:r>
            <a:r>
              <a:rPr dirty="0" err="1"/>
              <a:t>للتعليمات</a:t>
            </a:r>
            <a:r>
              <a:rPr dirty="0"/>
              <a:t> (PR #72). </a:t>
            </a:r>
            <a:r>
              <a:rPr dirty="0" err="1"/>
              <a:t>راجع</a:t>
            </a:r>
            <a:r>
              <a:rPr dirty="0"/>
              <a:t> </a:t>
            </a:r>
            <a:r>
              <a:rPr dirty="0" err="1"/>
              <a:t>المحتوى</a:t>
            </a:r>
            <a:r>
              <a:rPr dirty="0"/>
              <a:t> </a:t>
            </a:r>
            <a:r>
              <a:rPr dirty="0" err="1"/>
              <a:t>طالب</a:t>
            </a:r>
            <a:r>
              <a:rPr dirty="0"/>
              <a:t> </a:t>
            </a:r>
            <a:r>
              <a:rPr dirty="0" err="1"/>
              <a:t>علم</a:t>
            </a:r>
            <a:r>
              <a:rPr dirty="0"/>
              <a:t> </a:t>
            </a:r>
            <a:r>
              <a:rPr dirty="0" err="1"/>
              <a:t>شرعي</a:t>
            </a:r>
            <a:r>
              <a:rPr dirty="0"/>
              <a:t>، </a:t>
            </a:r>
            <a:r>
              <a:rPr dirty="0" err="1"/>
              <a:t>ولم</a:t>
            </a:r>
            <a:r>
              <a:rPr dirty="0"/>
              <a:t> </a:t>
            </a:r>
            <a:r>
              <a:rPr dirty="0" err="1"/>
              <a:t>يراجعه</a:t>
            </a:r>
            <a:r>
              <a:rPr dirty="0"/>
              <a:t> </a:t>
            </a:r>
            <a:r>
              <a:rPr dirty="0" err="1"/>
              <a:t>عالم</a:t>
            </a:r>
            <a:r>
              <a:rPr dirty="0"/>
              <a:t> </a:t>
            </a:r>
            <a:r>
              <a:rPr dirty="0" err="1"/>
              <a:t>بعد</a:t>
            </a:r>
            <a:r>
              <a:rPr dirty="0"/>
              <a:t>؛ </a:t>
            </a:r>
            <a:r>
              <a:rPr dirty="0" err="1"/>
              <a:t>نقترح</a:t>
            </a:r>
            <a:r>
              <a:rPr dirty="0"/>
              <a:t> </a:t>
            </a:r>
            <a:r>
              <a:rPr dirty="0" err="1"/>
              <a:t>مراجعة</a:t>
            </a:r>
            <a:r>
              <a:rPr dirty="0"/>
              <a:t> </a:t>
            </a:r>
            <a:r>
              <a:rPr dirty="0" err="1"/>
              <a:t>من</a:t>
            </a:r>
            <a:r>
              <a:rPr dirty="0"/>
              <a:t> </a:t>
            </a:r>
            <a:r>
              <a:rPr dirty="0" err="1"/>
              <a:t>عالم</a:t>
            </a:r>
            <a:r>
              <a:rPr dirty="0"/>
              <a:t> </a:t>
            </a:r>
            <a:r>
              <a:rPr dirty="0" err="1"/>
              <a:t>أو</a:t>
            </a:r>
            <a:r>
              <a:rPr dirty="0"/>
              <a:t> </a:t>
            </a:r>
            <a:r>
              <a:rPr dirty="0" err="1"/>
              <a:t>جهة</a:t>
            </a:r>
            <a:r>
              <a:rPr dirty="0"/>
              <a:t> </a:t>
            </a:r>
            <a:r>
              <a:rPr dirty="0" err="1"/>
              <a:t>علمية</a:t>
            </a:r>
            <a:r>
              <a:rPr dirty="0"/>
              <a:t> </a:t>
            </a:r>
            <a:r>
              <a:rPr dirty="0" err="1"/>
              <a:t>بعد</a:t>
            </a:r>
            <a:r>
              <a:rPr dirty="0"/>
              <a:t> </a:t>
            </a:r>
            <a:r>
              <a:rPr dirty="0" err="1"/>
              <a:t>التحدي</a:t>
            </a:r>
            <a:r>
              <a:rPr dirty="0"/>
              <a:t> (</a:t>
            </a:r>
            <a:r>
              <a:rPr dirty="0" err="1"/>
              <a:t>سير</a:t>
            </a:r>
            <a:r>
              <a:rPr dirty="0"/>
              <a:t> </a:t>
            </a:r>
            <a:r>
              <a:rPr dirty="0" err="1"/>
              <a:t>المراجعة</a:t>
            </a:r>
            <a:r>
              <a:rPr dirty="0"/>
              <a:t> </a:t>
            </a:r>
            <a:r>
              <a:rPr dirty="0" err="1"/>
              <a:t>في</a:t>
            </a:r>
            <a:r>
              <a:rPr dirty="0"/>
              <a:t> </a:t>
            </a:r>
            <a:r>
              <a:rPr dirty="0" err="1"/>
              <a:t>الملحق</a:t>
            </a:r>
            <a:r>
              <a:rPr dirty="0"/>
              <a:t>).</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لا يستطيع الطفل إنشاء حساب: التسجيل للوالد فقط، ثم يضيف الوالد أبناءه وينشئ حساباتهم، ويدخل كل طفل بحسابه. أعددنا للجنة خمسة حسابات والد (judge1 إلى judge5)، لكل منها طفلة عمرها 7 سنوات بالعربية وطفل عمره 11 سنة بالإنجليزية، بأسبوع اصطناعي من الجلسات: ملخصات ومصادر وأسئلة للنقاش ومهام بكل حالاتها وأوسمة من محرك الأوسمة الحقيقي. السبب: الصديق يبني على كل محادثة (الذاكرة والملخصات والمستويات والأوسمة)، فلو بدأ المحكم بحساب جديد لما رأى أثرا حقيقيا. يستطيع المحكم أن يبدأ جلسات جديدة صوتا أو كتابة مع هؤلاء الأطفال. كل الأسماء والبيانات اصطناعية (JUDGE-ACCOUNTS.md، hk-18).</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عبدالرحمن سلامة: صاحب الفكرة وقائد الفريق، وبنى المنطق الخلفي في الخادم ومنطق بنك المحتوى، وهو طالب العلم الشرعي الذي راجع المصادر وشروحها عنصرا عنصرا، وأدار الفريق. مجد عوض: تجربة المستخدم والواجهة كاملة. عبدالرحمن محملجي: مساعد في مراجعة أقسام الدرر السنية وفي تجربة المستخدم والواجهة. موسى وطارق سُجّلا في الفريق، ثم اعتذرا بعد بدء التحدي لظروف العمل والدراسة، فلم نذكرهما أعضاء لأنهما لم يعملا في المشروع.</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المستودع العام: حصلنا على موافقة رواء من فريق التنظيم على نشر مستودع عام، مع إبقاء النشر على الخادم من المستودع الخاص لأسباب أمنية، فلا يمكن النشر من المستودع العام حاليا. النسختان متطابقتان. إن أرادت اللجنة صلاحية اطلاع على المستودع الخاص، فليتواصلوا مع قائد الفريق عبدالرحمن سلامة، ليروا أنه لم يتغير شيء بين المستودع العام والخاص منذ التسليم.</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فهرس العرض: خمسة عشر قسما ثم الملحق. كل قسم يحمل في أعلى شرائحه رقمه واسم معيار التحكيم الذي يجيب عنه، وشريحة دليل اللجنة التالية تربط كل معيار بشرائحه.</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قراءة الفريق للشروط والميزات المعلنة حتى أكتوبر 2026. ChatGPT: روبوت محادثة عام لا رفيق، الحد الأدنى للعمر 13 بموافقة الوالدين لمن دون 18، وفيه أدوات رقابة أبوية للمراهقين (ربط الحسابات، تجربة مناسبة للعمر، تنبيه عند ضيق شديد)، فوضعنا له جزئيا. Grok Companions: شخصيات متحركة من xAI منذ يوليو 2025، وشروط Grok تحدد 13 عاما دون تحقق من العمر، ورفيقة Ani فيها وضع للكبار، وأفادت تقارير بأن «وضع الأطفال» لا يمنعها. Replika: رفيق للكبار، 18 عاما فأكثر. لا يقدم أي منها جوابا دينيا من بنك مراجع، ولا تعلّم القيم بالمهام والأوسمة، ولا يُطلع الوالدين على مصادر ما سمعه الطفل.</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هذه توقعات لا نتائج: لم نجرّب النظام بعد مع أسر حقيقية. على الطفل: مكان آمن للسؤال عن كل شيء، وممارسة يومية للقيم بالمهام، ومعرفة مصدر كل آية وحديث. على الأسرة: أسئلة للنقاش من ملخص كل جلسة تفتح حوارا بين الطفل ووالديه، وتنبيهات حين يلزم دون كشف نص المحادثة، ومهام يؤكدها الوالدان. على المجتمع: جيل يسأل عن مصدر المعلومة، ومحتوى إسلامي مراجع بلغة الطفل، وبديل آمن عن رفقاء الذكاء الاصطناعي العامين. نقيس ذلك في تجربة مع أسر بما يسجله النظام أصلا: القيم الممارسة، والمهام المؤكدة، واستعمال أسئلة النقاش.</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غلاف المشروع">
  <p:cSld name="غلاف المشروع">
    <p:bg>
      <p:bgPr>
        <a:solidFill>
          <a:srgbClr val="12183F"/>
        </a:solidFill>
        <a:effectLst/>
      </p:bgPr>
    </p:bg>
    <p:spTree>
      <p:nvGrpSpPr>
        <p:cNvPr id="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a:stretch/>
        </p:blipFill>
        <p:spPr>
          <a:xfrm>
            <a:off x="1078258" y="3190875"/>
            <a:ext cx="6701734" cy="6191250"/>
          </a:xfrm>
          <a:prstGeom prst="rect">
            <a:avLst/>
          </a:prstGeom>
          <a:noFill/>
          <a:ln>
            <a:noFill/>
          </a:ln>
        </p:spPr>
      </p:pic>
      <p:sp>
        <p:nvSpPr>
          <p:cNvPr id="16" name="Google Shape;16;p34"/>
          <p:cNvSpPr txBox="1">
            <a:spLocks noGrp="1"/>
          </p:cNvSpPr>
          <p:nvPr>
            <p:ph type="title"/>
          </p:nvPr>
        </p:nvSpPr>
        <p:spPr>
          <a:xfrm>
            <a:off x="8096250" y="3524250"/>
            <a:ext cx="9048750" cy="1333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 name="Google Shape;17;p34"/>
          <p:cNvSpPr txBox="1">
            <a:spLocks noGrp="1"/>
          </p:cNvSpPr>
          <p:nvPr>
            <p:ph type="body" idx="1"/>
          </p:nvPr>
        </p:nvSpPr>
        <p:spPr>
          <a:xfrm>
            <a:off x="8096250" y="5334000"/>
            <a:ext cx="9048750" cy="1619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 name="Google Shape;18;p34"/>
          <p:cNvSpPr txBox="1">
            <a:spLocks noGrp="1"/>
          </p:cNvSpPr>
          <p:nvPr>
            <p:ph type="body" idx="2"/>
          </p:nvPr>
        </p:nvSpPr>
        <p:spPr>
          <a:xfrm>
            <a:off x="8953500" y="7762875"/>
            <a:ext cx="81915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 name="Google Shape;19;p34"/>
          <p:cNvSpPr txBox="1">
            <a:spLocks noGrp="1"/>
          </p:cNvSpPr>
          <p:nvPr>
            <p:ph type="body" idx="3"/>
          </p:nvPr>
        </p:nvSpPr>
        <p:spPr>
          <a:xfrm>
            <a:off x="1066800" y="9391650"/>
            <a:ext cx="5429250" cy="4953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فاصل قسم">
  <p:cSld name="فاصل قسم">
    <p:bg>
      <p:bgPr>
        <a:solidFill>
          <a:srgbClr val="12183F"/>
        </a:solidFill>
        <a:effectLst/>
      </p:bgPr>
    </p:bg>
    <p:spTree>
      <p:nvGrpSpPr>
        <p:cNvPr id="1"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a:stretch/>
        </p:blipFill>
        <p:spPr>
          <a:xfrm>
            <a:off x="1066800" y="687391"/>
            <a:ext cx="4000500" cy="1025519"/>
          </a:xfrm>
          <a:prstGeom prst="rect">
            <a:avLst/>
          </a:prstGeom>
          <a:noFill/>
          <a:ln>
            <a:noFill/>
          </a:ln>
        </p:spPr>
      </p:pic>
      <p:sp>
        <p:nvSpPr>
          <p:cNvPr id="48" name="Google Shape;48;p36"/>
          <p:cNvSpPr txBox="1">
            <a:spLocks noGrp="1"/>
          </p:cNvSpPr>
          <p:nvPr>
            <p:ph type="body" idx="1"/>
          </p:nvPr>
        </p:nvSpPr>
        <p:spPr>
          <a:xfrm>
            <a:off x="13430250" y="3143250"/>
            <a:ext cx="3619500" cy="1238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9" name="Google Shape;49;p36"/>
          <p:cNvSpPr txBox="1">
            <a:spLocks noGrp="1"/>
          </p:cNvSpPr>
          <p:nvPr>
            <p:ph type="title"/>
          </p:nvPr>
        </p:nvSpPr>
        <p:spPr>
          <a:xfrm>
            <a:off x="4953000" y="4810125"/>
            <a:ext cx="12096750" cy="12382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0" name="Google Shape;50;p36"/>
          <p:cNvSpPr txBox="1">
            <a:spLocks noGrp="1"/>
          </p:cNvSpPr>
          <p:nvPr>
            <p:ph type="body" idx="2"/>
          </p:nvPr>
        </p:nvSpPr>
        <p:spPr>
          <a:xfrm>
            <a:off x="6667500" y="6572250"/>
            <a:ext cx="10382250" cy="1047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أربع نقاط">
  <p:cSld name="أربع نقاط">
    <p:bg>
      <p:bgPr>
        <a:solidFill>
          <a:srgbClr val="12183F"/>
        </a:solidFill>
        <a:effectLst/>
      </p:bgPr>
    </p:bg>
    <p:spTree>
      <p:nvGrpSpPr>
        <p:cNvPr id="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54" name="Google Shape;54;p37"/>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5" name="Google Shape;55;p37"/>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6" name="Google Shape;56;p37"/>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7" name="Google Shape;57;p37"/>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a:spLocks noGrp="1"/>
          </p:cNvSpPr>
          <p:nvPr>
            <p:ph type="body" idx="3"/>
          </p:nvPr>
        </p:nvSpPr>
        <p:spPr>
          <a:xfrm>
            <a:off x="9810750" y="3952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0" name="Google Shape;60;p37"/>
          <p:cNvSpPr txBox="1">
            <a:spLocks noGrp="1"/>
          </p:cNvSpPr>
          <p:nvPr>
            <p:ph type="body" idx="4"/>
          </p:nvPr>
        </p:nvSpPr>
        <p:spPr>
          <a:xfrm>
            <a:off x="9810750" y="4657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1" name="Google Shape;61;p37"/>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2" name="Google Shape;62;p37"/>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3" name="Google Shape;63;p37"/>
          <p:cNvSpPr txBox="1">
            <a:spLocks noGrp="1"/>
          </p:cNvSpPr>
          <p:nvPr>
            <p:ph type="body" idx="7"/>
          </p:nvPr>
        </p:nvSpPr>
        <p:spPr>
          <a:xfrm>
            <a:off x="9810750" y="6619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4" name="Google Shape;64;p37"/>
          <p:cNvSpPr txBox="1">
            <a:spLocks noGrp="1"/>
          </p:cNvSpPr>
          <p:nvPr>
            <p:ph type="body" idx="8"/>
          </p:nvPr>
        </p:nvSpPr>
        <p:spPr>
          <a:xfrm>
            <a:off x="9810750" y="7324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5" name="Google Shape;65;p37"/>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6" name="Google Shape;66;p37"/>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نص وصورة عريضة">
  <p:cSld name="نص وصورة عريضة">
    <p:bg>
      <p:bgPr>
        <a:solidFill>
          <a:srgbClr val="12183F"/>
        </a:solidFill>
        <a:effectLst/>
      </p:bgPr>
    </p:bg>
    <p:spTree>
      <p:nvGrpSpPr>
        <p:cNvPr id="1"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80" name="Google Shape;80;p39"/>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1" name="Google Shape;81;p39"/>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2" name="Google Shape;82;p39"/>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a:spLocks noGrp="1"/>
          </p:cNvSpPr>
          <p:nvPr>
            <p:ph type="pic" idx="2"/>
          </p:nvPr>
        </p:nvSpPr>
        <p:spPr>
          <a:xfrm>
            <a:off x="1428750" y="4048125"/>
            <a:ext cx="8382000" cy="4714875"/>
          </a:xfrm>
          <a:prstGeom prst="rect">
            <a:avLst/>
          </a:prstGeom>
          <a:solidFill>
            <a:srgbClr val="161D48"/>
          </a:solidFill>
          <a:ln w="11425" cap="flat" cmpd="sng">
            <a:solidFill>
              <a:srgbClr val="4A5590"/>
            </a:solidFill>
            <a:prstDash val="solid"/>
            <a:round/>
            <a:headEnd type="none" w="sm" len="sm"/>
            <a:tailEnd type="none" w="sm" len="sm"/>
          </a:ln>
        </p:spPr>
      </p:sp>
      <p:sp>
        <p:nvSpPr>
          <p:cNvPr id="85" name="Google Shape;85;p39"/>
          <p:cNvSpPr txBox="1">
            <a:spLocks noGrp="1"/>
          </p:cNvSpPr>
          <p:nvPr>
            <p:ph type="body" idx="3"/>
          </p:nvPr>
        </p:nvSpPr>
        <p:spPr>
          <a:xfrm>
            <a:off x="10763250" y="4095750"/>
            <a:ext cx="6381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6" name="Google Shape;86;p39"/>
          <p:cNvSpPr txBox="1">
            <a:spLocks noGrp="1"/>
          </p:cNvSpPr>
          <p:nvPr>
            <p:ph type="body" idx="4"/>
          </p:nvPr>
        </p:nvSpPr>
        <p:spPr>
          <a:xfrm>
            <a:off x="10763250" y="4800600"/>
            <a:ext cx="6381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7" name="Google Shape;87;p39"/>
          <p:cNvSpPr txBox="1">
            <a:spLocks noGrp="1"/>
          </p:cNvSpPr>
          <p:nvPr>
            <p:ph type="body" idx="5"/>
          </p:nvPr>
        </p:nvSpPr>
        <p:spPr>
          <a:xfrm>
            <a:off x="10763250" y="6667500"/>
            <a:ext cx="6381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8" name="Google Shape;88;p39"/>
          <p:cNvSpPr txBox="1">
            <a:spLocks noGrp="1"/>
          </p:cNvSpPr>
          <p:nvPr>
            <p:ph type="body" idx="6"/>
          </p:nvPr>
        </p:nvSpPr>
        <p:spPr>
          <a:xfrm>
            <a:off x="10763250" y="7372350"/>
            <a:ext cx="6381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نص وصورة مربعة">
  <p:cSld name="نص وصورة مربعة">
    <p:bg>
      <p:bgPr>
        <a:solidFill>
          <a:srgbClr val="12183F"/>
        </a:solidFill>
        <a:effectLst/>
      </p:bgPr>
    </p:bg>
    <p:spTree>
      <p:nvGrpSpPr>
        <p:cNvPr id="1"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92" name="Google Shape;92;p40"/>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3" name="Google Shape;93;p40"/>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4" name="Google Shape;94;p40"/>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a:spLocks noGrp="1"/>
          </p:cNvSpPr>
          <p:nvPr>
            <p:ph type="pic" idx="2"/>
          </p:nvPr>
        </p:nvSpPr>
        <p:spPr>
          <a:xfrm>
            <a:off x="2190750" y="3476625"/>
            <a:ext cx="5715000" cy="5715000"/>
          </a:xfrm>
          <a:prstGeom prst="rect">
            <a:avLst/>
          </a:prstGeom>
          <a:solidFill>
            <a:srgbClr val="161D48"/>
          </a:solidFill>
          <a:ln w="11425" cap="flat" cmpd="sng">
            <a:solidFill>
              <a:srgbClr val="4A5590"/>
            </a:solidFill>
            <a:prstDash val="solid"/>
            <a:round/>
            <a:headEnd type="none" w="sm" len="sm"/>
            <a:tailEnd type="none" w="sm" len="sm"/>
          </a:ln>
        </p:spPr>
      </p:sp>
      <p:sp>
        <p:nvSpPr>
          <p:cNvPr id="97" name="Google Shape;97;p40"/>
          <p:cNvSpPr txBox="1">
            <a:spLocks noGrp="1"/>
          </p:cNvSpPr>
          <p:nvPr>
            <p:ph type="body" idx="3"/>
          </p:nvPr>
        </p:nvSpPr>
        <p:spPr>
          <a:xfrm>
            <a:off x="10001250" y="3905250"/>
            <a:ext cx="7143750" cy="800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8" name="Google Shape;98;p40"/>
          <p:cNvSpPr txBox="1">
            <a:spLocks noGrp="1"/>
          </p:cNvSpPr>
          <p:nvPr>
            <p:ph type="body" idx="4"/>
          </p:nvPr>
        </p:nvSpPr>
        <p:spPr>
          <a:xfrm>
            <a:off x="10001250" y="5191125"/>
            <a:ext cx="7143750" cy="2428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9" name="Google Shape;99;p40"/>
          <p:cNvSpPr txBox="1">
            <a:spLocks noGrp="1"/>
          </p:cNvSpPr>
          <p:nvPr>
            <p:ph type="body" idx="5"/>
          </p:nvPr>
        </p:nvSpPr>
        <p:spPr>
          <a:xfrm>
            <a:off x="10001250" y="8048625"/>
            <a:ext cx="71437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مؤشرات">
  <p:cSld name="مؤشرات">
    <p:bg>
      <p:bgPr>
        <a:solidFill>
          <a:srgbClr val="12183F"/>
        </a:solidFill>
        <a:effectLst/>
      </p:bgPr>
    </p:bg>
    <p:spTree>
      <p:nvGrpSpPr>
        <p:cNvPr id="1"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03" name="Google Shape;103;p41"/>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4" name="Google Shape;104;p41"/>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5" name="Google Shape;105;p41"/>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6" name="Google Shape;106;p41"/>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a:spLocks noGrp="1"/>
          </p:cNvSpPr>
          <p:nvPr>
            <p:ph type="body" idx="3"/>
          </p:nvPr>
        </p:nvSpPr>
        <p:spPr>
          <a:xfrm>
            <a:off x="137160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9" name="Google Shape;109;p41"/>
          <p:cNvSpPr txBox="1">
            <a:spLocks noGrp="1"/>
          </p:cNvSpPr>
          <p:nvPr>
            <p:ph type="body" idx="4"/>
          </p:nvPr>
        </p:nvSpPr>
        <p:spPr>
          <a:xfrm>
            <a:off x="137160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0" name="Google Shape;110;p41"/>
          <p:cNvSpPr txBox="1">
            <a:spLocks noGrp="1"/>
          </p:cNvSpPr>
          <p:nvPr>
            <p:ph type="body" idx="5"/>
          </p:nvPr>
        </p:nvSpPr>
        <p:spPr>
          <a:xfrm>
            <a:off x="137160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1" name="Google Shape;111;p41"/>
          <p:cNvSpPr txBox="1">
            <a:spLocks noGrp="1"/>
          </p:cNvSpPr>
          <p:nvPr>
            <p:ph type="body" idx="6"/>
          </p:nvPr>
        </p:nvSpPr>
        <p:spPr>
          <a:xfrm>
            <a:off x="97155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2" name="Google Shape;112;p41"/>
          <p:cNvSpPr txBox="1">
            <a:spLocks noGrp="1"/>
          </p:cNvSpPr>
          <p:nvPr>
            <p:ph type="body" idx="7"/>
          </p:nvPr>
        </p:nvSpPr>
        <p:spPr>
          <a:xfrm>
            <a:off x="97155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3" name="Google Shape;113;p41"/>
          <p:cNvSpPr txBox="1">
            <a:spLocks noGrp="1"/>
          </p:cNvSpPr>
          <p:nvPr>
            <p:ph type="body" idx="8"/>
          </p:nvPr>
        </p:nvSpPr>
        <p:spPr>
          <a:xfrm>
            <a:off x="97155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4" name="Google Shape;114;p41"/>
          <p:cNvSpPr txBox="1">
            <a:spLocks noGrp="1"/>
          </p:cNvSpPr>
          <p:nvPr>
            <p:ph type="body" idx="9"/>
          </p:nvPr>
        </p:nvSpPr>
        <p:spPr>
          <a:xfrm>
            <a:off x="57150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5" name="Google Shape;115;p41"/>
          <p:cNvSpPr txBox="1">
            <a:spLocks noGrp="1"/>
          </p:cNvSpPr>
          <p:nvPr>
            <p:ph type="body" idx="13"/>
          </p:nvPr>
        </p:nvSpPr>
        <p:spPr>
          <a:xfrm>
            <a:off x="57150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6" name="Google Shape;116;p41"/>
          <p:cNvSpPr txBox="1">
            <a:spLocks noGrp="1"/>
          </p:cNvSpPr>
          <p:nvPr>
            <p:ph type="body" idx="14"/>
          </p:nvPr>
        </p:nvSpPr>
        <p:spPr>
          <a:xfrm>
            <a:off x="57150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7" name="Google Shape;117;p41"/>
          <p:cNvSpPr txBox="1">
            <a:spLocks noGrp="1"/>
          </p:cNvSpPr>
          <p:nvPr>
            <p:ph type="body" idx="15"/>
          </p:nvPr>
        </p:nvSpPr>
        <p:spPr>
          <a:xfrm>
            <a:off x="17145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8" name="Google Shape;118;p41"/>
          <p:cNvSpPr txBox="1">
            <a:spLocks noGrp="1"/>
          </p:cNvSpPr>
          <p:nvPr>
            <p:ph type="body" idx="16"/>
          </p:nvPr>
        </p:nvSpPr>
        <p:spPr>
          <a:xfrm>
            <a:off x="17145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9" name="Google Shape;119;p41"/>
          <p:cNvSpPr txBox="1">
            <a:spLocks noGrp="1"/>
          </p:cNvSpPr>
          <p:nvPr>
            <p:ph type="body" idx="17"/>
          </p:nvPr>
        </p:nvSpPr>
        <p:spPr>
          <a:xfrm>
            <a:off x="17145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0" name="Google Shape;120;p41"/>
          <p:cNvSpPr txBox="1">
            <a:spLocks noGrp="1"/>
          </p:cNvSpPr>
          <p:nvPr>
            <p:ph type="body" idx="18"/>
          </p:nvPr>
        </p:nvSpPr>
        <p:spPr>
          <a:xfrm>
            <a:off x="1714500" y="8763000"/>
            <a:ext cx="15430500" cy="476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رسالة رئيسية">
  <p:cSld name="رسالة رئيسية">
    <p:bg>
      <p:bgPr>
        <a:solidFill>
          <a:srgbClr val="F2F4FF"/>
        </a:solidFill>
        <a:effectLst/>
      </p:bgPr>
    </p:bg>
    <p:spTree>
      <p:nvGrpSpPr>
        <p:cNvPr id="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a:spLocks noGrp="1"/>
          </p:cNvSpPr>
          <p:nvPr>
            <p:ph type="title"/>
          </p:nvPr>
        </p:nvSpPr>
        <p:spPr>
          <a:xfrm>
            <a:off x="2476500" y="3143250"/>
            <a:ext cx="13335000" cy="29527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7" name="Google Shape;127;p42"/>
          <p:cNvSpPr txBox="1">
            <a:spLocks noGrp="1"/>
          </p:cNvSpPr>
          <p:nvPr>
            <p:ph type="body" idx="1"/>
          </p:nvPr>
        </p:nvSpPr>
        <p:spPr>
          <a:xfrm>
            <a:off x="3333750" y="6905625"/>
            <a:ext cx="11620500" cy="857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8" name="Google Shape;128;p42"/>
          <p:cNvSpPr txBox="1">
            <a:spLocks noGrp="1"/>
          </p:cNvSpPr>
          <p:nvPr>
            <p:ph type="body" idx="2"/>
          </p:nvPr>
        </p:nvSpPr>
        <p:spPr>
          <a:xfrm>
            <a:off x="3333750" y="8239125"/>
            <a:ext cx="11620500" cy="523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جدول داكن">
  <p:cSld name="جدول داكن">
    <p:bg>
      <p:bgPr>
        <a:solidFill>
          <a:srgbClr val="12183F"/>
        </a:solidFill>
        <a:effectLst/>
      </p:bgPr>
    </p:bg>
    <p:spTree>
      <p:nvGrpSpPr>
        <p:cNvPr id="1"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32" name="Google Shape;132;p43"/>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3" name="Google Shape;133;p43"/>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4" name="Google Shape;134;p43"/>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5" name="Google Shape;135;p43"/>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a:spLocks noGrp="1"/>
          </p:cNvSpPr>
          <p:nvPr>
            <p:ph type="body" idx="3"/>
          </p:nvPr>
        </p:nvSpPr>
        <p:spPr>
          <a:xfrm>
            <a:off x="1714500" y="881062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8" name="Google Shape;138;p43"/>
          <p:cNvSpPr>
            <a:spLocks noGrp="1"/>
          </p:cNvSpPr>
          <p:nvPr>
            <p:ph type="tbl" idx="4"/>
          </p:nvPr>
        </p:nvSpPr>
        <p:spPr>
          <a:xfrm>
            <a:off x="1714500" y="3905250"/>
            <a:ext cx="15430500" cy="4476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خط زمني">
  <p:cSld name="خط زمني">
    <p:bg>
      <p:bgPr>
        <a:solidFill>
          <a:srgbClr val="12183F"/>
        </a:solidFill>
        <a:effectLst/>
      </p:bgPr>
    </p:bg>
    <p:spTree>
      <p:nvGrpSpPr>
        <p:cNvPr id="1"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4"/>
          <p:cNvSpPr/>
          <p:nvPr/>
        </p:nvSpPr>
        <p:spPr>
          <a:xfrm>
            <a:off x="1114425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4"/>
          <p:cNvSpPr/>
          <p:nvPr/>
        </p:nvSpPr>
        <p:spPr>
          <a:xfrm>
            <a:off x="80010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4"/>
          <p:cNvSpPr/>
          <p:nvPr/>
        </p:nvSpPr>
        <p:spPr>
          <a:xfrm>
            <a:off x="485775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4"/>
          <p:cNvSpPr/>
          <p:nvPr/>
        </p:nvSpPr>
        <p:spPr>
          <a:xfrm>
            <a:off x="17145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4"/>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48" name="Google Shape;148;p44"/>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49" name="Google Shape;149;p44"/>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0" name="Google Shape;150;p44"/>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a:spLocks noGrp="1"/>
          </p:cNvSpPr>
          <p:nvPr>
            <p:ph type="body" idx="3"/>
          </p:nvPr>
        </p:nvSpPr>
        <p:spPr>
          <a:xfrm>
            <a:off x="142875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3" name="Google Shape;153;p44"/>
          <p:cNvSpPr txBox="1">
            <a:spLocks noGrp="1"/>
          </p:cNvSpPr>
          <p:nvPr>
            <p:ph type="body" idx="4"/>
          </p:nvPr>
        </p:nvSpPr>
        <p:spPr>
          <a:xfrm>
            <a:off x="142875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4" name="Google Shape;154;p44"/>
          <p:cNvSpPr txBox="1">
            <a:spLocks noGrp="1"/>
          </p:cNvSpPr>
          <p:nvPr>
            <p:ph type="body" idx="5"/>
          </p:nvPr>
        </p:nvSpPr>
        <p:spPr>
          <a:xfrm>
            <a:off x="142875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5" name="Google Shape;155;p44"/>
          <p:cNvSpPr txBox="1">
            <a:spLocks noGrp="1"/>
          </p:cNvSpPr>
          <p:nvPr>
            <p:ph type="body" idx="6"/>
          </p:nvPr>
        </p:nvSpPr>
        <p:spPr>
          <a:xfrm>
            <a:off x="142875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6" name="Google Shape;156;p44"/>
          <p:cNvSpPr txBox="1">
            <a:spLocks noGrp="1"/>
          </p:cNvSpPr>
          <p:nvPr>
            <p:ph type="body" idx="7"/>
          </p:nvPr>
        </p:nvSpPr>
        <p:spPr>
          <a:xfrm>
            <a:off x="1114425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7" name="Google Shape;157;p44"/>
          <p:cNvSpPr txBox="1">
            <a:spLocks noGrp="1"/>
          </p:cNvSpPr>
          <p:nvPr>
            <p:ph type="body" idx="8"/>
          </p:nvPr>
        </p:nvSpPr>
        <p:spPr>
          <a:xfrm>
            <a:off x="1114425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8" name="Google Shape;158;p44"/>
          <p:cNvSpPr txBox="1">
            <a:spLocks noGrp="1"/>
          </p:cNvSpPr>
          <p:nvPr>
            <p:ph type="body" idx="9"/>
          </p:nvPr>
        </p:nvSpPr>
        <p:spPr>
          <a:xfrm>
            <a:off x="1114425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9" name="Google Shape;159;p44"/>
          <p:cNvSpPr txBox="1">
            <a:spLocks noGrp="1"/>
          </p:cNvSpPr>
          <p:nvPr>
            <p:ph type="body" idx="13"/>
          </p:nvPr>
        </p:nvSpPr>
        <p:spPr>
          <a:xfrm>
            <a:off x="1114425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0" name="Google Shape;160;p44"/>
          <p:cNvSpPr txBox="1">
            <a:spLocks noGrp="1"/>
          </p:cNvSpPr>
          <p:nvPr>
            <p:ph type="body" idx="14"/>
          </p:nvPr>
        </p:nvSpPr>
        <p:spPr>
          <a:xfrm>
            <a:off x="80010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1" name="Google Shape;161;p44"/>
          <p:cNvSpPr txBox="1">
            <a:spLocks noGrp="1"/>
          </p:cNvSpPr>
          <p:nvPr>
            <p:ph type="body" idx="15"/>
          </p:nvPr>
        </p:nvSpPr>
        <p:spPr>
          <a:xfrm>
            <a:off x="80010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2" name="Google Shape;162;p44"/>
          <p:cNvSpPr txBox="1">
            <a:spLocks noGrp="1"/>
          </p:cNvSpPr>
          <p:nvPr>
            <p:ph type="body" idx="16"/>
          </p:nvPr>
        </p:nvSpPr>
        <p:spPr>
          <a:xfrm>
            <a:off x="80010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3" name="Google Shape;163;p44"/>
          <p:cNvSpPr txBox="1">
            <a:spLocks noGrp="1"/>
          </p:cNvSpPr>
          <p:nvPr>
            <p:ph type="body" idx="17"/>
          </p:nvPr>
        </p:nvSpPr>
        <p:spPr>
          <a:xfrm>
            <a:off x="80010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4" name="Google Shape;164;p44"/>
          <p:cNvSpPr txBox="1">
            <a:spLocks noGrp="1"/>
          </p:cNvSpPr>
          <p:nvPr>
            <p:ph type="body" idx="18"/>
          </p:nvPr>
        </p:nvSpPr>
        <p:spPr>
          <a:xfrm>
            <a:off x="485775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5" name="Google Shape;165;p44"/>
          <p:cNvSpPr txBox="1">
            <a:spLocks noGrp="1"/>
          </p:cNvSpPr>
          <p:nvPr>
            <p:ph type="body" idx="19"/>
          </p:nvPr>
        </p:nvSpPr>
        <p:spPr>
          <a:xfrm>
            <a:off x="485775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6" name="Google Shape;166;p44"/>
          <p:cNvSpPr txBox="1">
            <a:spLocks noGrp="1"/>
          </p:cNvSpPr>
          <p:nvPr>
            <p:ph type="body" idx="20"/>
          </p:nvPr>
        </p:nvSpPr>
        <p:spPr>
          <a:xfrm>
            <a:off x="485775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7" name="Google Shape;167;p44"/>
          <p:cNvSpPr txBox="1">
            <a:spLocks noGrp="1"/>
          </p:cNvSpPr>
          <p:nvPr>
            <p:ph type="body" idx="21"/>
          </p:nvPr>
        </p:nvSpPr>
        <p:spPr>
          <a:xfrm>
            <a:off x="485775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8" name="Google Shape;168;p44"/>
          <p:cNvSpPr txBox="1">
            <a:spLocks noGrp="1"/>
          </p:cNvSpPr>
          <p:nvPr>
            <p:ph type="body" idx="22"/>
          </p:nvPr>
        </p:nvSpPr>
        <p:spPr>
          <a:xfrm>
            <a:off x="17145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9" name="Google Shape;169;p44"/>
          <p:cNvSpPr txBox="1">
            <a:spLocks noGrp="1"/>
          </p:cNvSpPr>
          <p:nvPr>
            <p:ph type="body" idx="23"/>
          </p:nvPr>
        </p:nvSpPr>
        <p:spPr>
          <a:xfrm>
            <a:off x="17145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0" name="Google Shape;170;p44"/>
          <p:cNvSpPr txBox="1">
            <a:spLocks noGrp="1"/>
          </p:cNvSpPr>
          <p:nvPr>
            <p:ph type="body" idx="24"/>
          </p:nvPr>
        </p:nvSpPr>
        <p:spPr>
          <a:xfrm>
            <a:off x="17145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1" name="Google Shape;171;p44"/>
          <p:cNvSpPr txBox="1">
            <a:spLocks noGrp="1"/>
          </p:cNvSpPr>
          <p:nvPr>
            <p:ph type="body" idx="25"/>
          </p:nvPr>
        </p:nvSpPr>
        <p:spPr>
          <a:xfrm>
            <a:off x="17145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فريق العمل">
  <p:cSld name="فريق العمل">
    <p:bg>
      <p:bgPr>
        <a:solidFill>
          <a:srgbClr val="12183F"/>
        </a:solidFill>
        <a:effectLst/>
      </p:bgPr>
    </p:bg>
    <p:spTree>
      <p:nvGrpSpPr>
        <p:cNvPr id="1"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75" name="Google Shape;175;p45"/>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6" name="Google Shape;176;p45"/>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7" name="Google Shape;177;p45"/>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8" name="Google Shape;178;p45"/>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a:spLocks noGrp="1"/>
          </p:cNvSpPr>
          <p:nvPr>
            <p:ph type="pic" idx="3"/>
          </p:nvPr>
        </p:nvSpPr>
        <p:spPr>
          <a:xfrm>
            <a:off x="14192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1" name="Google Shape;181;p45"/>
          <p:cNvSpPr txBox="1">
            <a:spLocks noGrp="1"/>
          </p:cNvSpPr>
          <p:nvPr>
            <p:ph type="body" idx="4"/>
          </p:nvPr>
        </p:nvSpPr>
        <p:spPr>
          <a:xfrm>
            <a:off x="137160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2" name="Google Shape;182;p45"/>
          <p:cNvSpPr txBox="1">
            <a:spLocks noGrp="1"/>
          </p:cNvSpPr>
          <p:nvPr>
            <p:ph type="body" idx="5"/>
          </p:nvPr>
        </p:nvSpPr>
        <p:spPr>
          <a:xfrm>
            <a:off x="137160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3" name="Google Shape;183;p45"/>
          <p:cNvSpPr>
            <a:spLocks noGrp="1"/>
          </p:cNvSpPr>
          <p:nvPr>
            <p:ph type="pic" idx="6"/>
          </p:nvPr>
        </p:nvSpPr>
        <p:spPr>
          <a:xfrm>
            <a:off x="10191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4" name="Google Shape;184;p45"/>
          <p:cNvSpPr txBox="1">
            <a:spLocks noGrp="1"/>
          </p:cNvSpPr>
          <p:nvPr>
            <p:ph type="body" idx="7"/>
          </p:nvPr>
        </p:nvSpPr>
        <p:spPr>
          <a:xfrm>
            <a:off x="97155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5" name="Google Shape;185;p45"/>
          <p:cNvSpPr txBox="1">
            <a:spLocks noGrp="1"/>
          </p:cNvSpPr>
          <p:nvPr>
            <p:ph type="body" idx="8"/>
          </p:nvPr>
        </p:nvSpPr>
        <p:spPr>
          <a:xfrm>
            <a:off x="97155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6" name="Google Shape;186;p45"/>
          <p:cNvSpPr>
            <a:spLocks noGrp="1"/>
          </p:cNvSpPr>
          <p:nvPr>
            <p:ph type="pic" idx="9"/>
          </p:nvPr>
        </p:nvSpPr>
        <p:spPr>
          <a:xfrm>
            <a:off x="6191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7" name="Google Shape;187;p45"/>
          <p:cNvSpPr txBox="1">
            <a:spLocks noGrp="1"/>
          </p:cNvSpPr>
          <p:nvPr>
            <p:ph type="body" idx="13"/>
          </p:nvPr>
        </p:nvSpPr>
        <p:spPr>
          <a:xfrm>
            <a:off x="57150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8" name="Google Shape;188;p45"/>
          <p:cNvSpPr txBox="1">
            <a:spLocks noGrp="1"/>
          </p:cNvSpPr>
          <p:nvPr>
            <p:ph type="body" idx="14"/>
          </p:nvPr>
        </p:nvSpPr>
        <p:spPr>
          <a:xfrm>
            <a:off x="57150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9" name="Google Shape;189;p45"/>
          <p:cNvSpPr>
            <a:spLocks noGrp="1"/>
          </p:cNvSpPr>
          <p:nvPr>
            <p:ph type="pic" idx="15"/>
          </p:nvPr>
        </p:nvSpPr>
        <p:spPr>
          <a:xfrm>
            <a:off x="2190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90" name="Google Shape;190;p45"/>
          <p:cNvSpPr txBox="1">
            <a:spLocks noGrp="1"/>
          </p:cNvSpPr>
          <p:nvPr>
            <p:ph type="body" idx="16"/>
          </p:nvPr>
        </p:nvSpPr>
        <p:spPr>
          <a:xfrm>
            <a:off x="17145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1" name="Google Shape;191;p45"/>
          <p:cNvSpPr txBox="1">
            <a:spLocks noGrp="1"/>
          </p:cNvSpPr>
          <p:nvPr>
            <p:ph type="body" idx="17"/>
          </p:nvPr>
        </p:nvSpPr>
        <p:spPr>
          <a:xfrm>
            <a:off x="17145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أربع نقاط فاتحة">
  <p:cSld name="أربع نقاط فاتحة">
    <p:bg>
      <p:bgPr>
        <a:solidFill>
          <a:srgbClr val="F2F4FF"/>
        </a:solidFill>
        <a:effectLst/>
      </p:bgPr>
    </p:bg>
    <p:spTree>
      <p:nvGrpSpPr>
        <p:cNvPr id="1"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a:stretch/>
        </p:blipFill>
        <p:spPr>
          <a:xfrm>
            <a:off x="1337187" y="685800"/>
            <a:ext cx="2888226" cy="895350"/>
          </a:xfrm>
          <a:prstGeom prst="rect">
            <a:avLst/>
          </a:prstGeom>
          <a:noFill/>
          <a:ln>
            <a:noFill/>
          </a:ln>
        </p:spPr>
      </p:pic>
      <p:sp>
        <p:nvSpPr>
          <p:cNvPr id="195" name="Google Shape;195;p46"/>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6" name="Google Shape;196;p46"/>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7" name="Google Shape;197;p46"/>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8" name="Google Shape;198;p46"/>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a:spLocks noGrp="1"/>
          </p:cNvSpPr>
          <p:nvPr>
            <p:ph type="body" idx="3"/>
          </p:nvPr>
        </p:nvSpPr>
        <p:spPr>
          <a:xfrm>
            <a:off x="9810750" y="3952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1" name="Google Shape;201;p46"/>
          <p:cNvSpPr txBox="1">
            <a:spLocks noGrp="1"/>
          </p:cNvSpPr>
          <p:nvPr>
            <p:ph type="body" idx="4"/>
          </p:nvPr>
        </p:nvSpPr>
        <p:spPr>
          <a:xfrm>
            <a:off x="9810750" y="4657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2" name="Google Shape;202;p46"/>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3" name="Google Shape;203;p46"/>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4" name="Google Shape;204;p46"/>
          <p:cNvSpPr txBox="1">
            <a:spLocks noGrp="1"/>
          </p:cNvSpPr>
          <p:nvPr>
            <p:ph type="body" idx="7"/>
          </p:nvPr>
        </p:nvSpPr>
        <p:spPr>
          <a:xfrm>
            <a:off x="9810750" y="6619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5" name="Google Shape;205;p46"/>
          <p:cNvSpPr txBox="1">
            <a:spLocks noGrp="1"/>
          </p:cNvSpPr>
          <p:nvPr>
            <p:ph type="body" idx="8"/>
          </p:nvPr>
        </p:nvSpPr>
        <p:spPr>
          <a:xfrm>
            <a:off x="9810750" y="7324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6" name="Google Shape;206;p46"/>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7" name="Google Shape;207;p46"/>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جدول فاتح">
  <p:cSld name="جدول فاتح">
    <p:bg>
      <p:bgPr>
        <a:solidFill>
          <a:srgbClr val="F2F4FF"/>
        </a:solidFill>
        <a:effectLst/>
      </p:bgPr>
    </p:bg>
    <p:spTree>
      <p:nvGrpSpPr>
        <p:cNvPr id="1"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a:stretch/>
        </p:blipFill>
        <p:spPr>
          <a:xfrm>
            <a:off x="1337187" y="685800"/>
            <a:ext cx="2888226" cy="895350"/>
          </a:xfrm>
          <a:prstGeom prst="rect">
            <a:avLst/>
          </a:prstGeom>
          <a:noFill/>
          <a:ln>
            <a:noFill/>
          </a:ln>
        </p:spPr>
      </p:pic>
      <p:sp>
        <p:nvSpPr>
          <p:cNvPr id="211" name="Google Shape;211;p47"/>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2" name="Google Shape;212;p47"/>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3" name="Google Shape;213;p47"/>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4" name="Google Shape;214;p47"/>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a:spLocks noGrp="1"/>
          </p:cNvSpPr>
          <p:nvPr>
            <p:ph type="body" idx="3"/>
          </p:nvPr>
        </p:nvSpPr>
        <p:spPr>
          <a:xfrm>
            <a:off x="1714500" y="881062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7" name="Google Shape;217;p47"/>
          <p:cNvSpPr>
            <a:spLocks noGrp="1"/>
          </p:cNvSpPr>
          <p:nvPr>
            <p:ph type="tbl" idx="4"/>
          </p:nvPr>
        </p:nvSpPr>
        <p:spPr>
          <a:xfrm>
            <a:off x="1714500" y="3905250"/>
            <a:ext cx="15430500" cy="4476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مقارنة بالأعمدة">
  <p:cSld name="مقارنة بالأعمدة">
    <p:bg>
      <p:bgPr>
        <a:solidFill>
          <a:srgbClr val="12183F"/>
        </a:solidFill>
        <a:effectLst/>
      </p:bgPr>
    </p:bg>
    <p:spTree>
      <p:nvGrpSpPr>
        <p:cNvPr id="1"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21" name="Google Shape;221;p48"/>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2" name="Google Shape;222;p48"/>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3" name="Google Shape;223;p48"/>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4" name="Google Shape;224;p48"/>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a:spLocks noGrp="1"/>
          </p:cNvSpPr>
          <p:nvPr>
            <p:ph type="body" idx="3"/>
          </p:nvPr>
        </p:nvSpPr>
        <p:spPr>
          <a:xfrm>
            <a:off x="2095500" y="8905875"/>
            <a:ext cx="1419225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7" name="Google Shape;227;p48"/>
          <p:cNvSpPr>
            <a:spLocks noGrp="1"/>
          </p:cNvSpPr>
          <p:nvPr>
            <p:ph type="chart" idx="4"/>
          </p:nvPr>
        </p:nvSpPr>
        <p:spPr>
          <a:xfrm>
            <a:off x="2095500" y="3905250"/>
            <a:ext cx="14192250" cy="4857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آلية العمل">
  <p:cSld name="آلية العمل">
    <p:bg>
      <p:bgPr>
        <a:solidFill>
          <a:srgbClr val="12183F"/>
        </a:solidFill>
        <a:effectLst/>
      </p:bgPr>
    </p:bg>
    <p:spTree>
      <p:nvGrpSpPr>
        <p:cNvPr id="1"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41" name="Google Shape;241;p50"/>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2" name="Google Shape;242;p50"/>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3" name="Google Shape;243;p50"/>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4" name="Google Shape;244;p50"/>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a:spLocks noGrp="1"/>
          </p:cNvSpPr>
          <p:nvPr>
            <p:ph type="body" idx="3"/>
          </p:nvPr>
        </p:nvSpPr>
        <p:spPr>
          <a:xfrm>
            <a:off x="137160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7" name="Google Shape;247;p50"/>
          <p:cNvSpPr txBox="1">
            <a:spLocks noGrp="1"/>
          </p:cNvSpPr>
          <p:nvPr>
            <p:ph type="body" idx="4"/>
          </p:nvPr>
        </p:nvSpPr>
        <p:spPr>
          <a:xfrm>
            <a:off x="97155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8" name="Google Shape;248;p50"/>
          <p:cNvSpPr txBox="1">
            <a:spLocks noGrp="1"/>
          </p:cNvSpPr>
          <p:nvPr>
            <p:ph type="body" idx="5"/>
          </p:nvPr>
        </p:nvSpPr>
        <p:spPr>
          <a:xfrm>
            <a:off x="57150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9" name="Google Shape;249;p50"/>
          <p:cNvSpPr txBox="1">
            <a:spLocks noGrp="1"/>
          </p:cNvSpPr>
          <p:nvPr>
            <p:ph type="body" idx="6"/>
          </p:nvPr>
        </p:nvSpPr>
        <p:spPr>
          <a:xfrm>
            <a:off x="17145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صورة كبيرة">
  <p:cSld name="صورة كبيرة">
    <p:bg>
      <p:bgPr>
        <a:solidFill>
          <a:srgbClr val="12183F"/>
        </a:solidFill>
        <a:effectLst/>
      </p:bgPr>
    </p:bg>
    <p:spTree>
      <p:nvGrpSpPr>
        <p:cNvPr id="1"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a:spLocks noGrp="1"/>
          </p:cNvSpPr>
          <p:nvPr>
            <p:ph type="pic" idx="2"/>
          </p:nvPr>
        </p:nvSpPr>
        <p:spPr>
          <a:xfrm>
            <a:off x="1047750" y="666750"/>
            <a:ext cx="16192500" cy="6953250"/>
          </a:xfrm>
          <a:prstGeom prst="rect">
            <a:avLst/>
          </a:prstGeom>
          <a:solidFill>
            <a:srgbClr val="161D48"/>
          </a:solidFill>
          <a:ln w="11425" cap="flat" cmpd="sng">
            <a:solidFill>
              <a:srgbClr val="4A5590"/>
            </a:solidFill>
            <a:prstDash val="solid"/>
            <a:round/>
            <a:headEnd type="none" w="sm" len="sm"/>
            <a:tailEnd type="none" w="sm" len="sm"/>
          </a:ln>
        </p:spPr>
      </p:sp>
      <p:sp>
        <p:nvSpPr>
          <p:cNvPr id="255" name="Google Shape;255;p51"/>
          <p:cNvSpPr txBox="1">
            <a:spLocks noGrp="1"/>
          </p:cNvSpPr>
          <p:nvPr>
            <p:ph type="title"/>
          </p:nvPr>
        </p:nvSpPr>
        <p:spPr>
          <a:xfrm>
            <a:off x="2190750" y="7962900"/>
            <a:ext cx="14763750" cy="8382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56" name="Google Shape;256;p51"/>
          <p:cNvSpPr txBox="1">
            <a:spLocks noGrp="1"/>
          </p:cNvSpPr>
          <p:nvPr>
            <p:ph type="body" idx="1"/>
          </p:nvPr>
        </p:nvSpPr>
        <p:spPr>
          <a:xfrm>
            <a:off x="2190750" y="8896350"/>
            <a:ext cx="14763750" cy="4286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معرض الصور">
  <p:cSld name="معرض الصور">
    <p:bg>
      <p:bgPr>
        <a:solidFill>
          <a:srgbClr val="12183F"/>
        </a:solidFill>
        <a:effectLst/>
      </p:bgPr>
    </p:bg>
    <p:spTree>
      <p:nvGrpSpPr>
        <p:cNvPr id="1"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60" name="Google Shape;260;p52"/>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1" name="Google Shape;261;p52"/>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2" name="Google Shape;262;p52"/>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a:spLocks noGrp="1"/>
          </p:cNvSpPr>
          <p:nvPr>
            <p:ph type="pic" idx="2"/>
          </p:nvPr>
        </p:nvSpPr>
        <p:spPr>
          <a:xfrm>
            <a:off x="12382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5" name="Google Shape;265;p52"/>
          <p:cNvSpPr txBox="1">
            <a:spLocks noGrp="1"/>
          </p:cNvSpPr>
          <p:nvPr>
            <p:ph type="body" idx="3"/>
          </p:nvPr>
        </p:nvSpPr>
        <p:spPr>
          <a:xfrm>
            <a:off x="12382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6" name="Google Shape;266;p52"/>
          <p:cNvSpPr>
            <a:spLocks noGrp="1"/>
          </p:cNvSpPr>
          <p:nvPr>
            <p:ph type="pic" idx="4"/>
          </p:nvPr>
        </p:nvSpPr>
        <p:spPr>
          <a:xfrm>
            <a:off x="7048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7" name="Google Shape;267;p52"/>
          <p:cNvSpPr txBox="1">
            <a:spLocks noGrp="1"/>
          </p:cNvSpPr>
          <p:nvPr>
            <p:ph type="body" idx="5"/>
          </p:nvPr>
        </p:nvSpPr>
        <p:spPr>
          <a:xfrm>
            <a:off x="7048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8" name="Google Shape;268;p52"/>
          <p:cNvSpPr>
            <a:spLocks noGrp="1"/>
          </p:cNvSpPr>
          <p:nvPr>
            <p:ph type="pic" idx="6"/>
          </p:nvPr>
        </p:nvSpPr>
        <p:spPr>
          <a:xfrm>
            <a:off x="1714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9" name="Google Shape;269;p52"/>
          <p:cNvSpPr txBox="1">
            <a:spLocks noGrp="1"/>
          </p:cNvSpPr>
          <p:nvPr>
            <p:ph type="body" idx="7"/>
          </p:nvPr>
        </p:nvSpPr>
        <p:spPr>
          <a:xfrm>
            <a:off x="1714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أيقونات الهوية">
  <p:cSld name="أيقونات الهوية">
    <p:bg>
      <p:bgPr>
        <a:solidFill>
          <a:srgbClr val="12183F"/>
        </a:solidFill>
        <a:effectLst/>
      </p:bgPr>
    </p:bg>
    <p:spTree>
      <p:nvGrpSpPr>
        <p:cNvPr id="1"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73" name="Google Shape;273;p53"/>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4" name="Google Shape;274;p53"/>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5" name="Google Shape;275;p53"/>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6" name="Google Shape;276;p53"/>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a:spLocks noGrp="1"/>
          </p:cNvSpPr>
          <p:nvPr>
            <p:ph type="body" idx="3"/>
          </p:nvPr>
        </p:nvSpPr>
        <p:spPr>
          <a:xfrm>
            <a:off x="137160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9" name="Google Shape;279;p53"/>
          <p:cNvSpPr txBox="1">
            <a:spLocks noGrp="1"/>
          </p:cNvSpPr>
          <p:nvPr>
            <p:ph type="body" idx="4"/>
          </p:nvPr>
        </p:nvSpPr>
        <p:spPr>
          <a:xfrm>
            <a:off x="137160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0" name="Google Shape;280;p53"/>
          <p:cNvSpPr txBox="1">
            <a:spLocks noGrp="1"/>
          </p:cNvSpPr>
          <p:nvPr>
            <p:ph type="body" idx="5"/>
          </p:nvPr>
        </p:nvSpPr>
        <p:spPr>
          <a:xfrm>
            <a:off x="97155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1" name="Google Shape;281;p53"/>
          <p:cNvSpPr txBox="1">
            <a:spLocks noGrp="1"/>
          </p:cNvSpPr>
          <p:nvPr>
            <p:ph type="body" idx="6"/>
          </p:nvPr>
        </p:nvSpPr>
        <p:spPr>
          <a:xfrm>
            <a:off x="97155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2" name="Google Shape;282;p53"/>
          <p:cNvSpPr txBox="1">
            <a:spLocks noGrp="1"/>
          </p:cNvSpPr>
          <p:nvPr>
            <p:ph type="body" idx="7"/>
          </p:nvPr>
        </p:nvSpPr>
        <p:spPr>
          <a:xfrm>
            <a:off x="57150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3" name="Google Shape;283;p53"/>
          <p:cNvSpPr txBox="1">
            <a:spLocks noGrp="1"/>
          </p:cNvSpPr>
          <p:nvPr>
            <p:ph type="body" idx="8"/>
          </p:nvPr>
        </p:nvSpPr>
        <p:spPr>
          <a:xfrm>
            <a:off x="57150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4" name="Google Shape;284;p53"/>
          <p:cNvSpPr txBox="1">
            <a:spLocks noGrp="1"/>
          </p:cNvSpPr>
          <p:nvPr>
            <p:ph type="body" idx="9"/>
          </p:nvPr>
        </p:nvSpPr>
        <p:spPr>
          <a:xfrm>
            <a:off x="17145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5" name="Google Shape;285;p53"/>
          <p:cNvSpPr txBox="1">
            <a:spLocks noGrp="1"/>
          </p:cNvSpPr>
          <p:nvPr>
            <p:ph type="body" idx="13"/>
          </p:nvPr>
        </p:nvSpPr>
        <p:spPr>
          <a:xfrm>
            <a:off x="17145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مقارنة خيارين">
  <p:cSld name="مقارنة خيارين">
    <p:bg>
      <p:bgPr>
        <a:solidFill>
          <a:srgbClr val="12183F"/>
        </a:solidFill>
        <a:effectLst/>
      </p:bgPr>
    </p:bg>
    <p:spTree>
      <p:nvGrpSpPr>
        <p:cNvPr id="1"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89" name="Google Shape;289;p54"/>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0" name="Google Shape;290;p54"/>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1" name="Google Shape;291;p54"/>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2" name="Google Shape;292;p54"/>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a:spLocks noGrp="1"/>
          </p:cNvSpPr>
          <p:nvPr>
            <p:ph type="body" idx="3"/>
          </p:nvPr>
        </p:nvSpPr>
        <p:spPr>
          <a:xfrm>
            <a:off x="10001250" y="3857625"/>
            <a:ext cx="7143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5" name="Google Shape;295;p54"/>
          <p:cNvSpPr txBox="1">
            <a:spLocks noGrp="1"/>
          </p:cNvSpPr>
          <p:nvPr>
            <p:ph type="body" idx="4"/>
          </p:nvPr>
        </p:nvSpPr>
        <p:spPr>
          <a:xfrm>
            <a:off x="10001250" y="4562475"/>
            <a:ext cx="7143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6" name="Google Shape;296;p54"/>
          <p:cNvSpPr txBox="1">
            <a:spLocks noGrp="1"/>
          </p:cNvSpPr>
          <p:nvPr>
            <p:ph type="body" idx="5"/>
          </p:nvPr>
        </p:nvSpPr>
        <p:spPr>
          <a:xfrm>
            <a:off x="1714500" y="3857625"/>
            <a:ext cx="7143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7" name="Google Shape;297;p54"/>
          <p:cNvSpPr txBox="1">
            <a:spLocks noGrp="1"/>
          </p:cNvSpPr>
          <p:nvPr>
            <p:ph type="body" idx="6"/>
          </p:nvPr>
        </p:nvSpPr>
        <p:spPr>
          <a:xfrm>
            <a:off x="1714500" y="4562475"/>
            <a:ext cx="7143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8" name="Google Shape;298;p54"/>
          <p:cNvSpPr txBox="1">
            <a:spLocks noGrp="1"/>
          </p:cNvSpPr>
          <p:nvPr>
            <p:ph type="body" idx="7"/>
          </p:nvPr>
        </p:nvSpPr>
        <p:spPr>
          <a:xfrm>
            <a:off x="10001250" y="5905500"/>
            <a:ext cx="7143750" cy="2952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9" name="Google Shape;299;p54"/>
          <p:cNvSpPr txBox="1">
            <a:spLocks noGrp="1"/>
          </p:cNvSpPr>
          <p:nvPr>
            <p:ph type="body" idx="8"/>
          </p:nvPr>
        </p:nvSpPr>
        <p:spPr>
          <a:xfrm>
            <a:off x="1714500" y="5905500"/>
            <a:ext cx="7143750" cy="2952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ختام العرض">
  <p:cSld name="ختام العرض">
    <p:bg>
      <p:bgPr>
        <a:solidFill>
          <a:srgbClr val="12183F"/>
        </a:solidFill>
        <a:effectLst/>
      </p:bgPr>
    </p:bg>
    <p:spTree>
      <p:nvGrpSpPr>
        <p:cNvPr id="1"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l="4300" t="16000" r="69700" b="16000"/>
          <a:stretch/>
        </p:blipFill>
        <p:spPr>
          <a:xfrm>
            <a:off x="4857750" y="8629650"/>
            <a:ext cx="3810000" cy="1476375"/>
          </a:xfrm>
          <a:prstGeom prst="rect">
            <a:avLst/>
          </a:prstGeom>
          <a:noFill/>
          <a:ln>
            <a:noFill/>
          </a:ln>
        </p:spPr>
      </p:pic>
      <p:sp>
        <p:nvSpPr>
          <p:cNvPr id="315" name="Google Shape;315;p57"/>
          <p:cNvSpPr txBox="1">
            <a:spLocks noGrp="1"/>
          </p:cNvSpPr>
          <p:nvPr>
            <p:ph type="title"/>
          </p:nvPr>
        </p:nvSpPr>
        <p:spPr>
          <a:xfrm>
            <a:off x="3810000" y="4048125"/>
            <a:ext cx="10668000" cy="14287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16" name="Google Shape;316;p57"/>
          <p:cNvSpPr txBox="1">
            <a:spLocks noGrp="1"/>
          </p:cNvSpPr>
          <p:nvPr>
            <p:ph type="body" idx="1"/>
          </p:nvPr>
        </p:nvSpPr>
        <p:spPr>
          <a:xfrm>
            <a:off x="3810000" y="5905500"/>
            <a:ext cx="1066800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17" name="Google Shape;317;p57"/>
          <p:cNvSpPr txBox="1">
            <a:spLocks noGrp="1"/>
          </p:cNvSpPr>
          <p:nvPr>
            <p:ph type="body" idx="2"/>
          </p:nvPr>
        </p:nvSpPr>
        <p:spPr>
          <a:xfrm>
            <a:off x="3810000" y="7000875"/>
            <a:ext cx="10668000" cy="666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 id="2147483668" r:id="rId16"/>
    <p:sldLayoutId id="2147483669" r:id="rId17"/>
    <p:sldLayoutId id="2147483670" r:id="rId18"/>
    <p:sldLayoutId id="214748367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3.jpg"/><Relationship Id="rId6" Type="http://schemas.openxmlformats.org/officeDocument/2006/relationships/image" Target="../media/image21.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7.jpg"/><Relationship Id="rId6" Type="http://schemas.openxmlformats.org/officeDocument/2006/relationships/image" Target="../media/image28.jpg"/><Relationship Id="rId7" Type="http://schemas.openxmlformats.org/officeDocument/2006/relationships/image" Target="../media/image2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4.jpg"/><Relationship Id="rId6" Type="http://schemas.openxmlformats.org/officeDocument/2006/relationships/image" Target="../media/image3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26.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26.png"/><Relationship Id="rId8" Type="http://schemas.openxmlformats.org/officeDocument/2006/relationships/image" Target="../media/image15.png"/><Relationship Id="rId9" Type="http://schemas.openxmlformats.org/officeDocument/2006/relationships/image" Target="../media/image38.png"/><Relationship Id="rId10"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0.png"/><Relationship Id="rId6" Type="http://schemas.openxmlformats.org/officeDocument/2006/relationships/image" Target="../media/image17.png"/><Relationship Id="rId7" Type="http://schemas.openxmlformats.org/officeDocument/2006/relationships/image" Target="../media/image11.png"/><Relationship Id="rId8" Type="http://schemas.openxmlformats.org/officeDocument/2006/relationships/image" Target="../media/image24.png"/><Relationship Id="rId9"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6.png"/><Relationship Id="rId6"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8.jpg"/><Relationship Id="rId6" Type="http://schemas.openxmlformats.org/officeDocument/2006/relationships/image" Target="../media/image45.png"/><Relationship Id="rId7" Type="http://schemas.openxmlformats.org/officeDocument/2006/relationships/image" Target="../media/image49.png"/><Relationship Id="rId8" Type="http://schemas.openxmlformats.org/officeDocument/2006/relationships/image" Target="../media/image19.png"/><Relationship Id="rId9" Type="http://schemas.openxmlformats.org/officeDocument/2006/relationships/hyperlink" Target="https://drive.google.com/file/d/170psUxzianwj8WSywF9Lc4RTxSRJ1YCC/view?usp=sharin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hyperlink" Target="https://alsadiqai.com" TargetMode="External"/><Relationship Id="rId5" Type="http://schemas.openxmlformats.org/officeDocument/2006/relationships/image" Target="../media/image2.png"/><Relationship Id="rId6" Type="http://schemas.openxmlformats.org/officeDocument/2006/relationships/hyperlink" Target="https://youtu.be/YYWhZCzcJgg" TargetMode="External"/><Relationship Id="rId7" Type="http://schemas.openxmlformats.org/officeDocument/2006/relationships/hyperlink" Target="https://drive.google.com/file/d/170psUxzianwj8WSywF9Lc4RTxSRJ1YCC/view?usp=shari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5.png"/><Relationship Id="rId3" Type="http://schemas.openxmlformats.org/officeDocument/2006/relationships/hyperlink" Target="https://alsadiqai.com" TargetMode="Externa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pn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png"/><Relationship Id="rId3"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png"/><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image" Target="../media/image39.png"/><Relationship Id="rId4" Type="http://schemas.openxmlformats.org/officeDocument/2006/relationships/hyperlink" Target="https://platform.openai.com/docs/pricing" TargetMode="External"/><Relationship Id="rId5" Type="http://schemas.openxmlformats.org/officeDocument/2006/relationships/hyperlink" Target="https://elevenlabs.io/pricing/api" TargetMode="External"/><Relationship Id="rId6" Type="http://schemas.openxmlformats.org/officeDocument/2006/relationships/hyperlink" Target="https://livekit.com/pric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png"/><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11.png"/><Relationship Id="rId8" Type="http://schemas.openxmlformats.org/officeDocument/2006/relationships/image" Target="../media/image16.png"/><Relationship Id="rId9" Type="http://schemas.openxmlformats.org/officeDocument/2006/relationships/image" Target="../media/image2.png"/><Relationship Id="rId10" Type="http://schemas.openxmlformats.org/officeDocument/2006/relationships/image" Target="../media/image15.png"/><Relationship Id="rId11"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11.png"/><Relationship Id="rId8" Type="http://schemas.openxmlformats.org/officeDocument/2006/relationships/image" Target="../media/image16.png"/><Relationship Id="rId9" Type="http://schemas.openxmlformats.org/officeDocument/2006/relationships/image" Target="../media/image2.png"/><Relationship Id="rId10" Type="http://schemas.openxmlformats.org/officeDocument/2006/relationships/image" Target="../media/image15.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11.png"/><Relationship Id="rId8" Type="http://schemas.openxmlformats.org/officeDocument/2006/relationships/image" Target="../media/image16.png"/><Relationship Id="rId9" Type="http://schemas.openxmlformats.org/officeDocument/2006/relationships/image" Target="../media/image2.png"/><Relationship Id="rId10" Type="http://schemas.openxmlformats.org/officeDocument/2006/relationships/image" Target="../media/image15.png"/><Relationship Id="rId11" Type="http://schemas.openxmlformats.org/officeDocument/2006/relationships/image" Target="../media/image26.png"/><Relationship Id="rId12" Type="http://schemas.openxmlformats.org/officeDocument/2006/relationships/image" Target="../media/image49.png"/><Relationship Id="rId1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sp>
        <p:nvSpPr>
          <p:cNvPr id="486" name="Google Shape;486;p8"/>
          <p:cNvSpPr txBox="1">
            <a:spLocks noGrp="1"/>
          </p:cNvSpPr>
          <p:nvPr>
            <p:ph type="title"/>
          </p:nvPr>
        </p:nvSpPr>
        <p:spPr>
          <a:xfrm>
            <a:off x="7791450" y="3524250"/>
            <a:ext cx="9048900" cy="1333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450"/>
              <a:buNone/>
            </a:pPr>
            <a:r>
              <a:rPr lang="ar-SA" sz="6450" b="1">
                <a:solidFill>
                  <a:srgbClr val="F2F4FF"/>
                </a:solidFill>
                <a:latin typeface="Readex Pro"/>
                <a:ea typeface="Readex Pro"/>
                <a:cs typeface="Readex Pro"/>
                <a:sym typeface="Readex Pro"/>
              </a:rPr>
              <a:t>الصديق الصدوق</a:t>
            </a:r>
          </a:p>
        </p:txBody>
      </p:sp>
      <p:sp>
        <p:nvSpPr>
          <p:cNvPr id="487" name="Google Shape;487;p8"/>
          <p:cNvSpPr txBox="1">
            <a:spLocks noGrp="1"/>
          </p:cNvSpPr>
          <p:nvPr>
            <p:ph type="body" idx="1"/>
          </p:nvPr>
        </p:nvSpPr>
        <p:spPr>
          <a:xfrm>
            <a:off x="7791450" y="5334000"/>
            <a:ext cx="9048900" cy="16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3300"/>
              <a:buNone/>
            </a:pPr>
            <a:r>
              <a:rPr lang="ar-SA" sz="3300" b="0">
                <a:solidFill>
                  <a:srgbClr val="2EF2C2"/>
                </a:solidFill>
                <a:latin typeface="Readex Pro"/>
                <a:ea typeface="Readex Pro"/>
                <a:cs typeface="Readex Pro"/>
                <a:sym typeface="Readex Pro"/>
              </a:rPr>
              <a:t>رفيق صوتي يعلّم الطفل 38 قيمة إسلامية بحوار ممتع ومهام وأوسمة، ويقرّبه من والديه</a:t>
            </a: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spcFirstLastPara="1" wrap="square" lIns="91425" tIns="91425" rIns="91425" bIns="91425" anchor="ctr" anchorCtr="0">
            <a:noAutofit/>
          </a:bodyPr>
          <a:lstStyle/>
          <a:p>
            <a:pPr marL="0" lvl="0" indent="0" algn="r" rtl="1">
              <a:lnSpc>
                <a:spcPct val="115000"/>
              </a:lnSpc>
              <a:spcBef>
                <a:spcPts val="0"/>
              </a:spcBef>
              <a:spcAft>
                <a:spcPts val="0"/>
              </a:spcAft>
              <a:buNone/>
            </a:pPr>
            <a:endParaRPr/>
          </a:p>
        </p:txBody>
      </p:sp>
      <p:sp>
        <p:nvSpPr>
          <p:cNvPr id="489" name="Google Shape;489;p8"/>
          <p:cNvSpPr/>
          <p:nvPr/>
        </p:nvSpPr>
        <p:spPr>
          <a:xfrm>
            <a:off x="11338560" y="9120188"/>
            <a:ext cx="5495544" cy="347700"/>
          </a:xfrm>
          <a:prstGeom prst="rect">
            <a:avLst/>
          </a:prstGeom>
          <a:noFill/>
          <a:ln>
            <a:noFill/>
          </a:ln>
        </p:spPr>
        <p:txBody>
          <a:bodyPr spcFirstLastPara="1" wrap="square" lIns="25400" tIns="25400" rIns="25400" bIns="25400" anchor="ctr" anchorCtr="0">
            <a:noAutofit/>
          </a:bodyPr>
          <a:lstStyle/>
          <a:p>
            <a:pPr marL="0" marR="0" lvl="0" indent="0" algn="r" rtl="1">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فريق الصديق الصدوق · المسار المفتوح</a:t>
            </a:r>
          </a:p>
        </p:txBody>
      </p:sp>
      <p:sp>
        <p:nvSpPr>
          <p:cNvPr id="490" name="Google Shape;490;p8"/>
          <p:cNvSpPr/>
          <p:nvPr/>
        </p:nvSpPr>
        <p:spPr>
          <a:xfrm>
            <a:off x="1397000" y="9120188"/>
            <a:ext cx="2765700" cy="347700"/>
          </a:xfrm>
          <a:prstGeom prst="rect">
            <a:avLst/>
          </a:prstGeom>
          <a:noFill/>
          <a:ln>
            <a:noFill/>
          </a:ln>
        </p:spPr>
        <p:txBody>
          <a:bodyPr spcFirstLastPara="1" wrap="square" lIns="25400" tIns="25400" rIns="25400" bIns="25400" anchor="ctr" anchorCtr="0">
            <a:noAutofit/>
          </a:bodyPr>
          <a:lstStyle/>
          <a:p>
            <a:pPr marL="0" marR="0" lvl="0" indent="0" algn="l" rtl="1">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6 أكتوبر 2026</a:t>
            </a:r>
          </a:p>
        </p:txBody>
      </p:sp>
      <p:pic>
        <p:nvPicPr>
          <p:cNvPr id="492" name="Google Shape;492;p8"/>
          <p:cNvPicPr preferRelativeResize="0"/>
          <p:nvPr/>
        </p:nvPicPr>
        <p:blipFill rotWithShape="1">
          <a:blip r:embed="rId2">
            <a:alphaModFix/>
          </a:blip>
          <a:srcRect/>
          <a:stretch/>
        </p:blipFill>
        <p:spPr>
          <a:xfrm>
            <a:off x="14954250" y="840995"/>
            <a:ext cx="2190750" cy="13850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دليل اللجنة</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أين تجد كل معيار؟</a:t>
            </a:r>
          </a:p>
        </p:txBody>
      </p:sp>
      <p:sp>
        <p:nvSpPr>
          <p:cNvPr id="539" name="Google Shape;539;p1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كل قسم يحمل اسم المعيار الذي يجيب عنه</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Rounded Rectangle 550"/>
          <p:cNvSpPr/>
          <p:nvPr/>
        </p:nvSpPr>
        <p:spPr>
          <a:xfrm>
            <a:off x="13213080" y="3794760"/>
            <a:ext cx="3630168" cy="24231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52" name="Oval 551"/>
          <p:cNvSpPr/>
          <p:nvPr/>
        </p:nvSpPr>
        <p:spPr>
          <a:xfrm>
            <a:off x="15883128" y="4023360"/>
            <a:ext cx="731520" cy="731520"/>
          </a:xfrm>
          <a:prstGeom prst="ellipse">
            <a:avLst/>
          </a:prstGeom>
          <a:solidFill>
            <a:srgbClr val="2EF2C2">
              <a:alpha val="14000"/>
            </a:srgbClr>
          </a:solidFill>
          <a:ln w="12700">
            <a:noFill/>
          </a:ln>
        </p:spPr>
        <p:txBody>
          <a:bodyPr rtlCol="0" anchor="ctr"/>
          <a:lstStyle/>
          <a:p>
            <a:endParaRPr/>
          </a:p>
        </p:txBody>
      </p:sp>
      <p:pic>
        <p:nvPicPr>
          <p:cNvPr id="553" name="Picture 552" descr="FaBrain-turq.png"/>
          <p:cNvPicPr>
            <a:picLocks noChangeAspect="1"/>
          </p:cNvPicPr>
          <p:nvPr/>
        </p:nvPicPr>
        <p:blipFill>
          <a:blip r:embed="rId5"/>
          <a:stretch>
            <a:fillRect/>
          </a:stretch>
        </p:blipFill>
        <p:spPr>
          <a:xfrm>
            <a:off x="16080638" y="4220870"/>
            <a:ext cx="336499" cy="336499"/>
          </a:xfrm>
          <a:prstGeom prst="rect">
            <a:avLst/>
          </a:prstGeom>
        </p:spPr>
      </p:pic>
      <p:sp>
        <p:nvSpPr>
          <p:cNvPr id="554" name="TextBox 553"/>
          <p:cNvSpPr txBox="1"/>
          <p:nvPr/>
        </p:nvSpPr>
        <p:spPr>
          <a:xfrm>
            <a:off x="13441680" y="4800600"/>
            <a:ext cx="3172968" cy="777240"/>
          </a:xfrm>
          <a:prstGeom prst="rect">
            <a:avLst/>
          </a:prstGeom>
          <a:noFill/>
        </p:spPr>
        <p:txBody>
          <a:bodyPr wrap="square" lIns="0" tIns="0" rIns="0" bIns="0" anchor="b">
            <a:spAutoFit/>
          </a:bodyPr>
          <a:lstStyle/>
          <a:p>
            <a:pPr algn="r" rtl="1"/>
            <a:r>
              <a:rPr lang="ar-SA" sz="2000" b="1">
                <a:solidFill>
                  <a:srgbClr val="F2F4FF"/>
                </a:solidFill>
                <a:latin typeface="Readex Pro"/>
                <a:ea typeface="Readex Pro"/>
                <a:cs typeface="Readex Pro"/>
                <a:sym typeface="Readex Pro"/>
              </a:rPr>
              <a:t>الجودة التقنية واستخدام الذكاء الاصطناعي</a:t>
            </a:r>
          </a:p>
        </p:txBody>
      </p:sp>
      <p:sp>
        <p:nvSpPr>
          <p:cNvPr id="555" name="TextBox 554"/>
          <p:cNvSpPr txBox="1"/>
          <p:nvPr/>
        </p:nvSpPr>
        <p:spPr>
          <a:xfrm>
            <a:off x="13441680" y="5623560"/>
            <a:ext cx="3172968" cy="411480"/>
          </a:xfrm>
          <a:prstGeom prst="rect">
            <a:avLst/>
          </a:prstGeom>
          <a:noFill/>
        </p:spPr>
        <p:txBody>
          <a:bodyPr wrap="square" lIns="0" tIns="0" rIns="0" bIns="0" anchor="t">
            <a:spAutoFit/>
          </a:bodyPr>
          <a:lstStyle/>
          <a:p>
            <a:pPr algn="r" rtl="1"/>
            <a:r>
              <a:rPr lang="ar-SA" sz="1800" b="0">
                <a:solidFill>
                  <a:srgbClr val="2EF2C2"/>
                </a:solidFill>
                <a:latin typeface="Readex Pro"/>
                <a:ea typeface="Readex Pro"/>
                <a:cs typeface="Readex Pro"/>
                <a:sym typeface="Readex Pro"/>
              </a:rPr>
              <a:t>الشريحتان 15 و16</a:t>
            </a:r>
          </a:p>
        </p:txBody>
      </p:sp>
      <p:sp>
        <p:nvSpPr>
          <p:cNvPr id="556" name="Rounded Rectangle 555"/>
          <p:cNvSpPr/>
          <p:nvPr/>
        </p:nvSpPr>
        <p:spPr>
          <a:xfrm>
            <a:off x="9272016" y="3794760"/>
            <a:ext cx="3630168" cy="24231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57" name="Oval 556"/>
          <p:cNvSpPr/>
          <p:nvPr/>
        </p:nvSpPr>
        <p:spPr>
          <a:xfrm>
            <a:off x="11942064" y="4023360"/>
            <a:ext cx="731520" cy="731520"/>
          </a:xfrm>
          <a:prstGeom prst="ellipse">
            <a:avLst/>
          </a:prstGeom>
          <a:solidFill>
            <a:srgbClr val="2EF2C2">
              <a:alpha val="14000"/>
            </a:srgbClr>
          </a:solidFill>
          <a:ln w="12700">
            <a:noFill/>
          </a:ln>
        </p:spPr>
        <p:txBody>
          <a:bodyPr rtlCol="0" anchor="ctr"/>
          <a:lstStyle/>
          <a:p>
            <a:endParaRPr/>
          </a:p>
        </p:txBody>
      </p:sp>
      <p:pic>
        <p:nvPicPr>
          <p:cNvPr id="558" name="Picture 557" descr="FaServer-turq.png"/>
          <p:cNvPicPr>
            <a:picLocks noChangeAspect="1"/>
          </p:cNvPicPr>
          <p:nvPr/>
        </p:nvPicPr>
        <p:blipFill>
          <a:blip r:embed="rId6"/>
          <a:stretch>
            <a:fillRect/>
          </a:stretch>
        </p:blipFill>
        <p:spPr>
          <a:xfrm>
            <a:off x="12139574" y="4220870"/>
            <a:ext cx="336499" cy="336499"/>
          </a:xfrm>
          <a:prstGeom prst="rect">
            <a:avLst/>
          </a:prstGeom>
        </p:spPr>
      </p:pic>
      <p:sp>
        <p:nvSpPr>
          <p:cNvPr id="559" name="TextBox 558"/>
          <p:cNvSpPr txBox="1"/>
          <p:nvPr/>
        </p:nvSpPr>
        <p:spPr>
          <a:xfrm>
            <a:off x="9500616" y="4800600"/>
            <a:ext cx="3172968" cy="777240"/>
          </a:xfrm>
          <a:prstGeom prst="rect">
            <a:avLst/>
          </a:prstGeom>
          <a:noFill/>
        </p:spPr>
        <p:txBody>
          <a:bodyPr wrap="square" lIns="0" tIns="0" rIns="0" bIns="0" anchor="b">
            <a:spAutoFit/>
          </a:bodyPr>
          <a:lstStyle/>
          <a:p>
            <a:pPr algn="r" rtl="1"/>
            <a:r>
              <a:rPr lang="ar-SA" sz="2000" b="1">
                <a:solidFill>
                  <a:srgbClr val="F2F4FF"/>
                </a:solidFill>
                <a:latin typeface="Readex Pro"/>
                <a:ea typeface="Readex Pro"/>
                <a:cs typeface="Readex Pro"/>
                <a:sym typeface="Readex Pro"/>
              </a:rPr>
              <a:t>واقعية التشغيل</a:t>
            </a:r>
          </a:p>
        </p:txBody>
      </p:sp>
      <p:sp>
        <p:nvSpPr>
          <p:cNvPr id="560" name="TextBox 559"/>
          <p:cNvSpPr txBox="1"/>
          <p:nvPr/>
        </p:nvSpPr>
        <p:spPr>
          <a:xfrm>
            <a:off x="9500616" y="5623560"/>
            <a:ext cx="3172968" cy="411480"/>
          </a:xfrm>
          <a:prstGeom prst="rect">
            <a:avLst/>
          </a:prstGeom>
          <a:noFill/>
        </p:spPr>
        <p:txBody>
          <a:bodyPr wrap="square" lIns="0" tIns="0" rIns="0" bIns="0" anchor="t">
            <a:spAutoFit/>
          </a:bodyPr>
          <a:lstStyle/>
          <a:p>
            <a:pPr algn="r" rtl="1"/>
            <a:r>
              <a:rPr lang="ar-SA" sz="1800" b="0">
                <a:solidFill>
                  <a:srgbClr val="2EF2C2"/>
                </a:solidFill>
                <a:latin typeface="Readex Pro"/>
                <a:ea typeface="Readex Pro"/>
                <a:cs typeface="Readex Pro"/>
                <a:sym typeface="Readex Pro"/>
              </a:rPr>
              <a:t>الشريحة 21</a:t>
            </a:r>
          </a:p>
        </p:txBody>
      </p:sp>
      <p:sp>
        <p:nvSpPr>
          <p:cNvPr id="561" name="Rounded Rectangle 560"/>
          <p:cNvSpPr/>
          <p:nvPr/>
        </p:nvSpPr>
        <p:spPr>
          <a:xfrm>
            <a:off x="5330952" y="3794760"/>
            <a:ext cx="3630168" cy="24231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62" name="Oval 561"/>
          <p:cNvSpPr/>
          <p:nvPr/>
        </p:nvSpPr>
        <p:spPr>
          <a:xfrm>
            <a:off x="8001000" y="4023360"/>
            <a:ext cx="731520" cy="731520"/>
          </a:xfrm>
          <a:prstGeom prst="ellipse">
            <a:avLst/>
          </a:prstGeom>
          <a:solidFill>
            <a:srgbClr val="2EF2C2">
              <a:alpha val="14000"/>
            </a:srgbClr>
          </a:solidFill>
          <a:ln w="12700">
            <a:noFill/>
          </a:ln>
        </p:spPr>
        <p:txBody>
          <a:bodyPr rtlCol="0" anchor="ctr"/>
          <a:lstStyle/>
          <a:p>
            <a:endParaRPr/>
          </a:p>
        </p:txBody>
      </p:sp>
      <p:pic>
        <p:nvPicPr>
          <p:cNvPr id="563" name="Picture 562" descr="FaStar-turq.png"/>
          <p:cNvPicPr>
            <a:picLocks noChangeAspect="1"/>
          </p:cNvPicPr>
          <p:nvPr/>
        </p:nvPicPr>
        <p:blipFill>
          <a:blip r:embed="rId7"/>
          <a:stretch>
            <a:fillRect/>
          </a:stretch>
        </p:blipFill>
        <p:spPr>
          <a:xfrm>
            <a:off x="8198510" y="4220870"/>
            <a:ext cx="336499" cy="336499"/>
          </a:xfrm>
          <a:prstGeom prst="rect">
            <a:avLst/>
          </a:prstGeom>
        </p:spPr>
      </p:pic>
      <p:sp>
        <p:nvSpPr>
          <p:cNvPr id="564" name="TextBox 563"/>
          <p:cNvSpPr txBox="1"/>
          <p:nvPr/>
        </p:nvSpPr>
        <p:spPr>
          <a:xfrm>
            <a:off x="5559552" y="4800600"/>
            <a:ext cx="3172968" cy="777240"/>
          </a:xfrm>
          <a:prstGeom prst="rect">
            <a:avLst/>
          </a:prstGeom>
          <a:noFill/>
        </p:spPr>
        <p:txBody>
          <a:bodyPr wrap="square" lIns="0" tIns="0" rIns="0" bIns="0" anchor="b">
            <a:spAutoFit/>
          </a:bodyPr>
          <a:lstStyle/>
          <a:p>
            <a:pPr algn="r" rtl="1"/>
            <a:r>
              <a:rPr lang="ar-SA" sz="2000" b="1">
                <a:solidFill>
                  <a:srgbClr val="F2F4FF"/>
                </a:solidFill>
                <a:latin typeface="Readex Pro"/>
                <a:ea typeface="Readex Pro"/>
                <a:cs typeface="Readex Pro"/>
                <a:sym typeface="Readex Pro"/>
              </a:rPr>
              <a:t>الابتكار</a:t>
            </a:r>
          </a:p>
        </p:txBody>
      </p:sp>
      <p:sp>
        <p:nvSpPr>
          <p:cNvPr id="565" name="TextBox 564"/>
          <p:cNvSpPr txBox="1"/>
          <p:nvPr/>
        </p:nvSpPr>
        <p:spPr>
          <a:xfrm>
            <a:off x="5559552" y="5623560"/>
            <a:ext cx="3172968" cy="411480"/>
          </a:xfrm>
          <a:prstGeom prst="rect">
            <a:avLst/>
          </a:prstGeom>
          <a:noFill/>
        </p:spPr>
        <p:txBody>
          <a:bodyPr wrap="square" lIns="0" tIns="0" rIns="0" bIns="0" anchor="t">
            <a:spAutoFit/>
          </a:bodyPr>
          <a:lstStyle/>
          <a:p>
            <a:pPr algn="r" rtl="1"/>
            <a:r>
              <a:rPr lang="ar-SA" sz="1800" b="0">
                <a:solidFill>
                  <a:srgbClr val="2EF2C2"/>
                </a:solidFill>
                <a:latin typeface="Readex Pro"/>
                <a:ea typeface="Readex Pro"/>
                <a:cs typeface="Readex Pro"/>
                <a:sym typeface="Readex Pro"/>
              </a:rPr>
              <a:t>الشرائح 5 إلى 7</a:t>
            </a:r>
          </a:p>
        </p:txBody>
      </p:sp>
      <p:sp>
        <p:nvSpPr>
          <p:cNvPr id="566" name="Rounded Rectangle 565"/>
          <p:cNvSpPr/>
          <p:nvPr/>
        </p:nvSpPr>
        <p:spPr>
          <a:xfrm>
            <a:off x="1389888" y="3794760"/>
            <a:ext cx="3630168" cy="24231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67" name="Oval 566"/>
          <p:cNvSpPr/>
          <p:nvPr/>
        </p:nvSpPr>
        <p:spPr>
          <a:xfrm>
            <a:off x="4059936" y="4023360"/>
            <a:ext cx="731520" cy="731520"/>
          </a:xfrm>
          <a:prstGeom prst="ellipse">
            <a:avLst/>
          </a:prstGeom>
          <a:solidFill>
            <a:srgbClr val="2EF2C2">
              <a:alpha val="14000"/>
            </a:srgbClr>
          </a:solidFill>
          <a:ln w="12700">
            <a:noFill/>
          </a:ln>
        </p:spPr>
        <p:txBody>
          <a:bodyPr rtlCol="0" anchor="ctr"/>
          <a:lstStyle/>
          <a:p>
            <a:endParaRPr/>
          </a:p>
        </p:txBody>
      </p:sp>
      <p:pic>
        <p:nvPicPr>
          <p:cNvPr id="568" name="Picture 567" descr="FaChild-turq.png"/>
          <p:cNvPicPr>
            <a:picLocks noChangeAspect="1"/>
          </p:cNvPicPr>
          <p:nvPr/>
        </p:nvPicPr>
        <p:blipFill>
          <a:blip r:embed="rId8"/>
          <a:stretch>
            <a:fillRect/>
          </a:stretch>
        </p:blipFill>
        <p:spPr>
          <a:xfrm>
            <a:off x="4257446" y="4220870"/>
            <a:ext cx="336499" cy="336499"/>
          </a:xfrm>
          <a:prstGeom prst="rect">
            <a:avLst/>
          </a:prstGeom>
        </p:spPr>
      </p:pic>
      <p:sp>
        <p:nvSpPr>
          <p:cNvPr id="569" name="TextBox 568"/>
          <p:cNvSpPr txBox="1"/>
          <p:nvPr/>
        </p:nvSpPr>
        <p:spPr>
          <a:xfrm>
            <a:off x="1618488" y="4800600"/>
            <a:ext cx="3172968" cy="777240"/>
          </a:xfrm>
          <a:prstGeom prst="rect">
            <a:avLst/>
          </a:prstGeom>
          <a:noFill/>
        </p:spPr>
        <p:txBody>
          <a:bodyPr wrap="square" lIns="0" tIns="0" rIns="0" bIns="0" anchor="b">
            <a:spAutoFit/>
          </a:bodyPr>
          <a:lstStyle/>
          <a:p>
            <a:pPr algn="r" rtl="1"/>
            <a:r>
              <a:rPr lang="ar-SA" sz="2000" b="1">
                <a:solidFill>
                  <a:srgbClr val="F2F4FF"/>
                </a:solidFill>
                <a:latin typeface="Readex Pro"/>
                <a:ea typeface="Readex Pro"/>
                <a:cs typeface="Readex Pro"/>
                <a:sym typeface="Readex Pro"/>
              </a:rPr>
              <a:t>تجربة المستفيد</a:t>
            </a:r>
          </a:p>
        </p:txBody>
      </p:sp>
      <p:sp>
        <p:nvSpPr>
          <p:cNvPr id="570" name="TextBox 569"/>
          <p:cNvSpPr txBox="1"/>
          <p:nvPr/>
        </p:nvSpPr>
        <p:spPr>
          <a:xfrm>
            <a:off x="1618488" y="5623560"/>
            <a:ext cx="3172968" cy="411480"/>
          </a:xfrm>
          <a:prstGeom prst="rect">
            <a:avLst/>
          </a:prstGeom>
          <a:noFill/>
        </p:spPr>
        <p:txBody>
          <a:bodyPr wrap="square" lIns="0" tIns="0" rIns="0" bIns="0" anchor="t">
            <a:spAutoFit/>
          </a:bodyPr>
          <a:lstStyle/>
          <a:p>
            <a:pPr algn="r" rtl="1"/>
            <a:r>
              <a:rPr lang="ar-SA" sz="1800" b="0">
                <a:solidFill>
                  <a:srgbClr val="2EF2C2"/>
                </a:solidFill>
                <a:latin typeface="Readex Pro"/>
                <a:ea typeface="Readex Pro"/>
                <a:cs typeface="Readex Pro"/>
                <a:sym typeface="Readex Pro"/>
              </a:rPr>
              <a:t>الشرائح 8 إلى 11</a:t>
            </a:r>
          </a:p>
        </p:txBody>
      </p:sp>
      <p:sp>
        <p:nvSpPr>
          <p:cNvPr id="571" name="Rounded Rectangle 570"/>
          <p:cNvSpPr/>
          <p:nvPr/>
        </p:nvSpPr>
        <p:spPr>
          <a:xfrm>
            <a:off x="11242548" y="6492240"/>
            <a:ext cx="3630168" cy="24231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72" name="Oval 571"/>
          <p:cNvSpPr/>
          <p:nvPr/>
        </p:nvSpPr>
        <p:spPr>
          <a:xfrm>
            <a:off x="13912596" y="6720840"/>
            <a:ext cx="731520" cy="731520"/>
          </a:xfrm>
          <a:prstGeom prst="ellipse">
            <a:avLst/>
          </a:prstGeom>
          <a:solidFill>
            <a:srgbClr val="2EF2C2">
              <a:alpha val="14000"/>
            </a:srgbClr>
          </a:solidFill>
          <a:ln w="12700">
            <a:noFill/>
          </a:ln>
        </p:spPr>
        <p:txBody>
          <a:bodyPr rtlCol="0" anchor="ctr"/>
          <a:lstStyle/>
          <a:p>
            <a:endParaRPr/>
          </a:p>
        </p:txBody>
      </p:sp>
      <p:pic>
        <p:nvPicPr>
          <p:cNvPr id="573" name="Picture 572" descr="FaHandHoldingHeart-turq.png"/>
          <p:cNvPicPr>
            <a:picLocks noChangeAspect="1"/>
          </p:cNvPicPr>
          <p:nvPr/>
        </p:nvPicPr>
        <p:blipFill>
          <a:blip r:embed="rId9"/>
          <a:stretch>
            <a:fillRect/>
          </a:stretch>
        </p:blipFill>
        <p:spPr>
          <a:xfrm>
            <a:off x="14110106" y="6918350"/>
            <a:ext cx="336499" cy="336499"/>
          </a:xfrm>
          <a:prstGeom prst="rect">
            <a:avLst/>
          </a:prstGeom>
        </p:spPr>
      </p:pic>
      <p:sp>
        <p:nvSpPr>
          <p:cNvPr id="574" name="TextBox 573"/>
          <p:cNvSpPr txBox="1"/>
          <p:nvPr/>
        </p:nvSpPr>
        <p:spPr>
          <a:xfrm>
            <a:off x="11471148" y="7498080"/>
            <a:ext cx="3172968" cy="777240"/>
          </a:xfrm>
          <a:prstGeom prst="rect">
            <a:avLst/>
          </a:prstGeom>
          <a:noFill/>
        </p:spPr>
        <p:txBody>
          <a:bodyPr wrap="square" lIns="0" tIns="0" rIns="0" bIns="0" anchor="b">
            <a:spAutoFit/>
          </a:bodyPr>
          <a:lstStyle/>
          <a:p>
            <a:pPr algn="r" rtl="1"/>
            <a:r>
              <a:rPr lang="ar-SA" sz="2000" b="1">
                <a:solidFill>
                  <a:srgbClr val="F2F4FF"/>
                </a:solidFill>
                <a:latin typeface="Readex Pro"/>
                <a:ea typeface="Readex Pro"/>
                <a:cs typeface="Readex Pro"/>
                <a:sym typeface="Readex Pro"/>
              </a:rPr>
              <a:t>تحقيق النفع</a:t>
            </a:r>
          </a:p>
        </p:txBody>
      </p:sp>
      <p:sp>
        <p:nvSpPr>
          <p:cNvPr id="575" name="TextBox 574"/>
          <p:cNvSpPr txBox="1"/>
          <p:nvPr/>
        </p:nvSpPr>
        <p:spPr>
          <a:xfrm>
            <a:off x="11471148" y="8321040"/>
            <a:ext cx="3172968" cy="411480"/>
          </a:xfrm>
          <a:prstGeom prst="rect">
            <a:avLst/>
          </a:prstGeom>
          <a:noFill/>
        </p:spPr>
        <p:txBody>
          <a:bodyPr wrap="square" lIns="0" tIns="0" rIns="0" bIns="0" anchor="t">
            <a:spAutoFit/>
          </a:bodyPr>
          <a:lstStyle/>
          <a:p>
            <a:pPr algn="r" rtl="1"/>
            <a:r>
              <a:rPr lang="ar-SA" sz="1800" b="0">
                <a:solidFill>
                  <a:srgbClr val="2EF2C2"/>
                </a:solidFill>
                <a:latin typeface="Readex Pro"/>
                <a:ea typeface="Readex Pro"/>
                <a:cs typeface="Readex Pro"/>
                <a:sym typeface="Readex Pro"/>
              </a:rPr>
              <a:t>الشرائح 4 و12 و18 إلى 20</a:t>
            </a:r>
          </a:p>
        </p:txBody>
      </p:sp>
      <p:sp>
        <p:nvSpPr>
          <p:cNvPr id="576" name="Rounded Rectangle 575"/>
          <p:cNvSpPr/>
          <p:nvPr/>
        </p:nvSpPr>
        <p:spPr>
          <a:xfrm>
            <a:off x="7301484" y="6492240"/>
            <a:ext cx="3630168" cy="24231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77" name="Oval 576"/>
          <p:cNvSpPr/>
          <p:nvPr/>
        </p:nvSpPr>
        <p:spPr>
          <a:xfrm>
            <a:off x="9971532" y="6720840"/>
            <a:ext cx="731520" cy="731520"/>
          </a:xfrm>
          <a:prstGeom prst="ellipse">
            <a:avLst/>
          </a:prstGeom>
          <a:solidFill>
            <a:srgbClr val="2EF2C2">
              <a:alpha val="14000"/>
            </a:srgbClr>
          </a:solidFill>
          <a:ln w="12700">
            <a:noFill/>
          </a:ln>
        </p:spPr>
        <p:txBody>
          <a:bodyPr rtlCol="0" anchor="ctr"/>
          <a:lstStyle/>
          <a:p>
            <a:endParaRPr/>
          </a:p>
        </p:txBody>
      </p:sp>
      <p:pic>
        <p:nvPicPr>
          <p:cNvPr id="578" name="Picture 577" descr="FaCircleCheck-turq.png"/>
          <p:cNvPicPr>
            <a:picLocks noChangeAspect="1"/>
          </p:cNvPicPr>
          <p:nvPr/>
        </p:nvPicPr>
        <p:blipFill>
          <a:blip r:embed="rId10"/>
          <a:stretch>
            <a:fillRect/>
          </a:stretch>
        </p:blipFill>
        <p:spPr>
          <a:xfrm>
            <a:off x="10169042" y="6918350"/>
            <a:ext cx="336499" cy="336499"/>
          </a:xfrm>
          <a:prstGeom prst="rect">
            <a:avLst/>
          </a:prstGeom>
        </p:spPr>
      </p:pic>
      <p:sp>
        <p:nvSpPr>
          <p:cNvPr id="579" name="TextBox 578"/>
          <p:cNvSpPr txBox="1"/>
          <p:nvPr/>
        </p:nvSpPr>
        <p:spPr>
          <a:xfrm>
            <a:off x="7530084" y="7498080"/>
            <a:ext cx="3172968" cy="777240"/>
          </a:xfrm>
          <a:prstGeom prst="rect">
            <a:avLst/>
          </a:prstGeom>
          <a:noFill/>
        </p:spPr>
        <p:txBody>
          <a:bodyPr wrap="square" lIns="0" tIns="0" rIns="0" bIns="0" anchor="b">
            <a:spAutoFit/>
          </a:bodyPr>
          <a:lstStyle/>
          <a:p>
            <a:pPr algn="r" rtl="1"/>
            <a:r>
              <a:rPr lang="ar-SA" sz="2000" b="1">
                <a:solidFill>
                  <a:srgbClr val="F2F4FF"/>
                </a:solidFill>
                <a:latin typeface="Readex Pro"/>
                <a:ea typeface="Readex Pro"/>
                <a:cs typeface="Readex Pro"/>
                <a:sym typeface="Readex Pro"/>
              </a:rPr>
              <a:t>الوضوح وقابلية التحقق</a:t>
            </a:r>
          </a:p>
        </p:txBody>
      </p:sp>
      <p:sp>
        <p:nvSpPr>
          <p:cNvPr id="580" name="TextBox 579"/>
          <p:cNvSpPr txBox="1"/>
          <p:nvPr/>
        </p:nvSpPr>
        <p:spPr>
          <a:xfrm>
            <a:off x="7530084" y="8321040"/>
            <a:ext cx="3172968" cy="411480"/>
          </a:xfrm>
          <a:prstGeom prst="rect">
            <a:avLst/>
          </a:prstGeom>
          <a:noFill/>
        </p:spPr>
        <p:txBody>
          <a:bodyPr wrap="square" lIns="0" tIns="0" rIns="0" bIns="0" anchor="t">
            <a:spAutoFit/>
          </a:bodyPr>
          <a:lstStyle/>
          <a:p>
            <a:pPr algn="r" rtl="1"/>
            <a:r>
              <a:rPr lang="ar-SA" sz="1800" b="0">
                <a:solidFill>
                  <a:srgbClr val="2EF2C2"/>
                </a:solidFill>
                <a:latin typeface="Readex Pro"/>
                <a:ea typeface="Readex Pro"/>
                <a:cs typeface="Readex Pro"/>
                <a:sym typeface="Readex Pro"/>
              </a:rPr>
              <a:t>الشريحتان 23 و25 والملحق</a:t>
            </a:r>
          </a:p>
        </p:txBody>
      </p:sp>
      <p:sp>
        <p:nvSpPr>
          <p:cNvPr id="581" name="Rounded Rectangle 580"/>
          <p:cNvSpPr/>
          <p:nvPr/>
        </p:nvSpPr>
        <p:spPr>
          <a:xfrm>
            <a:off x="3360420" y="6492240"/>
            <a:ext cx="3630168" cy="24231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82" name="Oval 581"/>
          <p:cNvSpPr/>
          <p:nvPr/>
        </p:nvSpPr>
        <p:spPr>
          <a:xfrm>
            <a:off x="6030468" y="6720840"/>
            <a:ext cx="731520" cy="731520"/>
          </a:xfrm>
          <a:prstGeom prst="ellipse">
            <a:avLst/>
          </a:prstGeom>
          <a:solidFill>
            <a:srgbClr val="2EF2C2">
              <a:alpha val="14000"/>
            </a:srgbClr>
          </a:solidFill>
          <a:ln w="12700">
            <a:noFill/>
          </a:ln>
        </p:spPr>
        <p:txBody>
          <a:bodyPr rtlCol="0" anchor="ctr"/>
          <a:lstStyle/>
          <a:p>
            <a:endParaRPr/>
          </a:p>
        </p:txBody>
      </p:sp>
      <p:pic>
        <p:nvPicPr>
          <p:cNvPr id="583" name="Picture 582" descr="FaShieldHalved-turq.png"/>
          <p:cNvPicPr>
            <a:picLocks noChangeAspect="1"/>
          </p:cNvPicPr>
          <p:nvPr/>
        </p:nvPicPr>
        <p:blipFill>
          <a:blip r:embed="rId11"/>
          <a:stretch>
            <a:fillRect/>
          </a:stretch>
        </p:blipFill>
        <p:spPr>
          <a:xfrm>
            <a:off x="6227978" y="6918350"/>
            <a:ext cx="336499" cy="336499"/>
          </a:xfrm>
          <a:prstGeom prst="rect">
            <a:avLst/>
          </a:prstGeom>
        </p:spPr>
      </p:pic>
      <p:sp>
        <p:nvSpPr>
          <p:cNvPr id="584" name="TextBox 583"/>
          <p:cNvSpPr txBox="1"/>
          <p:nvPr/>
        </p:nvSpPr>
        <p:spPr>
          <a:xfrm>
            <a:off x="3589020" y="7498080"/>
            <a:ext cx="3172968" cy="777240"/>
          </a:xfrm>
          <a:prstGeom prst="rect">
            <a:avLst/>
          </a:prstGeom>
          <a:noFill/>
        </p:spPr>
        <p:txBody>
          <a:bodyPr wrap="square" lIns="0" tIns="0" rIns="0" bIns="0" anchor="b">
            <a:spAutoFit/>
          </a:bodyPr>
          <a:lstStyle/>
          <a:p>
            <a:pPr algn="r" rtl="1"/>
            <a:r>
              <a:rPr lang="ar-SA" sz="2000" b="1">
                <a:solidFill>
                  <a:srgbClr val="F2F4FF"/>
                </a:solidFill>
                <a:latin typeface="Readex Pro"/>
                <a:ea typeface="Readex Pro"/>
                <a:cs typeface="Readex Pro"/>
                <a:sym typeface="Readex Pro"/>
              </a:rPr>
              <a:t>الموثوقية</a:t>
            </a:r>
          </a:p>
        </p:txBody>
      </p:sp>
      <p:sp>
        <p:nvSpPr>
          <p:cNvPr id="585" name="TextBox 584"/>
          <p:cNvSpPr txBox="1"/>
          <p:nvPr/>
        </p:nvSpPr>
        <p:spPr>
          <a:xfrm>
            <a:off x="3589020" y="8321040"/>
            <a:ext cx="3172968" cy="411480"/>
          </a:xfrm>
          <a:prstGeom prst="rect">
            <a:avLst/>
          </a:prstGeom>
          <a:noFill/>
        </p:spPr>
        <p:txBody>
          <a:bodyPr wrap="square" lIns="0" tIns="0" rIns="0" bIns="0" anchor="t">
            <a:spAutoFit/>
          </a:bodyPr>
          <a:lstStyle/>
          <a:p>
            <a:pPr algn="r" rtl="1"/>
            <a:r>
              <a:rPr lang="ar-SA" sz="1800" b="0">
                <a:solidFill>
                  <a:srgbClr val="2EF2C2"/>
                </a:solidFill>
                <a:latin typeface="Readex Pro"/>
                <a:ea typeface="Readex Pro"/>
                <a:cs typeface="Readex Pro"/>
                <a:sym typeface="Readex Pro"/>
              </a:rPr>
              <a:t>الشرائح 13 و14 و17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01 · المشكلة · معيار تحقيق النفع</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الطفل يسأل الذكاء الاصطناعي عن كل شيء</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Rounded Rectangle 550"/>
          <p:cNvSpPr/>
          <p:nvPr/>
        </p:nvSpPr>
        <p:spPr>
          <a:xfrm>
            <a:off x="13258800" y="3246120"/>
            <a:ext cx="3584448" cy="393192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52" name="Oval 551"/>
          <p:cNvSpPr/>
          <p:nvPr/>
        </p:nvSpPr>
        <p:spPr>
          <a:xfrm>
            <a:off x="14456664" y="3566160"/>
            <a:ext cx="1188720" cy="1188720"/>
          </a:xfrm>
          <a:prstGeom prst="ellipse">
            <a:avLst/>
          </a:prstGeom>
          <a:solidFill>
            <a:srgbClr val="C00000"/>
          </a:solidFill>
          <a:ln w="12700">
            <a:noFill/>
          </a:ln>
        </p:spPr>
        <p:txBody>
          <a:bodyPr rtlCol="0" anchor="ctr"/>
          <a:lstStyle/>
          <a:p>
            <a:endParaRPr/>
          </a:p>
        </p:txBody>
      </p:sp>
      <p:pic>
        <p:nvPicPr>
          <p:cNvPr id="553" name="Picture 552" descr="FaTriangleExclamation-turq.png"/>
          <p:cNvPicPr>
            <a:picLocks noChangeAspect="1"/>
          </p:cNvPicPr>
          <p:nvPr/>
        </p:nvPicPr>
        <p:blipFill>
          <a:blip r:embed="rId5"/>
          <a:stretch>
            <a:fillRect/>
          </a:stretch>
        </p:blipFill>
        <p:spPr>
          <a:xfrm>
            <a:off x="14777618" y="3887114"/>
            <a:ext cx="546811" cy="546811"/>
          </a:xfrm>
          <a:prstGeom prst="rect">
            <a:avLst/>
          </a:prstGeom>
        </p:spPr>
      </p:pic>
      <p:sp>
        <p:nvSpPr>
          <p:cNvPr id="554" name="TextBox 553"/>
          <p:cNvSpPr txBox="1"/>
          <p:nvPr/>
        </p:nvSpPr>
        <p:spPr>
          <a:xfrm>
            <a:off x="13441680" y="5029200"/>
            <a:ext cx="3218688" cy="640080"/>
          </a:xfrm>
          <a:prstGeom prst="rect">
            <a:avLst/>
          </a:prstGeom>
          <a:noFill/>
        </p:spPr>
        <p:txBody>
          <a:bodyPr wrap="square" lIns="0" tIns="0" rIns="0" bIns="0" anchor="t">
            <a:spAutoFit/>
          </a:bodyPr>
          <a:lstStyle/>
          <a:p>
            <a:pPr algn="ctr" rtl="1"/>
            <a:r>
              <a:rPr lang="ar-SA" sz="2400" b="1">
                <a:solidFill>
                  <a:srgbClr val="F2F4FF"/>
                </a:solidFill>
                <a:latin typeface="Readex Pro"/>
                <a:ea typeface="Readex Pro"/>
                <a:cs typeface="Readex Pro"/>
                <a:sym typeface="Readex Pro"/>
              </a:rPr>
              <a:t>محتوى لا يناسبه</a:t>
            </a:r>
          </a:p>
        </p:txBody>
      </p:sp>
      <p:sp>
        <p:nvSpPr>
          <p:cNvPr id="555" name="TextBox 554"/>
          <p:cNvSpPr txBox="1"/>
          <p:nvPr/>
        </p:nvSpPr>
        <p:spPr>
          <a:xfrm>
            <a:off x="13441680" y="5760720"/>
            <a:ext cx="3218688" cy="1097280"/>
          </a:xfrm>
          <a:prstGeom prst="rect">
            <a:avLst/>
          </a:prstGeom>
          <a:noFill/>
        </p:spPr>
        <p:txBody>
          <a:bodyPr wrap="square" lIns="0" tIns="0" rIns="0" bIns="0" anchor="t">
            <a:spAutoFit/>
          </a:bodyPr>
          <a:lstStyle/>
          <a:p>
            <a:pPr algn="ctr" rtl="1"/>
            <a:r>
              <a:rPr lang="ar-SA" sz="2000" b="0">
                <a:solidFill>
                  <a:srgbClr val="CBCFE6"/>
                </a:solidFill>
                <a:latin typeface="Readex Pro"/>
                <a:ea typeface="Readex Pro"/>
                <a:cs typeface="Readex Pro"/>
                <a:sym typeface="Readex Pro"/>
              </a:rPr>
              <a:t>يرى ما لا يريده والداه</a:t>
            </a:r>
          </a:p>
        </p:txBody>
      </p:sp>
      <p:sp>
        <p:nvSpPr>
          <p:cNvPr id="556" name="Rounded Rectangle 555"/>
          <p:cNvSpPr/>
          <p:nvPr/>
        </p:nvSpPr>
        <p:spPr>
          <a:xfrm>
            <a:off x="9308592" y="3246120"/>
            <a:ext cx="3584448" cy="393192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57" name="Oval 556"/>
          <p:cNvSpPr/>
          <p:nvPr/>
        </p:nvSpPr>
        <p:spPr>
          <a:xfrm>
            <a:off x="10506456" y="3566160"/>
            <a:ext cx="1188720" cy="1188720"/>
          </a:xfrm>
          <a:prstGeom prst="ellipse">
            <a:avLst/>
          </a:prstGeom>
          <a:solidFill>
            <a:srgbClr val="C00000"/>
          </a:solidFill>
          <a:ln w="12700">
            <a:noFill/>
          </a:ln>
        </p:spPr>
        <p:txBody>
          <a:bodyPr rtlCol="0" anchor="ctr"/>
          <a:lstStyle/>
          <a:p>
            <a:endParaRPr/>
          </a:p>
        </p:txBody>
      </p:sp>
      <p:pic>
        <p:nvPicPr>
          <p:cNvPr id="558" name="Picture 557" descr="FaCircleQuestion-turq.png"/>
          <p:cNvPicPr>
            <a:picLocks noChangeAspect="1"/>
          </p:cNvPicPr>
          <p:nvPr/>
        </p:nvPicPr>
        <p:blipFill>
          <a:blip r:embed="rId6"/>
          <a:stretch>
            <a:fillRect/>
          </a:stretch>
        </p:blipFill>
        <p:spPr>
          <a:xfrm>
            <a:off x="10827410" y="3887114"/>
            <a:ext cx="546811" cy="546811"/>
          </a:xfrm>
          <a:prstGeom prst="rect">
            <a:avLst/>
          </a:prstGeom>
        </p:spPr>
      </p:pic>
      <p:sp>
        <p:nvSpPr>
          <p:cNvPr id="559" name="TextBox 558"/>
          <p:cNvSpPr txBox="1"/>
          <p:nvPr/>
        </p:nvSpPr>
        <p:spPr>
          <a:xfrm>
            <a:off x="9491472" y="5029200"/>
            <a:ext cx="3218688" cy="640080"/>
          </a:xfrm>
          <a:prstGeom prst="rect">
            <a:avLst/>
          </a:prstGeom>
          <a:noFill/>
        </p:spPr>
        <p:txBody>
          <a:bodyPr wrap="square" lIns="0" tIns="0" rIns="0" bIns="0" anchor="t">
            <a:spAutoFit/>
          </a:bodyPr>
          <a:lstStyle/>
          <a:p>
            <a:pPr algn="ctr" rtl="1"/>
            <a:r>
              <a:rPr lang="ar-SA" sz="2400" b="1">
                <a:solidFill>
                  <a:srgbClr val="F2F4FF"/>
                </a:solidFill>
                <a:latin typeface="Readex Pro"/>
                <a:ea typeface="Readex Pro"/>
                <a:cs typeface="Readex Pro"/>
                <a:sym typeface="Readex Pro"/>
              </a:rPr>
              <a:t>دين بلا مصدر</a:t>
            </a:r>
          </a:p>
        </p:txBody>
      </p:sp>
      <p:sp>
        <p:nvSpPr>
          <p:cNvPr id="560" name="TextBox 559"/>
          <p:cNvSpPr txBox="1"/>
          <p:nvPr/>
        </p:nvSpPr>
        <p:spPr>
          <a:xfrm>
            <a:off x="9491472" y="5760720"/>
            <a:ext cx="3218688" cy="1097280"/>
          </a:xfrm>
          <a:prstGeom prst="rect">
            <a:avLst/>
          </a:prstGeom>
          <a:noFill/>
        </p:spPr>
        <p:txBody>
          <a:bodyPr wrap="square" lIns="0" tIns="0" rIns="0" bIns="0" anchor="t">
            <a:spAutoFit/>
          </a:bodyPr>
          <a:lstStyle/>
          <a:p>
            <a:pPr algn="ctr" rtl="1"/>
            <a:r>
              <a:rPr lang="ar-SA" sz="2000" b="0">
                <a:solidFill>
                  <a:srgbClr val="CBCFE6"/>
                </a:solidFill>
                <a:latin typeface="Readex Pro"/>
                <a:ea typeface="Readex Pro"/>
                <a:cs typeface="Readex Pro"/>
                <a:sym typeface="Readex Pro"/>
              </a:rPr>
              <a:t>قد يخترع حديثا أو يفتيه</a:t>
            </a:r>
          </a:p>
        </p:txBody>
      </p:sp>
      <p:sp>
        <p:nvSpPr>
          <p:cNvPr id="561" name="Rounded Rectangle 560"/>
          <p:cNvSpPr/>
          <p:nvPr/>
        </p:nvSpPr>
        <p:spPr>
          <a:xfrm>
            <a:off x="5358384" y="3246120"/>
            <a:ext cx="3584448" cy="393192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62" name="Oval 561"/>
          <p:cNvSpPr/>
          <p:nvPr/>
        </p:nvSpPr>
        <p:spPr>
          <a:xfrm>
            <a:off x="6556248" y="3566160"/>
            <a:ext cx="1188720" cy="1188720"/>
          </a:xfrm>
          <a:prstGeom prst="ellipse">
            <a:avLst/>
          </a:prstGeom>
          <a:solidFill>
            <a:srgbClr val="C00000"/>
          </a:solidFill>
          <a:ln w="12700">
            <a:noFill/>
          </a:ln>
        </p:spPr>
        <p:txBody>
          <a:bodyPr rtlCol="0" anchor="ctr"/>
          <a:lstStyle/>
          <a:p>
            <a:endParaRPr/>
          </a:p>
        </p:txBody>
      </p:sp>
      <p:pic>
        <p:nvPicPr>
          <p:cNvPr id="563" name="Picture 562" descr="FaEyeSlash-turq.png"/>
          <p:cNvPicPr>
            <a:picLocks noChangeAspect="1"/>
          </p:cNvPicPr>
          <p:nvPr/>
        </p:nvPicPr>
        <p:blipFill>
          <a:blip r:embed="rId7"/>
          <a:stretch>
            <a:fillRect/>
          </a:stretch>
        </p:blipFill>
        <p:spPr>
          <a:xfrm>
            <a:off x="6877202" y="3887114"/>
            <a:ext cx="546811" cy="546811"/>
          </a:xfrm>
          <a:prstGeom prst="rect">
            <a:avLst/>
          </a:prstGeom>
        </p:spPr>
      </p:pic>
      <p:sp>
        <p:nvSpPr>
          <p:cNvPr id="564" name="TextBox 563"/>
          <p:cNvSpPr txBox="1"/>
          <p:nvPr/>
        </p:nvSpPr>
        <p:spPr>
          <a:xfrm>
            <a:off x="5541264" y="5029200"/>
            <a:ext cx="3218688" cy="640080"/>
          </a:xfrm>
          <a:prstGeom prst="rect">
            <a:avLst/>
          </a:prstGeom>
          <a:noFill/>
        </p:spPr>
        <p:txBody>
          <a:bodyPr wrap="square" lIns="0" tIns="0" rIns="0" bIns="0" anchor="t">
            <a:spAutoFit/>
          </a:bodyPr>
          <a:lstStyle/>
          <a:p>
            <a:pPr algn="ctr" rtl="1"/>
            <a:r>
              <a:rPr lang="ar-SA" sz="2400" b="1">
                <a:solidFill>
                  <a:srgbClr val="F2F4FF"/>
                </a:solidFill>
                <a:latin typeface="Readex Pro"/>
                <a:ea typeface="Readex Pro"/>
                <a:cs typeface="Readex Pro"/>
                <a:sym typeface="Readex Pro"/>
              </a:rPr>
              <a:t>والدان مشغولان</a:t>
            </a:r>
          </a:p>
        </p:txBody>
      </p:sp>
      <p:sp>
        <p:nvSpPr>
          <p:cNvPr id="565" name="TextBox 564"/>
          <p:cNvSpPr txBox="1"/>
          <p:nvPr/>
        </p:nvSpPr>
        <p:spPr>
          <a:xfrm>
            <a:off x="5541264" y="5760720"/>
            <a:ext cx="3218688" cy="1097280"/>
          </a:xfrm>
          <a:prstGeom prst="rect">
            <a:avLst/>
          </a:prstGeom>
          <a:noFill/>
        </p:spPr>
        <p:txBody>
          <a:bodyPr wrap="square" lIns="0" tIns="0" rIns="0" bIns="0" anchor="t">
            <a:spAutoFit/>
          </a:bodyPr>
          <a:lstStyle/>
          <a:p>
            <a:pPr algn="ctr" rtl="1"/>
            <a:r>
              <a:rPr lang="ar-SA" sz="2000" b="0">
                <a:solidFill>
                  <a:srgbClr val="CBCFE6"/>
                </a:solidFill>
                <a:latin typeface="Readex Pro"/>
                <a:ea typeface="Readex Pro"/>
                <a:cs typeface="Readex Pro"/>
                <a:sym typeface="Readex Pro"/>
              </a:rPr>
              <a:t>لا يتابعان كل ما يراه</a:t>
            </a:r>
          </a:p>
        </p:txBody>
      </p:sp>
      <p:sp>
        <p:nvSpPr>
          <p:cNvPr id="566" name="Rounded Rectangle 565"/>
          <p:cNvSpPr/>
          <p:nvPr/>
        </p:nvSpPr>
        <p:spPr>
          <a:xfrm>
            <a:off x="1408176" y="3246120"/>
            <a:ext cx="3584448" cy="393192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67" name="Oval 566"/>
          <p:cNvSpPr/>
          <p:nvPr/>
        </p:nvSpPr>
        <p:spPr>
          <a:xfrm>
            <a:off x="2606040" y="3566160"/>
            <a:ext cx="1188720" cy="1188720"/>
          </a:xfrm>
          <a:prstGeom prst="ellipse">
            <a:avLst/>
          </a:prstGeom>
          <a:solidFill>
            <a:srgbClr val="C00000"/>
          </a:solidFill>
          <a:ln w="12700">
            <a:noFill/>
          </a:ln>
        </p:spPr>
        <p:txBody>
          <a:bodyPr rtlCol="0" anchor="ctr"/>
          <a:lstStyle/>
          <a:p>
            <a:endParaRPr/>
          </a:p>
        </p:txBody>
      </p:sp>
      <p:pic>
        <p:nvPicPr>
          <p:cNvPr id="568" name="Picture 567" descr="FaComments-turq.png"/>
          <p:cNvPicPr>
            <a:picLocks noChangeAspect="1"/>
          </p:cNvPicPr>
          <p:nvPr/>
        </p:nvPicPr>
        <p:blipFill>
          <a:blip r:embed="rId8"/>
          <a:stretch>
            <a:fillRect/>
          </a:stretch>
        </p:blipFill>
        <p:spPr>
          <a:xfrm>
            <a:off x="2926994" y="3887114"/>
            <a:ext cx="546811" cy="546811"/>
          </a:xfrm>
          <a:prstGeom prst="rect">
            <a:avLst/>
          </a:prstGeom>
        </p:spPr>
      </p:pic>
      <p:sp>
        <p:nvSpPr>
          <p:cNvPr id="569" name="TextBox 568"/>
          <p:cNvSpPr txBox="1"/>
          <p:nvPr/>
        </p:nvSpPr>
        <p:spPr>
          <a:xfrm>
            <a:off x="1591056" y="5029200"/>
            <a:ext cx="3218688" cy="640080"/>
          </a:xfrm>
          <a:prstGeom prst="rect">
            <a:avLst/>
          </a:prstGeom>
          <a:noFill/>
        </p:spPr>
        <p:txBody>
          <a:bodyPr wrap="square" lIns="0" tIns="0" rIns="0" bIns="0" anchor="t">
            <a:spAutoFit/>
          </a:bodyPr>
          <a:lstStyle/>
          <a:p>
            <a:pPr algn="ctr" rtl="1"/>
            <a:r>
              <a:rPr lang="ar-SA" sz="2400" b="1">
                <a:solidFill>
                  <a:srgbClr val="F2F4FF"/>
                </a:solidFill>
                <a:latin typeface="Readex Pro"/>
                <a:ea typeface="Readex Pro"/>
                <a:cs typeface="Readex Pro"/>
                <a:sym typeface="Readex Pro"/>
              </a:rPr>
              <a:t>طفل لا يحكي كل شيء</a:t>
            </a:r>
          </a:p>
        </p:txBody>
      </p:sp>
      <p:sp>
        <p:nvSpPr>
          <p:cNvPr id="570" name="TextBox 569"/>
          <p:cNvSpPr txBox="1"/>
          <p:nvPr/>
        </p:nvSpPr>
        <p:spPr>
          <a:xfrm>
            <a:off x="1591056" y="5760720"/>
            <a:ext cx="3218688" cy="1097280"/>
          </a:xfrm>
          <a:prstGeom prst="rect">
            <a:avLst/>
          </a:prstGeom>
          <a:noFill/>
        </p:spPr>
        <p:txBody>
          <a:bodyPr wrap="square" lIns="0" tIns="0" rIns="0" bIns="0" anchor="t">
            <a:spAutoFit/>
          </a:bodyPr>
          <a:lstStyle/>
          <a:p>
            <a:pPr algn="ctr" rtl="1"/>
            <a:r>
              <a:rPr lang="ar-SA" sz="2000" b="0">
                <a:solidFill>
                  <a:srgbClr val="CBCFE6"/>
                </a:solidFill>
                <a:latin typeface="Readex Pro"/>
                <a:ea typeface="Readex Pro"/>
                <a:cs typeface="Readex Pro"/>
                <a:sym typeface="Readex Pro"/>
              </a:rPr>
              <a:t>لا يخبر والديه بكل ما يمر به</a:t>
            </a:r>
          </a:p>
        </p:txBody>
      </p:sp>
      <p:sp>
        <p:nvSpPr>
          <p:cNvPr id="571" name="Rounded Rectangle 570"/>
          <p:cNvSpPr/>
          <p:nvPr/>
        </p:nvSpPr>
        <p:spPr>
          <a:xfrm>
            <a:off x="1408176" y="7543800"/>
            <a:ext cx="15435072" cy="1143000"/>
          </a:xfrm>
          <a:prstGeom prst="roundRect">
            <a:avLst>
              <a:gd name="adj" fmla="val 20000"/>
            </a:avLst>
          </a:prstGeom>
          <a:solidFill>
            <a:srgbClr val="2EF2C2">
              <a:alpha val="12000"/>
            </a:srgbClr>
          </a:solidFill>
          <a:ln w="12700">
            <a:solidFill>
              <a:srgbClr val="2EF2C2"/>
            </a:solidFill>
          </a:ln>
        </p:spPr>
        <p:txBody>
          <a:bodyPr rtlCol="0" anchor="ctr"/>
          <a:lstStyle/>
          <a:p>
            <a:endParaRPr/>
          </a:p>
        </p:txBody>
      </p:sp>
      <p:sp>
        <p:nvSpPr>
          <p:cNvPr id="572" name="TextBox 571"/>
          <p:cNvSpPr txBox="1"/>
          <p:nvPr/>
        </p:nvSpPr>
        <p:spPr>
          <a:xfrm>
            <a:off x="1773936" y="7543800"/>
            <a:ext cx="14703552" cy="1143000"/>
          </a:xfrm>
          <a:prstGeom prst="rect">
            <a:avLst/>
          </a:prstGeom>
          <a:noFill/>
        </p:spPr>
        <p:txBody>
          <a:bodyPr wrap="square" lIns="0" tIns="0" rIns="0" bIns="0" anchor="ctr">
            <a:spAutoFit/>
          </a:bodyPr>
          <a:lstStyle/>
          <a:p>
            <a:pPr algn="ctr" rtl="1"/>
            <a:r>
              <a:rPr lang="ar-SA" sz="2400" b="1">
                <a:solidFill>
                  <a:srgbClr val="F2F4FF"/>
                </a:solidFill>
                <a:latin typeface="Readex Pro"/>
                <a:ea typeface="Readex Pro"/>
                <a:cs typeface="Readex Pro"/>
                <a:sym typeface="Readex Pro"/>
              </a:rPr>
              <a:t>هدفنا: رفيق لكل أسئلته، بروح إسلامية، يعلّم في وقته ويجيب عن دينه بمصدر</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02 · الحل · معيار الابتكار</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الحل: الصديق الصدوق</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4</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pic>
        <p:nvPicPr>
          <p:cNvPr id="551" name="Picture 550" descr="after_home-ar.webp-1.750-56.jpg"/>
          <p:cNvPicPr>
            <a:picLocks noChangeAspect="1"/>
          </p:cNvPicPr>
          <p:nvPr/>
        </p:nvPicPr>
        <p:blipFill>
          <a:blip r:embed="rId5"/>
          <a:stretch>
            <a:fillRect/>
          </a:stretch>
        </p:blipFill>
        <p:spPr>
          <a:xfrm>
            <a:off x="1408176" y="3246120"/>
            <a:ext cx="9692640" cy="5538651"/>
          </a:xfrm>
          <a:prstGeom prst="roundRect">
            <a:avLst>
              <a:gd name="adj" fmla="val 3000"/>
            </a:avLst>
          </a:prstGeom>
        </p:spPr>
      </p:pic>
      <p:sp>
        <p:nvSpPr>
          <p:cNvPr id="552" name="TextBox 551"/>
          <p:cNvSpPr txBox="1"/>
          <p:nvPr/>
        </p:nvSpPr>
        <p:spPr>
          <a:xfrm>
            <a:off x="11558016" y="3840480"/>
            <a:ext cx="5285232" cy="3447098"/>
          </a:xfrm>
          <a:prstGeom prst="rect">
            <a:avLst/>
          </a:prstGeom>
          <a:noFill/>
        </p:spPr>
        <p:txBody>
          <a:bodyPr wrap="square" lIns="0" tIns="0" rIns="0" bIns="0" anchor="t">
            <a:spAutoFit/>
          </a:bodyPr>
          <a:lstStyle/>
          <a:p>
            <a:pPr algn="r" rtl="1"/>
            <a:r>
              <a:rPr lang="ar-SA" sz="2600" b="0" dirty="0">
                <a:solidFill>
                  <a:srgbClr val="F2F4FF"/>
                </a:solidFill>
                <a:latin typeface="Readex Pro"/>
                <a:ea typeface="Readex Pro"/>
                <a:cs typeface="Readex Pro"/>
                <a:sym typeface="Readex Pro"/>
              </a:rPr>
              <a:t>رفيق صوتي لكل أسئلة الطفل من 6 إلى 13 سنة، بروح إسلامية: </a:t>
            </a:r>
            <a:endParaRPr lang="en-US"/>
          </a:p>
          <a:p>
            <a:pPr algn="r" rtl="1"/>
            <a:endParaRPr lang="ar-SA" sz="2600" dirty="0">
              <a:solidFill>
                <a:srgbClr val="F2F4FF"/>
              </a:solidFill>
              <a:latin typeface="Readex Pro"/>
              <a:ea typeface="Readex Pro"/>
              <a:cs typeface="Readex Pro"/>
            </a:endParaRPr>
          </a:p>
          <a:p>
            <a:pPr marL="457200" indent="-457200" algn="r" rtl="1">
              <a:buFont typeface="Wingdings"/>
              <a:buChar char="q"/>
            </a:pPr>
            <a:r>
              <a:rPr lang="ar-SA" sz="2600" b="0" dirty="0">
                <a:solidFill>
                  <a:srgbClr val="F2F4FF"/>
                </a:solidFill>
                <a:latin typeface="Readex Pro"/>
                <a:ea typeface="Readex Pro"/>
                <a:cs typeface="Readex Pro"/>
                <a:sym typeface="Readex Pro"/>
              </a:rPr>
              <a:t>يحاوره بمرح</a:t>
            </a:r>
            <a:br>
              <a:rPr lang="ar-SA" sz="2600" dirty="0">
                <a:solidFill>
                  <a:srgbClr val="F2F4FF"/>
                </a:solidFill>
                <a:latin typeface="Readex Pro"/>
                <a:ea typeface="Readex Pro"/>
                <a:cs typeface="Readex Pro"/>
                <a:sym typeface="Readex Pro"/>
              </a:rPr>
            </a:br>
            <a:endParaRPr lang="ar-SA" dirty="0">
              <a:ea typeface="Readex Pro"/>
            </a:endParaRPr>
          </a:p>
          <a:p>
            <a:pPr marL="457200" indent="-457200" algn="r" rtl="1">
              <a:buFont typeface="Wingdings"/>
              <a:buChar char="q"/>
            </a:pPr>
            <a:r>
              <a:rPr lang="ar-SA" sz="2600" dirty="0">
                <a:solidFill>
                  <a:srgbClr val="F2F4FF"/>
                </a:solidFill>
                <a:latin typeface="Readex Pro"/>
                <a:ea typeface="Readex Pro"/>
                <a:cs typeface="Readex Pro"/>
                <a:sym typeface="Readex Pro"/>
              </a:rPr>
              <a:t> </a:t>
            </a:r>
            <a:r>
              <a:rPr lang="ar-SA" sz="2600" b="0" dirty="0">
                <a:solidFill>
                  <a:srgbClr val="F2F4FF"/>
                </a:solidFill>
                <a:latin typeface="Readex Pro"/>
                <a:ea typeface="Readex Pro"/>
                <a:cs typeface="Readex Pro"/>
                <a:sym typeface="Readex Pro"/>
              </a:rPr>
              <a:t>ويعلّمه القيم بالمهام والأوسمة</a:t>
            </a:r>
            <a:br>
              <a:rPr lang="ar-SA" sz="2600" dirty="0">
                <a:solidFill>
                  <a:srgbClr val="F2F4FF"/>
                </a:solidFill>
                <a:latin typeface="Readex Pro"/>
                <a:ea typeface="Readex Pro"/>
                <a:cs typeface="Readex Pro"/>
                <a:sym typeface="Readex Pro"/>
              </a:rPr>
            </a:br>
            <a:endParaRPr lang="ar-SA" dirty="0">
              <a:ea typeface="Readex Pro"/>
              <a:sym typeface="Readex Pro"/>
            </a:endParaRPr>
          </a:p>
          <a:p>
            <a:pPr marL="457200" indent="-457200" algn="r" rtl="1">
              <a:buFont typeface="Wingdings"/>
              <a:buChar char="q"/>
            </a:pPr>
            <a:r>
              <a:rPr lang="ar-SA" sz="2600" dirty="0">
                <a:solidFill>
                  <a:srgbClr val="F2F4FF"/>
                </a:solidFill>
                <a:latin typeface="Readex Pro"/>
                <a:ea typeface="Readex Pro"/>
                <a:cs typeface="Readex Pro"/>
                <a:sym typeface="Readex Pro"/>
              </a:rPr>
              <a:t> </a:t>
            </a:r>
            <a:r>
              <a:rPr lang="ar-SA" sz="2600" b="0" dirty="0">
                <a:solidFill>
                  <a:srgbClr val="F2F4FF"/>
                </a:solidFill>
                <a:latin typeface="Readex Pro"/>
                <a:ea typeface="Readex Pro"/>
                <a:cs typeface="Readex Pro"/>
                <a:sym typeface="Readex Pro"/>
              </a:rPr>
              <a:t>ويجيب عن دينه من مصدر</a:t>
            </a:r>
            <a:br>
              <a:rPr lang="ar-SA" sz="2600" dirty="0">
                <a:solidFill>
                  <a:srgbClr val="F2F4FF"/>
                </a:solidFill>
                <a:latin typeface="Readex Pro"/>
                <a:ea typeface="Readex Pro"/>
                <a:cs typeface="Readex Pro"/>
              </a:rPr>
            </a:br>
            <a:endParaRPr lang="ar-SA" dirty="0">
              <a:ea typeface="Readex Pro"/>
            </a:endParaRPr>
          </a:p>
          <a:p>
            <a:pPr marL="457200" indent="-457200" algn="r" rtl="1">
              <a:buFont typeface="Wingdings"/>
              <a:buChar char="q"/>
            </a:pPr>
            <a:r>
              <a:rPr lang="ar-SA" sz="2600" dirty="0">
                <a:solidFill>
                  <a:srgbClr val="F2F4FF"/>
                </a:solidFill>
                <a:latin typeface="Readex Pro"/>
                <a:ea typeface="Readex Pro"/>
                <a:cs typeface="Readex Pro"/>
                <a:sym typeface="Readex Pro"/>
              </a:rPr>
              <a:t> </a:t>
            </a:r>
            <a:r>
              <a:rPr lang="ar-SA" sz="2600" b="0" dirty="0">
                <a:solidFill>
                  <a:srgbClr val="F2F4FF"/>
                </a:solidFill>
                <a:latin typeface="Readex Pro"/>
                <a:ea typeface="Readex Pro"/>
                <a:cs typeface="Readex Pro"/>
                <a:sym typeface="Readex Pro"/>
              </a:rPr>
              <a:t>ويُشرك والديه</a:t>
            </a:r>
            <a:endParaRPr lang="ar-SA" dirty="0"/>
          </a:p>
        </p:txBody>
      </p:sp>
      <p:sp>
        <p:nvSpPr>
          <p:cNvPr id="553" name="TextBox 552"/>
          <p:cNvSpPr txBox="1"/>
          <p:nvPr/>
        </p:nvSpPr>
        <p:spPr>
          <a:xfrm>
            <a:off x="11558016" y="8503920"/>
            <a:ext cx="5285232" cy="822960"/>
          </a:xfrm>
          <a:prstGeom prst="rect">
            <a:avLst/>
          </a:prstGeom>
          <a:noFill/>
        </p:spPr>
        <p:txBody>
          <a:bodyPr wrap="square" lIns="0" tIns="0" rIns="0" bIns="0" anchor="t">
            <a:spAutoFit/>
          </a:bodyPr>
          <a:lstStyle/>
          <a:p>
            <a:pPr algn="r" rtl="1"/>
            <a:r>
              <a:rPr lang="ar-SA" sz="2000" b="1">
                <a:solidFill>
                  <a:srgbClr val="2EF2C2"/>
                </a:solidFill>
                <a:latin typeface="Readex Pro"/>
                <a:ea typeface="Readex Pro"/>
                <a:cs typeface="Readex Pro"/>
                <a:sym typeface="Readex Pro"/>
              </a:rPr>
              <a:t>«الصديق الصدوق»</a:t>
            </a:r>
            <a:r>
              <a:rPr lang="ar-SA" sz="2000" b="0">
                <a:solidFill>
                  <a:srgbClr val="CBCFE6"/>
                </a:solidFill>
                <a:latin typeface="Readex Pro"/>
                <a:ea typeface="Readex Pro"/>
                <a:cs typeface="Readex Pro"/>
                <a:sym typeface="Readex Pro"/>
              </a:rPr>
              <a:t> = الصديق الذي يصدقك</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dirty="0">
                <a:solidFill>
                  <a:srgbClr val="2EF2C2"/>
                </a:solidFill>
                <a:latin typeface="Readex Pro"/>
                <a:ea typeface="Readex Pro"/>
                <a:cs typeface="Readex Pro"/>
                <a:sym typeface="Readex Pro"/>
              </a:rPr>
              <a:t>02 · الحل · معيار الابتكار</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a:buSzPts val="4500"/>
            </a:pPr>
            <a:r>
              <a:rPr lang="ar-SA" sz="4500" b="1" dirty="0">
                <a:solidFill>
                  <a:srgbClr val="F2F4FF"/>
                </a:solidFill>
                <a:latin typeface="Readex Pro"/>
                <a:ea typeface="Readex Pro"/>
                <a:cs typeface="Readex Pro"/>
                <a:sym typeface="Readex Pro"/>
              </a:rPr>
              <a:t>ما </a:t>
            </a:r>
            <a:r>
              <a:rPr lang="ar-SA" sz="4500" b="1" dirty="0">
                <a:solidFill>
                  <a:srgbClr val="F2F4FF"/>
                </a:solidFill>
              </a:rPr>
              <a:t>المميز ؟</a:t>
            </a:r>
            <a:endParaRPr lang="ar-SA" sz="4500" b="1" dirty="0">
              <a:solidFill>
                <a:srgbClr val="F2F4FF"/>
              </a:solidFill>
              <a:latin typeface="Readex Pro"/>
              <a:ea typeface="Readex Pro"/>
              <a:cs typeface="Readex Pro"/>
              <a:sym typeface="Readex Pro"/>
            </a:endParaRPr>
          </a:p>
        </p:txBody>
      </p:sp>
      <p:sp>
        <p:nvSpPr>
          <p:cNvPr id="539" name="Google Shape;539;p1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dirty="0">
                <a:solidFill>
                  <a:srgbClr val="CBCFE6"/>
                </a:solidFill>
                <a:latin typeface="Readex Pro"/>
                <a:ea typeface="Readex Pro"/>
                <a:cs typeface="Readex Pro"/>
                <a:sym typeface="Readex Pro"/>
              </a:rPr>
              <a:t>مقارنة بمساعد ذكاء اصطناعي عام</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5</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dirty="0">
                <a:solidFill>
                  <a:srgbClr val="8E99CC"/>
                </a:solidFill>
                <a:latin typeface="Readex Pro"/>
                <a:ea typeface="Readex Pro"/>
                <a:cs typeface="Readex Pro"/>
                <a:sym typeface="Readex Pro"/>
              </a:rPr>
              <a:t>تحدي الذكاء الاصطناعي في خدمة المحتوى الإسلامي</a:t>
            </a:r>
            <a:endParaRPr dirty="0"/>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pic>
        <p:nvPicPr>
          <p:cNvPr id="551" name="Picture 550" descr="5-child-badges.jpg"/>
          <p:cNvPicPr>
            <a:picLocks noChangeAspect="1"/>
          </p:cNvPicPr>
          <p:nvPr/>
        </p:nvPicPr>
        <p:blipFill>
          <a:blip r:embed="rId5"/>
          <a:stretch>
            <a:fillRect/>
          </a:stretch>
        </p:blipFill>
        <p:spPr>
          <a:xfrm>
            <a:off x="1408176" y="3886200"/>
            <a:ext cx="5852160" cy="3928262"/>
          </a:xfrm>
          <a:prstGeom prst="roundRect">
            <a:avLst>
              <a:gd name="adj" fmla="val 3000"/>
            </a:avLst>
          </a:prstGeom>
        </p:spPr>
      </p:pic>
      <p:sp>
        <p:nvSpPr>
          <p:cNvPr id="552" name="TextBox 551"/>
          <p:cNvSpPr txBox="1"/>
          <p:nvPr/>
        </p:nvSpPr>
        <p:spPr>
          <a:xfrm>
            <a:off x="1408176" y="7951622"/>
            <a:ext cx="5852160" cy="457200"/>
          </a:xfrm>
          <a:prstGeom prst="rect">
            <a:avLst/>
          </a:prstGeom>
          <a:noFill/>
        </p:spPr>
        <p:txBody>
          <a:bodyPr wrap="square" lIns="0" tIns="0" rIns="0" bIns="0" anchor="t">
            <a:spAutoFit/>
          </a:bodyPr>
          <a:lstStyle/>
          <a:p>
            <a:pPr algn="r" rtl="1"/>
            <a:r>
              <a:rPr lang="ar-SA" sz="1800" b="0" dirty="0">
                <a:solidFill>
                  <a:srgbClr val="8E99CC"/>
                </a:solidFill>
                <a:latin typeface="Readex Pro"/>
                <a:ea typeface="Readex Pro"/>
                <a:cs typeface="Readex Pro"/>
                <a:sym typeface="Readex Pro"/>
              </a:rPr>
              <a:t>صفحة الأوسمة لطفل في حساب تجريبي</a:t>
            </a:r>
          </a:p>
        </p:txBody>
      </p:sp>
      <p:sp>
        <p:nvSpPr>
          <p:cNvPr id="553" name="Rounded Rectangle 552"/>
          <p:cNvSpPr/>
          <p:nvPr/>
        </p:nvSpPr>
        <p:spPr>
          <a:xfrm>
            <a:off x="12417552" y="3703320"/>
            <a:ext cx="4425696" cy="15087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54" name="Oval 553"/>
          <p:cNvSpPr/>
          <p:nvPr/>
        </p:nvSpPr>
        <p:spPr>
          <a:xfrm>
            <a:off x="15883128" y="4050792"/>
            <a:ext cx="777240" cy="777240"/>
          </a:xfrm>
          <a:prstGeom prst="ellipse">
            <a:avLst/>
          </a:prstGeom>
          <a:solidFill>
            <a:srgbClr val="2EF2C2">
              <a:alpha val="14000"/>
            </a:srgbClr>
          </a:solidFill>
          <a:ln w="12700">
            <a:noFill/>
          </a:ln>
        </p:spPr>
        <p:txBody>
          <a:bodyPr rtlCol="0" anchor="ctr"/>
          <a:lstStyle/>
          <a:p>
            <a:endParaRPr/>
          </a:p>
        </p:txBody>
      </p:sp>
      <p:pic>
        <p:nvPicPr>
          <p:cNvPr id="555" name="Picture 554" descr="FaComments-turq.png"/>
          <p:cNvPicPr>
            <a:picLocks noChangeAspect="1"/>
          </p:cNvPicPr>
          <p:nvPr/>
        </p:nvPicPr>
        <p:blipFill>
          <a:blip r:embed="rId6"/>
          <a:stretch>
            <a:fillRect/>
          </a:stretch>
        </p:blipFill>
        <p:spPr>
          <a:xfrm>
            <a:off x="16092983" y="4260647"/>
            <a:ext cx="357530" cy="357530"/>
          </a:xfrm>
          <a:prstGeom prst="rect">
            <a:avLst/>
          </a:prstGeom>
        </p:spPr>
      </p:pic>
      <p:sp>
        <p:nvSpPr>
          <p:cNvPr id="556" name="TextBox 555"/>
          <p:cNvSpPr txBox="1"/>
          <p:nvPr/>
        </p:nvSpPr>
        <p:spPr>
          <a:xfrm>
            <a:off x="12646152" y="3904488"/>
            <a:ext cx="3099816" cy="548640"/>
          </a:xfrm>
          <a:prstGeom prst="rect">
            <a:avLst/>
          </a:prstGeom>
          <a:noFill/>
        </p:spPr>
        <p:txBody>
          <a:bodyPr wrap="square" lIns="0" tIns="0" rIns="0" bIns="0" anchor="t">
            <a:spAutoFit/>
          </a:bodyPr>
          <a:lstStyle/>
          <a:p>
            <a:pPr algn="r" rtl="1"/>
            <a:r>
              <a:rPr lang="ar-SA" sz="2200" b="1" dirty="0">
                <a:solidFill>
                  <a:srgbClr val="F2F4FF"/>
                </a:solidFill>
                <a:latin typeface="Readex Pro"/>
                <a:ea typeface="Readex Pro"/>
                <a:cs typeface="Readex Pro"/>
                <a:sym typeface="Readex Pro"/>
              </a:rPr>
              <a:t>صديق لا واعظ</a:t>
            </a:r>
          </a:p>
        </p:txBody>
      </p:sp>
      <p:sp>
        <p:nvSpPr>
          <p:cNvPr id="557" name="TextBox 556"/>
          <p:cNvSpPr txBox="1"/>
          <p:nvPr/>
        </p:nvSpPr>
        <p:spPr>
          <a:xfrm>
            <a:off x="12646152" y="4489704"/>
            <a:ext cx="3099816" cy="548640"/>
          </a:xfrm>
          <a:prstGeom prst="rect">
            <a:avLst/>
          </a:prstGeom>
          <a:noFill/>
        </p:spPr>
        <p:txBody>
          <a:bodyPr wrap="square" lIns="0" tIns="0" rIns="0" bIns="0" anchor="t">
            <a:spAutoFit/>
          </a:bodyPr>
          <a:lstStyle/>
          <a:p>
            <a:pPr algn="r" rtl="1"/>
            <a:r>
              <a:rPr lang="ar-SA" sz="1800" b="0" dirty="0">
                <a:solidFill>
                  <a:srgbClr val="CBCFE6"/>
                </a:solidFill>
                <a:latin typeface="Readex Pro"/>
                <a:ea typeface="Readex Pro"/>
                <a:cs typeface="Readex Pro"/>
                <a:sym typeface="Readex Pro"/>
              </a:rPr>
              <a:t>يحاور بمرح ولا يقحم درسا</a:t>
            </a:r>
          </a:p>
        </p:txBody>
      </p:sp>
      <p:sp>
        <p:nvSpPr>
          <p:cNvPr id="558" name="Rounded Rectangle 557"/>
          <p:cNvSpPr/>
          <p:nvPr/>
        </p:nvSpPr>
        <p:spPr>
          <a:xfrm>
            <a:off x="7717536" y="3703320"/>
            <a:ext cx="4425696" cy="1508760"/>
          </a:xfrm>
          <a:prstGeom prst="roundRect">
            <a:avLst>
              <a:gd name="adj" fmla="val 8000"/>
            </a:avLst>
          </a:prstGeom>
          <a:solidFill>
            <a:srgbClr val="161D48"/>
          </a:solidFill>
          <a:ln w="12700">
            <a:solidFill>
              <a:srgbClr val="2EF2C2"/>
            </a:solidFill>
          </a:ln>
        </p:spPr>
        <p:txBody>
          <a:bodyPr rtlCol="0" anchor="ctr"/>
          <a:lstStyle/>
          <a:p>
            <a:endParaRPr/>
          </a:p>
        </p:txBody>
      </p:sp>
      <p:sp>
        <p:nvSpPr>
          <p:cNvPr id="559" name="Oval 558"/>
          <p:cNvSpPr/>
          <p:nvPr/>
        </p:nvSpPr>
        <p:spPr>
          <a:xfrm>
            <a:off x="11183112" y="4050792"/>
            <a:ext cx="777240" cy="777240"/>
          </a:xfrm>
          <a:prstGeom prst="ellipse">
            <a:avLst/>
          </a:prstGeom>
          <a:solidFill>
            <a:srgbClr val="2EF2C2">
              <a:alpha val="14000"/>
            </a:srgbClr>
          </a:solidFill>
          <a:ln w="12700">
            <a:noFill/>
          </a:ln>
        </p:spPr>
        <p:txBody>
          <a:bodyPr rtlCol="0" anchor="ctr"/>
          <a:lstStyle/>
          <a:p>
            <a:endParaRPr/>
          </a:p>
        </p:txBody>
      </p:sp>
      <p:pic>
        <p:nvPicPr>
          <p:cNvPr id="560" name="Picture 559" descr="FaStar-turq.png"/>
          <p:cNvPicPr>
            <a:picLocks noChangeAspect="1"/>
          </p:cNvPicPr>
          <p:nvPr/>
        </p:nvPicPr>
        <p:blipFill>
          <a:blip r:embed="rId7"/>
          <a:stretch>
            <a:fillRect/>
          </a:stretch>
        </p:blipFill>
        <p:spPr>
          <a:xfrm>
            <a:off x="11392967" y="4260647"/>
            <a:ext cx="357530" cy="357530"/>
          </a:xfrm>
          <a:prstGeom prst="rect">
            <a:avLst/>
          </a:prstGeom>
        </p:spPr>
      </p:pic>
      <p:sp>
        <p:nvSpPr>
          <p:cNvPr id="561" name="TextBox 560"/>
          <p:cNvSpPr txBox="1"/>
          <p:nvPr/>
        </p:nvSpPr>
        <p:spPr>
          <a:xfrm>
            <a:off x="7946136" y="3904488"/>
            <a:ext cx="3099816" cy="548640"/>
          </a:xfrm>
          <a:prstGeom prst="rect">
            <a:avLst/>
          </a:prstGeom>
          <a:noFill/>
        </p:spPr>
        <p:txBody>
          <a:bodyPr wrap="square" lIns="0" tIns="0" rIns="0" bIns="0" anchor="t">
            <a:spAutoFit/>
          </a:bodyPr>
          <a:lstStyle/>
          <a:p>
            <a:pPr algn="r" rtl="1"/>
            <a:r>
              <a:rPr lang="ar-SA" sz="2200" b="1" dirty="0">
                <a:solidFill>
                  <a:srgbClr val="F2F4FF"/>
                </a:solidFill>
                <a:latin typeface="Readex Pro"/>
                <a:ea typeface="Readex Pro"/>
                <a:cs typeface="Readex Pro"/>
                <a:sym typeface="Readex Pro"/>
              </a:rPr>
              <a:t>تعلّم باللعب</a:t>
            </a:r>
          </a:p>
        </p:txBody>
      </p:sp>
      <p:sp>
        <p:nvSpPr>
          <p:cNvPr id="562" name="TextBox 561"/>
          <p:cNvSpPr txBox="1"/>
          <p:nvPr/>
        </p:nvSpPr>
        <p:spPr>
          <a:xfrm>
            <a:off x="7946136" y="4489704"/>
            <a:ext cx="3099816" cy="548640"/>
          </a:xfrm>
          <a:prstGeom prst="rect">
            <a:avLst/>
          </a:prstGeom>
          <a:noFill/>
        </p:spPr>
        <p:txBody>
          <a:bodyPr wrap="square" lIns="0" tIns="0" rIns="0" bIns="0" anchor="t">
            <a:spAutoFit/>
          </a:bodyPr>
          <a:lstStyle/>
          <a:p>
            <a:pPr algn="r" rtl="1"/>
            <a:r>
              <a:rPr lang="ar-SA" sz="1800" b="0" dirty="0">
                <a:solidFill>
                  <a:srgbClr val="CBCFE6"/>
                </a:solidFill>
                <a:latin typeface="Readex Pro"/>
                <a:ea typeface="Readex Pro"/>
                <a:cs typeface="Readex Pro"/>
                <a:sym typeface="Readex Pro"/>
              </a:rPr>
              <a:t>مهام وأوسمة ونقاط ومستويات</a:t>
            </a:r>
          </a:p>
        </p:txBody>
      </p:sp>
      <p:sp>
        <p:nvSpPr>
          <p:cNvPr id="563" name="Rounded Rectangle 562"/>
          <p:cNvSpPr/>
          <p:nvPr/>
        </p:nvSpPr>
        <p:spPr>
          <a:xfrm>
            <a:off x="12417552" y="5394960"/>
            <a:ext cx="4425696" cy="15087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64" name="Oval 563"/>
          <p:cNvSpPr/>
          <p:nvPr/>
        </p:nvSpPr>
        <p:spPr>
          <a:xfrm>
            <a:off x="15883128" y="5742432"/>
            <a:ext cx="777240" cy="777240"/>
          </a:xfrm>
          <a:prstGeom prst="ellipse">
            <a:avLst/>
          </a:prstGeom>
          <a:solidFill>
            <a:srgbClr val="2EF2C2">
              <a:alpha val="14000"/>
            </a:srgbClr>
          </a:solidFill>
          <a:ln w="12700">
            <a:noFill/>
          </a:ln>
        </p:spPr>
        <p:txBody>
          <a:bodyPr rtlCol="0" anchor="ctr"/>
          <a:lstStyle/>
          <a:p>
            <a:endParaRPr/>
          </a:p>
        </p:txBody>
      </p:sp>
      <p:pic>
        <p:nvPicPr>
          <p:cNvPr id="565" name="Picture 564" descr="FaChild-turq.png"/>
          <p:cNvPicPr>
            <a:picLocks noChangeAspect="1"/>
          </p:cNvPicPr>
          <p:nvPr/>
        </p:nvPicPr>
        <p:blipFill>
          <a:blip r:embed="rId8"/>
          <a:stretch>
            <a:fillRect/>
          </a:stretch>
        </p:blipFill>
        <p:spPr>
          <a:xfrm>
            <a:off x="16092983" y="5952287"/>
            <a:ext cx="357530" cy="357530"/>
          </a:xfrm>
          <a:prstGeom prst="rect">
            <a:avLst/>
          </a:prstGeom>
        </p:spPr>
      </p:pic>
      <p:sp>
        <p:nvSpPr>
          <p:cNvPr id="566" name="TextBox 565"/>
          <p:cNvSpPr txBox="1"/>
          <p:nvPr/>
        </p:nvSpPr>
        <p:spPr>
          <a:xfrm>
            <a:off x="12646152" y="5596128"/>
            <a:ext cx="3099816" cy="548640"/>
          </a:xfrm>
          <a:prstGeom prst="rect">
            <a:avLst/>
          </a:prstGeom>
          <a:noFill/>
        </p:spPr>
        <p:txBody>
          <a:bodyPr wrap="square" lIns="0" tIns="0" rIns="0" bIns="0" anchor="t">
            <a:spAutoFit/>
          </a:bodyPr>
          <a:lstStyle/>
          <a:p>
            <a:pPr algn="r" rtl="1"/>
            <a:r>
              <a:rPr lang="ar-SA" sz="2200" b="1" dirty="0">
                <a:solidFill>
                  <a:srgbClr val="F2F4FF"/>
                </a:solidFill>
                <a:latin typeface="Readex Pro"/>
                <a:ea typeface="Readex Pro"/>
                <a:cs typeface="Readex Pro"/>
                <a:sym typeface="Readex Pro"/>
              </a:rPr>
              <a:t>شخصية حية</a:t>
            </a:r>
          </a:p>
        </p:txBody>
      </p:sp>
      <p:sp>
        <p:nvSpPr>
          <p:cNvPr id="567" name="TextBox 566"/>
          <p:cNvSpPr txBox="1"/>
          <p:nvPr/>
        </p:nvSpPr>
        <p:spPr>
          <a:xfrm>
            <a:off x="12646152" y="6181344"/>
            <a:ext cx="3099816" cy="548640"/>
          </a:xfrm>
          <a:prstGeom prst="rect">
            <a:avLst/>
          </a:prstGeom>
          <a:noFill/>
        </p:spPr>
        <p:txBody>
          <a:bodyPr wrap="square" lIns="0" tIns="0" rIns="0" bIns="0" anchor="t">
            <a:spAutoFit/>
          </a:bodyPr>
          <a:lstStyle/>
          <a:p>
            <a:pPr algn="r" rtl="1"/>
            <a:r>
              <a:rPr lang="ar-SA" sz="1800" b="0" dirty="0">
                <a:solidFill>
                  <a:srgbClr val="CBCFE6"/>
                </a:solidFill>
                <a:latin typeface="Readex Pro"/>
                <a:ea typeface="Readex Pro"/>
                <a:cs typeface="Readex Pro"/>
                <a:sym typeface="Readex Pro"/>
              </a:rPr>
              <a:t>30 حركة وإيماءات مع الكلام</a:t>
            </a:r>
          </a:p>
        </p:txBody>
      </p:sp>
      <p:sp>
        <p:nvSpPr>
          <p:cNvPr id="568" name="Rounded Rectangle 567"/>
          <p:cNvSpPr/>
          <p:nvPr/>
        </p:nvSpPr>
        <p:spPr>
          <a:xfrm>
            <a:off x="7717536" y="5394960"/>
            <a:ext cx="4425696" cy="15087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69" name="Oval 568"/>
          <p:cNvSpPr/>
          <p:nvPr/>
        </p:nvSpPr>
        <p:spPr>
          <a:xfrm>
            <a:off x="11183112" y="5742432"/>
            <a:ext cx="777240" cy="777240"/>
          </a:xfrm>
          <a:prstGeom prst="ellipse">
            <a:avLst/>
          </a:prstGeom>
          <a:solidFill>
            <a:srgbClr val="2EF2C2">
              <a:alpha val="14000"/>
            </a:srgbClr>
          </a:solidFill>
          <a:ln w="12700">
            <a:noFill/>
          </a:ln>
        </p:spPr>
        <p:txBody>
          <a:bodyPr rtlCol="0" anchor="ctr"/>
          <a:lstStyle/>
          <a:p>
            <a:endParaRPr/>
          </a:p>
        </p:txBody>
      </p:sp>
      <p:pic>
        <p:nvPicPr>
          <p:cNvPr id="570" name="Picture 569" descr="FaIdCard-turq.png"/>
          <p:cNvPicPr>
            <a:picLocks noChangeAspect="1"/>
          </p:cNvPicPr>
          <p:nvPr/>
        </p:nvPicPr>
        <p:blipFill>
          <a:blip r:embed="rId9"/>
          <a:stretch>
            <a:fillRect/>
          </a:stretch>
        </p:blipFill>
        <p:spPr>
          <a:xfrm>
            <a:off x="11392967" y="5952287"/>
            <a:ext cx="357530" cy="357530"/>
          </a:xfrm>
          <a:prstGeom prst="rect">
            <a:avLst/>
          </a:prstGeom>
        </p:spPr>
      </p:pic>
      <p:sp>
        <p:nvSpPr>
          <p:cNvPr id="571" name="TextBox 570"/>
          <p:cNvSpPr txBox="1"/>
          <p:nvPr/>
        </p:nvSpPr>
        <p:spPr>
          <a:xfrm>
            <a:off x="7946136" y="5596128"/>
            <a:ext cx="3099816" cy="548640"/>
          </a:xfrm>
          <a:prstGeom prst="rect">
            <a:avLst/>
          </a:prstGeom>
          <a:noFill/>
        </p:spPr>
        <p:txBody>
          <a:bodyPr wrap="square" lIns="0" tIns="0" rIns="0" bIns="0" anchor="t">
            <a:spAutoFit/>
          </a:bodyPr>
          <a:lstStyle/>
          <a:p>
            <a:pPr algn="r" rtl="1"/>
            <a:r>
              <a:rPr lang="ar-SA" sz="2200" b="1" dirty="0">
                <a:solidFill>
                  <a:srgbClr val="F2F4FF"/>
                </a:solidFill>
                <a:latin typeface="Readex Pro"/>
                <a:ea typeface="Readex Pro"/>
                <a:cs typeface="Readex Pro"/>
                <a:sym typeface="Readex Pro"/>
              </a:rPr>
              <a:t>مصدر حين يسأل</a:t>
            </a:r>
          </a:p>
        </p:txBody>
      </p:sp>
      <p:sp>
        <p:nvSpPr>
          <p:cNvPr id="572" name="TextBox 571"/>
          <p:cNvSpPr txBox="1"/>
          <p:nvPr/>
        </p:nvSpPr>
        <p:spPr>
          <a:xfrm>
            <a:off x="7946136" y="6181344"/>
            <a:ext cx="3099816" cy="276999"/>
          </a:xfrm>
          <a:prstGeom prst="rect">
            <a:avLst/>
          </a:prstGeom>
          <a:noFill/>
        </p:spPr>
        <p:txBody>
          <a:bodyPr wrap="square" lIns="0" tIns="0" rIns="0" bIns="0" anchor="t">
            <a:spAutoFit/>
          </a:bodyPr>
          <a:lstStyle/>
          <a:p>
            <a:pPr algn="r" rtl="1"/>
            <a:r>
              <a:rPr lang="ar-SA" sz="1800" b="0" dirty="0">
                <a:solidFill>
                  <a:srgbClr val="CBCFE6"/>
                </a:solidFill>
                <a:latin typeface="Readex Pro"/>
                <a:ea typeface="Readex Pro"/>
                <a:cs typeface="Readex Pro"/>
                <a:sym typeface="Readex Pro"/>
              </a:rPr>
              <a:t>بطاقة </a:t>
            </a:r>
            <a:r>
              <a:rPr lang="ar-SA" sz="1800" dirty="0">
                <a:solidFill>
                  <a:srgbClr val="CBCFE6"/>
                </a:solidFill>
                <a:latin typeface="Readex Pro"/>
                <a:ea typeface="Readex Pro"/>
                <a:cs typeface="Readex Pro"/>
                <a:sym typeface="Readex Pro"/>
              </a:rPr>
              <a:t>دليل بمصدره</a:t>
            </a:r>
            <a:endParaRPr lang="ar-SA" sz="1800" b="0" dirty="0">
              <a:solidFill>
                <a:srgbClr val="CBCFE6"/>
              </a:solidFill>
              <a:latin typeface="Readex Pro"/>
              <a:ea typeface="Readex Pro"/>
              <a:cs typeface="Readex Pro"/>
              <a:sym typeface="Readex Pro"/>
            </a:endParaRPr>
          </a:p>
        </p:txBody>
      </p:sp>
      <p:sp>
        <p:nvSpPr>
          <p:cNvPr id="573" name="Rounded Rectangle 572"/>
          <p:cNvSpPr/>
          <p:nvPr/>
        </p:nvSpPr>
        <p:spPr>
          <a:xfrm>
            <a:off x="12417552" y="7086600"/>
            <a:ext cx="4425696" cy="15087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74" name="Oval 573"/>
          <p:cNvSpPr/>
          <p:nvPr/>
        </p:nvSpPr>
        <p:spPr>
          <a:xfrm>
            <a:off x="15883128" y="7434072"/>
            <a:ext cx="777240" cy="777240"/>
          </a:xfrm>
          <a:prstGeom prst="ellipse">
            <a:avLst/>
          </a:prstGeom>
          <a:solidFill>
            <a:srgbClr val="2EF2C2">
              <a:alpha val="14000"/>
            </a:srgbClr>
          </a:solidFill>
          <a:ln w="12700">
            <a:noFill/>
          </a:ln>
        </p:spPr>
        <p:txBody>
          <a:bodyPr rtlCol="0" anchor="ctr"/>
          <a:lstStyle/>
          <a:p>
            <a:endParaRPr/>
          </a:p>
        </p:txBody>
      </p:sp>
      <p:pic>
        <p:nvPicPr>
          <p:cNvPr id="575" name="Picture 574" descr="FaVolumeHigh-turq.png"/>
          <p:cNvPicPr>
            <a:picLocks noChangeAspect="1"/>
          </p:cNvPicPr>
          <p:nvPr/>
        </p:nvPicPr>
        <p:blipFill>
          <a:blip r:embed="rId10"/>
          <a:stretch>
            <a:fillRect/>
          </a:stretch>
        </p:blipFill>
        <p:spPr>
          <a:xfrm>
            <a:off x="16092983" y="7643927"/>
            <a:ext cx="357530" cy="357530"/>
          </a:xfrm>
          <a:prstGeom prst="rect">
            <a:avLst/>
          </a:prstGeom>
        </p:spPr>
      </p:pic>
      <p:sp>
        <p:nvSpPr>
          <p:cNvPr id="576" name="TextBox 575"/>
          <p:cNvSpPr txBox="1"/>
          <p:nvPr/>
        </p:nvSpPr>
        <p:spPr>
          <a:xfrm>
            <a:off x="12646152" y="7287768"/>
            <a:ext cx="3099816" cy="338554"/>
          </a:xfrm>
          <a:prstGeom prst="rect">
            <a:avLst/>
          </a:prstGeom>
          <a:noFill/>
        </p:spPr>
        <p:txBody>
          <a:bodyPr wrap="square" lIns="0" tIns="0" rIns="0" bIns="0" anchor="t">
            <a:spAutoFit/>
          </a:bodyPr>
          <a:lstStyle/>
          <a:p>
            <a:pPr algn="r" rtl="1"/>
            <a:r>
              <a:rPr lang="ar-SA" sz="2200" b="1" dirty="0">
                <a:solidFill>
                  <a:srgbClr val="F2F4FF"/>
                </a:solidFill>
                <a:latin typeface="Readex Pro"/>
                <a:ea typeface="Readex Pro"/>
                <a:cs typeface="Readex Pro"/>
                <a:sym typeface="Readex Pro"/>
              </a:rPr>
              <a:t>تلاوة آيات لا صوت آلي</a:t>
            </a:r>
          </a:p>
        </p:txBody>
      </p:sp>
      <p:sp>
        <p:nvSpPr>
          <p:cNvPr id="577" name="TextBox 576"/>
          <p:cNvSpPr txBox="1"/>
          <p:nvPr/>
        </p:nvSpPr>
        <p:spPr>
          <a:xfrm>
            <a:off x="12646152" y="7872984"/>
            <a:ext cx="3099816" cy="548640"/>
          </a:xfrm>
          <a:prstGeom prst="rect">
            <a:avLst/>
          </a:prstGeom>
          <a:noFill/>
        </p:spPr>
        <p:txBody>
          <a:bodyPr wrap="square" lIns="0" tIns="0" rIns="0" bIns="0" anchor="t">
            <a:spAutoFit/>
          </a:bodyPr>
          <a:lstStyle/>
          <a:p>
            <a:pPr algn="r" rtl="1"/>
            <a:r>
              <a:rPr lang="ar-SA" sz="1800" b="0" dirty="0">
                <a:solidFill>
                  <a:srgbClr val="CBCFE6"/>
                </a:solidFill>
                <a:latin typeface="Readex Pro"/>
                <a:ea typeface="Readex Pro"/>
                <a:cs typeface="Readex Pro"/>
                <a:sym typeface="Readex Pro"/>
              </a:rPr>
              <a:t>الآيات بصوت الحصري</a:t>
            </a:r>
          </a:p>
        </p:txBody>
      </p:sp>
      <p:sp>
        <p:nvSpPr>
          <p:cNvPr id="578" name="Rounded Rectangle 577"/>
          <p:cNvSpPr/>
          <p:nvPr/>
        </p:nvSpPr>
        <p:spPr>
          <a:xfrm>
            <a:off x="7717536" y="7086600"/>
            <a:ext cx="4425696" cy="150876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79" name="Oval 578"/>
          <p:cNvSpPr/>
          <p:nvPr/>
        </p:nvSpPr>
        <p:spPr>
          <a:xfrm>
            <a:off x="11183112" y="7434072"/>
            <a:ext cx="777240" cy="777240"/>
          </a:xfrm>
          <a:prstGeom prst="ellipse">
            <a:avLst/>
          </a:prstGeom>
          <a:solidFill>
            <a:srgbClr val="2EF2C2">
              <a:alpha val="14000"/>
            </a:srgbClr>
          </a:solidFill>
          <a:ln w="12700">
            <a:noFill/>
          </a:ln>
        </p:spPr>
        <p:txBody>
          <a:bodyPr rtlCol="0" anchor="ctr"/>
          <a:lstStyle/>
          <a:p>
            <a:endParaRPr/>
          </a:p>
        </p:txBody>
      </p:sp>
      <p:pic>
        <p:nvPicPr>
          <p:cNvPr id="580" name="Picture 579" descr="FaPeopleRoof-turq.png"/>
          <p:cNvPicPr>
            <a:picLocks noChangeAspect="1"/>
          </p:cNvPicPr>
          <p:nvPr/>
        </p:nvPicPr>
        <p:blipFill>
          <a:blip r:embed="rId11"/>
          <a:stretch>
            <a:fillRect/>
          </a:stretch>
        </p:blipFill>
        <p:spPr>
          <a:xfrm>
            <a:off x="11392967" y="7643927"/>
            <a:ext cx="357530" cy="357530"/>
          </a:xfrm>
          <a:prstGeom prst="rect">
            <a:avLst/>
          </a:prstGeom>
        </p:spPr>
      </p:pic>
      <p:sp>
        <p:nvSpPr>
          <p:cNvPr id="581" name="TextBox 580"/>
          <p:cNvSpPr txBox="1"/>
          <p:nvPr/>
        </p:nvSpPr>
        <p:spPr>
          <a:xfrm>
            <a:off x="7946136" y="7287768"/>
            <a:ext cx="3099816" cy="548640"/>
          </a:xfrm>
          <a:prstGeom prst="rect">
            <a:avLst/>
          </a:prstGeom>
          <a:noFill/>
        </p:spPr>
        <p:txBody>
          <a:bodyPr wrap="square" lIns="0" tIns="0" rIns="0" bIns="0" anchor="t">
            <a:spAutoFit/>
          </a:bodyPr>
          <a:lstStyle/>
          <a:p>
            <a:pPr algn="r" rtl="1"/>
            <a:r>
              <a:rPr lang="ar-SA" sz="2200" b="1" dirty="0">
                <a:solidFill>
                  <a:srgbClr val="F2F4FF"/>
                </a:solidFill>
                <a:latin typeface="Readex Pro"/>
                <a:ea typeface="Readex Pro"/>
                <a:cs typeface="Readex Pro"/>
                <a:sym typeface="Readex Pro"/>
              </a:rPr>
              <a:t>الوالدان معه</a:t>
            </a:r>
          </a:p>
        </p:txBody>
      </p:sp>
      <p:sp>
        <p:nvSpPr>
          <p:cNvPr id="582" name="TextBox 581"/>
          <p:cNvSpPr txBox="1"/>
          <p:nvPr/>
        </p:nvSpPr>
        <p:spPr>
          <a:xfrm>
            <a:off x="7946136" y="7872984"/>
            <a:ext cx="3099816" cy="548640"/>
          </a:xfrm>
          <a:prstGeom prst="rect">
            <a:avLst/>
          </a:prstGeom>
          <a:noFill/>
        </p:spPr>
        <p:txBody>
          <a:bodyPr wrap="square" lIns="0" tIns="0" rIns="0" bIns="0" anchor="t">
            <a:spAutoFit/>
          </a:bodyPr>
          <a:lstStyle/>
          <a:p>
            <a:pPr algn="r" rtl="1"/>
            <a:r>
              <a:rPr lang="ar-SA" sz="1800" b="0" dirty="0">
                <a:solidFill>
                  <a:srgbClr val="CBCFE6"/>
                </a:solidFill>
                <a:latin typeface="Readex Pro"/>
                <a:ea typeface="Readex Pro"/>
                <a:cs typeface="Readex Pro"/>
                <a:sym typeface="Readex Pro"/>
              </a:rPr>
              <a:t>ملخصات ومصادر وتنبيهات</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dirty="0">
                <a:solidFill>
                  <a:srgbClr val="2EF2C2"/>
                </a:solidFill>
                <a:latin typeface="Readex Pro"/>
                <a:ea typeface="Readex Pro"/>
                <a:cs typeface="Readex Pro"/>
                <a:sym typeface="Readex Pro"/>
              </a:rPr>
              <a:t>03 · تجربة الطفل · معيار تجربة المستفيد</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dirty="0">
                <a:solidFill>
                  <a:srgbClr val="F2F4FF"/>
                </a:solidFill>
                <a:latin typeface="Readex Pro"/>
                <a:ea typeface="Readex Pro"/>
                <a:cs typeface="Readex Pro"/>
                <a:sym typeface="Readex Pro"/>
              </a:rPr>
              <a:t>تجربة الطفل: يتكلم، فيسمع الصديق ويرد</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6</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dirty="0">
                <a:solidFill>
                  <a:srgbClr val="8E99CC"/>
                </a:solidFill>
                <a:latin typeface="Readex Pro"/>
                <a:ea typeface="Readex Pro"/>
                <a:cs typeface="Readex Pro"/>
                <a:sym typeface="Readex Pro"/>
              </a:rPr>
              <a:t>تحدي الذكاء الاصطناعي في خدمة المحتوى الإسلامي</a:t>
            </a:r>
            <a:endParaRPr dirty="0"/>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pic>
        <p:nvPicPr>
          <p:cNvPr id="551" name="Picture 550" descr="after_home-ar.webp-1.600-56.jpg"/>
          <p:cNvPicPr>
            <a:picLocks noChangeAspect="1"/>
          </p:cNvPicPr>
          <p:nvPr/>
        </p:nvPicPr>
        <p:blipFill>
          <a:blip r:embed="rId5"/>
          <a:stretch>
            <a:fillRect/>
          </a:stretch>
        </p:blipFill>
        <p:spPr>
          <a:xfrm>
            <a:off x="11905488" y="3383280"/>
            <a:ext cx="4937760" cy="3086100"/>
          </a:xfrm>
          <a:prstGeom prst="roundRect">
            <a:avLst>
              <a:gd name="adj" fmla="val 4000"/>
            </a:avLst>
          </a:prstGeom>
        </p:spPr>
      </p:pic>
      <p:sp>
        <p:nvSpPr>
          <p:cNvPr id="552" name="Oval 551"/>
          <p:cNvSpPr/>
          <p:nvPr/>
        </p:nvSpPr>
        <p:spPr>
          <a:xfrm>
            <a:off x="16157448" y="6720840"/>
            <a:ext cx="548640" cy="548640"/>
          </a:xfrm>
          <a:prstGeom prst="ellipse">
            <a:avLst/>
          </a:prstGeom>
          <a:solidFill>
            <a:srgbClr val="2EF2C2"/>
          </a:solidFill>
          <a:ln w="12700">
            <a:noFill/>
          </a:ln>
        </p:spPr>
        <p:txBody>
          <a:bodyPr rtlCol="0" anchor="ctr"/>
          <a:lstStyle/>
          <a:p>
            <a:endParaRPr/>
          </a:p>
        </p:txBody>
      </p:sp>
      <p:sp>
        <p:nvSpPr>
          <p:cNvPr id="553" name="TextBox 552"/>
          <p:cNvSpPr txBox="1"/>
          <p:nvPr/>
        </p:nvSpPr>
        <p:spPr>
          <a:xfrm>
            <a:off x="16157448" y="6720840"/>
            <a:ext cx="548640" cy="548640"/>
          </a:xfrm>
          <a:prstGeom prst="rect">
            <a:avLst/>
          </a:prstGeom>
          <a:noFill/>
        </p:spPr>
        <p:txBody>
          <a:bodyPr wrap="square" lIns="0" tIns="0" rIns="0" bIns="0" anchor="ctr">
            <a:spAutoFit/>
          </a:bodyPr>
          <a:lstStyle/>
          <a:p>
            <a:pPr algn="ctr" rtl="1"/>
            <a:r>
              <a:rPr lang="ar-SA" sz="2000" b="1" dirty="0">
                <a:solidFill>
                  <a:srgbClr val="12183F"/>
                </a:solidFill>
                <a:latin typeface="Readex Pro"/>
                <a:ea typeface="Readex Pro"/>
                <a:cs typeface="Readex Pro"/>
                <a:sym typeface="Readex Pro"/>
              </a:rPr>
              <a:t>١</a:t>
            </a:r>
          </a:p>
        </p:txBody>
      </p:sp>
      <p:sp>
        <p:nvSpPr>
          <p:cNvPr id="554" name="TextBox 553"/>
          <p:cNvSpPr txBox="1"/>
          <p:nvPr/>
        </p:nvSpPr>
        <p:spPr>
          <a:xfrm>
            <a:off x="11905488" y="6748272"/>
            <a:ext cx="4069080" cy="548640"/>
          </a:xfrm>
          <a:prstGeom prst="rect">
            <a:avLst/>
          </a:prstGeom>
          <a:noFill/>
        </p:spPr>
        <p:txBody>
          <a:bodyPr wrap="square" lIns="0" tIns="0" rIns="0" bIns="0" anchor="t">
            <a:spAutoFit/>
          </a:bodyPr>
          <a:lstStyle/>
          <a:p>
            <a:pPr algn="r" rtl="1"/>
            <a:r>
              <a:rPr lang="ar-SA" sz="2400" b="1" dirty="0">
                <a:solidFill>
                  <a:srgbClr val="F2F4FF"/>
                </a:solidFill>
                <a:latin typeface="Readex Pro"/>
                <a:ea typeface="Readex Pro"/>
                <a:cs typeface="Readex Pro"/>
                <a:sym typeface="Readex Pro"/>
              </a:rPr>
              <a:t>يبدأ بزر واحد</a:t>
            </a:r>
          </a:p>
        </p:txBody>
      </p:sp>
      <p:pic>
        <p:nvPicPr>
          <p:cNvPr id="555" name="Picture 554" descr="after_call-voice-ar.webp-1.600-56.jpg"/>
          <p:cNvPicPr>
            <a:picLocks noChangeAspect="1"/>
          </p:cNvPicPr>
          <p:nvPr/>
        </p:nvPicPr>
        <p:blipFill>
          <a:blip r:embed="rId6"/>
          <a:stretch>
            <a:fillRect/>
          </a:stretch>
        </p:blipFill>
        <p:spPr>
          <a:xfrm>
            <a:off x="6656832" y="3383280"/>
            <a:ext cx="4937760" cy="3086100"/>
          </a:xfrm>
          <a:prstGeom prst="roundRect">
            <a:avLst>
              <a:gd name="adj" fmla="val 4000"/>
            </a:avLst>
          </a:prstGeom>
        </p:spPr>
      </p:pic>
      <p:sp>
        <p:nvSpPr>
          <p:cNvPr id="556" name="Oval 555"/>
          <p:cNvSpPr/>
          <p:nvPr/>
        </p:nvSpPr>
        <p:spPr>
          <a:xfrm>
            <a:off x="10908792" y="6720840"/>
            <a:ext cx="548640" cy="548640"/>
          </a:xfrm>
          <a:prstGeom prst="ellipse">
            <a:avLst/>
          </a:prstGeom>
          <a:solidFill>
            <a:srgbClr val="2EF2C2"/>
          </a:solidFill>
          <a:ln w="12700">
            <a:noFill/>
          </a:ln>
        </p:spPr>
        <p:txBody>
          <a:bodyPr rtlCol="0" anchor="ctr"/>
          <a:lstStyle/>
          <a:p>
            <a:endParaRPr/>
          </a:p>
        </p:txBody>
      </p:sp>
      <p:sp>
        <p:nvSpPr>
          <p:cNvPr id="557" name="TextBox 556"/>
          <p:cNvSpPr txBox="1"/>
          <p:nvPr/>
        </p:nvSpPr>
        <p:spPr>
          <a:xfrm>
            <a:off x="10908792" y="6720840"/>
            <a:ext cx="548640" cy="548640"/>
          </a:xfrm>
          <a:prstGeom prst="rect">
            <a:avLst/>
          </a:prstGeom>
          <a:noFill/>
        </p:spPr>
        <p:txBody>
          <a:bodyPr wrap="square" lIns="0" tIns="0" rIns="0" bIns="0" anchor="ctr">
            <a:spAutoFit/>
          </a:bodyPr>
          <a:lstStyle/>
          <a:p>
            <a:pPr algn="ctr" rtl="1"/>
            <a:r>
              <a:rPr lang="ar-SA" sz="2000" b="1" dirty="0">
                <a:solidFill>
                  <a:srgbClr val="12183F"/>
                </a:solidFill>
                <a:latin typeface="Readex Pro"/>
                <a:ea typeface="Readex Pro"/>
                <a:cs typeface="Readex Pro"/>
                <a:sym typeface="Readex Pro"/>
              </a:rPr>
              <a:t>٢</a:t>
            </a:r>
          </a:p>
        </p:txBody>
      </p:sp>
      <p:sp>
        <p:nvSpPr>
          <p:cNvPr id="558" name="TextBox 557"/>
          <p:cNvSpPr txBox="1"/>
          <p:nvPr/>
        </p:nvSpPr>
        <p:spPr>
          <a:xfrm>
            <a:off x="6656832" y="6748272"/>
            <a:ext cx="4069080" cy="548640"/>
          </a:xfrm>
          <a:prstGeom prst="rect">
            <a:avLst/>
          </a:prstGeom>
          <a:noFill/>
        </p:spPr>
        <p:txBody>
          <a:bodyPr wrap="square" lIns="0" tIns="0" rIns="0" bIns="0" anchor="t">
            <a:spAutoFit/>
          </a:bodyPr>
          <a:lstStyle/>
          <a:p>
            <a:pPr algn="r" rtl="1"/>
            <a:r>
              <a:rPr lang="ar-SA" sz="2400" b="1" dirty="0">
                <a:solidFill>
                  <a:srgbClr val="F2F4FF"/>
                </a:solidFill>
                <a:latin typeface="Readex Pro"/>
                <a:ea typeface="Readex Pro"/>
                <a:cs typeface="Readex Pro"/>
                <a:sym typeface="Readex Pro"/>
              </a:rPr>
              <a:t>يتكلم بصوته</a:t>
            </a:r>
          </a:p>
        </p:txBody>
      </p:sp>
      <p:pic>
        <p:nvPicPr>
          <p:cNvPr id="559" name="Picture 558" descr="after_call-chat-hadith-ar.webp-1.600-56.jpg"/>
          <p:cNvPicPr>
            <a:picLocks noChangeAspect="1"/>
          </p:cNvPicPr>
          <p:nvPr/>
        </p:nvPicPr>
        <p:blipFill>
          <a:blip r:embed="rId7"/>
          <a:stretch>
            <a:fillRect/>
          </a:stretch>
        </p:blipFill>
        <p:spPr>
          <a:xfrm>
            <a:off x="1408176" y="3383280"/>
            <a:ext cx="4937760" cy="3086100"/>
          </a:xfrm>
          <a:prstGeom prst="roundRect">
            <a:avLst>
              <a:gd name="adj" fmla="val 4000"/>
            </a:avLst>
          </a:prstGeom>
        </p:spPr>
      </p:pic>
      <p:sp>
        <p:nvSpPr>
          <p:cNvPr id="560" name="Oval 559"/>
          <p:cNvSpPr/>
          <p:nvPr/>
        </p:nvSpPr>
        <p:spPr>
          <a:xfrm>
            <a:off x="5660136" y="6720840"/>
            <a:ext cx="548640" cy="548640"/>
          </a:xfrm>
          <a:prstGeom prst="ellipse">
            <a:avLst/>
          </a:prstGeom>
          <a:solidFill>
            <a:srgbClr val="2EF2C2"/>
          </a:solidFill>
          <a:ln w="12700">
            <a:noFill/>
          </a:ln>
        </p:spPr>
        <p:txBody>
          <a:bodyPr rtlCol="0" anchor="ctr"/>
          <a:lstStyle/>
          <a:p>
            <a:endParaRPr/>
          </a:p>
        </p:txBody>
      </p:sp>
      <p:sp>
        <p:nvSpPr>
          <p:cNvPr id="561" name="TextBox 560"/>
          <p:cNvSpPr txBox="1"/>
          <p:nvPr/>
        </p:nvSpPr>
        <p:spPr>
          <a:xfrm>
            <a:off x="5660136" y="6720840"/>
            <a:ext cx="548640" cy="548640"/>
          </a:xfrm>
          <a:prstGeom prst="rect">
            <a:avLst/>
          </a:prstGeom>
          <a:noFill/>
        </p:spPr>
        <p:txBody>
          <a:bodyPr wrap="square" lIns="0" tIns="0" rIns="0" bIns="0" anchor="ctr">
            <a:spAutoFit/>
          </a:bodyPr>
          <a:lstStyle/>
          <a:p>
            <a:pPr algn="ctr" rtl="1"/>
            <a:r>
              <a:rPr lang="ar-SA" sz="2000" b="1" dirty="0">
                <a:solidFill>
                  <a:srgbClr val="12183F"/>
                </a:solidFill>
                <a:latin typeface="Readex Pro"/>
                <a:ea typeface="Readex Pro"/>
                <a:cs typeface="Readex Pro"/>
                <a:sym typeface="Readex Pro"/>
              </a:rPr>
              <a:t>٣</a:t>
            </a:r>
          </a:p>
        </p:txBody>
      </p:sp>
      <p:sp>
        <p:nvSpPr>
          <p:cNvPr id="562" name="TextBox 561"/>
          <p:cNvSpPr txBox="1"/>
          <p:nvPr/>
        </p:nvSpPr>
        <p:spPr>
          <a:xfrm>
            <a:off x="1408176" y="6748272"/>
            <a:ext cx="4069080" cy="548640"/>
          </a:xfrm>
          <a:prstGeom prst="rect">
            <a:avLst/>
          </a:prstGeom>
          <a:noFill/>
        </p:spPr>
        <p:txBody>
          <a:bodyPr wrap="square" lIns="0" tIns="0" rIns="0" bIns="0" anchor="t">
            <a:spAutoFit/>
          </a:bodyPr>
          <a:lstStyle/>
          <a:p>
            <a:pPr algn="r" rtl="1"/>
            <a:r>
              <a:rPr lang="ar-SA" sz="2400" b="1" dirty="0">
                <a:solidFill>
                  <a:srgbClr val="F2F4FF"/>
                </a:solidFill>
                <a:latin typeface="Readex Pro"/>
                <a:ea typeface="Readex Pro"/>
                <a:cs typeface="Readex Pro"/>
                <a:sym typeface="Readex Pro"/>
              </a:rPr>
              <a:t>يرى المصدر حين يسأل</a:t>
            </a:r>
          </a:p>
        </p:txBody>
      </p:sp>
      <p:sp>
        <p:nvSpPr>
          <p:cNvPr id="563" name="TextBox 562"/>
          <p:cNvSpPr txBox="1"/>
          <p:nvPr/>
        </p:nvSpPr>
        <p:spPr>
          <a:xfrm>
            <a:off x="1408176" y="8001000"/>
            <a:ext cx="15435072" cy="548640"/>
          </a:xfrm>
          <a:prstGeom prst="rect">
            <a:avLst/>
          </a:prstGeom>
          <a:noFill/>
        </p:spPr>
        <p:txBody>
          <a:bodyPr wrap="square" lIns="0" tIns="0" rIns="0" bIns="0" anchor="t">
            <a:spAutoFit/>
          </a:bodyPr>
          <a:lstStyle/>
          <a:p>
            <a:pPr algn="r" rtl="1"/>
            <a:r>
              <a:rPr lang="ar-SA" sz="1800" b="0" dirty="0">
                <a:solidFill>
                  <a:srgbClr val="8E99CC"/>
                </a:solidFill>
                <a:latin typeface="Readex Pro"/>
                <a:ea typeface="Readex Pro"/>
                <a:cs typeface="Readex Pro"/>
                <a:sym typeface="Readex Pro"/>
              </a:rPr>
              <a:t>عربي وإنجليزي · صوت أو كتابة · شخصية بـ30 حركة وإيماءات مع الكلام</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03 · تجربة الطفل · معيار تجربة المستفيد</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بطاقة المصدر: ما يراه الطفل حين يسأل</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7</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pic>
        <p:nvPicPr>
          <p:cNvPr id="551" name="Picture 550" descr="card-verse-ar-c.png"/>
          <p:cNvPicPr>
            <a:picLocks noChangeAspect="1"/>
          </p:cNvPicPr>
          <p:nvPr/>
        </p:nvPicPr>
        <p:blipFill>
          <a:blip r:embed="rId5"/>
          <a:stretch>
            <a:fillRect/>
          </a:stretch>
        </p:blipFill>
        <p:spPr>
          <a:xfrm>
            <a:off x="12721943" y="3154680"/>
            <a:ext cx="2266141" cy="5394960"/>
          </a:xfrm>
          <a:prstGeom prst="roundRect">
            <a:avLst>
              <a:gd name="adj" fmla="val 3000"/>
            </a:avLst>
          </a:prstGeom>
        </p:spPr>
      </p:pic>
      <p:pic>
        <p:nvPicPr>
          <p:cNvPr id="552" name="Picture 551" descr="card-hadith-ar-c.png"/>
          <p:cNvPicPr>
            <a:picLocks noChangeAspect="1"/>
          </p:cNvPicPr>
          <p:nvPr/>
        </p:nvPicPr>
        <p:blipFill>
          <a:blip r:embed="rId6"/>
          <a:stretch>
            <a:fillRect/>
          </a:stretch>
        </p:blipFill>
        <p:spPr>
          <a:xfrm>
            <a:off x="9680219" y="3154680"/>
            <a:ext cx="2538805" cy="5394960"/>
          </a:xfrm>
          <a:prstGeom prst="roundRect">
            <a:avLst>
              <a:gd name="adj" fmla="val 3000"/>
            </a:avLst>
          </a:prstGeom>
        </p:spPr>
      </p:pic>
      <p:pic>
        <p:nvPicPr>
          <p:cNvPr id="553" name="Picture 552" descr="card-term-ar-c.png"/>
          <p:cNvPicPr>
            <a:picLocks noChangeAspect="1"/>
          </p:cNvPicPr>
          <p:nvPr/>
        </p:nvPicPr>
        <p:blipFill>
          <a:blip r:embed="rId7"/>
          <a:stretch>
            <a:fillRect/>
          </a:stretch>
        </p:blipFill>
        <p:spPr>
          <a:xfrm>
            <a:off x="6242174" y="3154680"/>
            <a:ext cx="2935125" cy="5394960"/>
          </a:xfrm>
          <a:prstGeom prst="roundRect">
            <a:avLst>
              <a:gd name="adj" fmla="val 3000"/>
            </a:avLst>
          </a:prstGeom>
        </p:spPr>
      </p:pic>
      <p:pic>
        <p:nvPicPr>
          <p:cNvPr id="554" name="Picture 553" descr="card-faq-ar-c.png"/>
          <p:cNvPicPr>
            <a:picLocks noChangeAspect="1"/>
          </p:cNvPicPr>
          <p:nvPr/>
        </p:nvPicPr>
        <p:blipFill>
          <a:blip r:embed="rId8"/>
          <a:stretch>
            <a:fillRect/>
          </a:stretch>
        </p:blipFill>
        <p:spPr>
          <a:xfrm>
            <a:off x="3263340" y="3154680"/>
            <a:ext cx="2475914" cy="5394960"/>
          </a:xfrm>
          <a:prstGeom prst="roundRect">
            <a:avLst>
              <a:gd name="adj" fmla="val 3000"/>
            </a:avLst>
          </a:prstGeom>
        </p:spPr>
      </p:pic>
      <p:sp>
        <p:nvSpPr>
          <p:cNvPr id="555" name="TextBox 554"/>
          <p:cNvSpPr txBox="1"/>
          <p:nvPr/>
        </p:nvSpPr>
        <p:spPr>
          <a:xfrm>
            <a:off x="1408176" y="8686800"/>
            <a:ext cx="15435072" cy="54864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آية · حديث بدرجته · مصطلح · سؤال شائع: كل بطاقة برابط مصدرها</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04 · تجربة الوالدين · معيار تجربة المستفيد</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الوالدان يريان ما رآه طفلهما</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8</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pic>
        <p:nvPicPr>
          <p:cNvPr id="551" name="Picture 550" descr="after_parent-sources-ar.webp-1.040-0.jpg"/>
          <p:cNvPicPr>
            <a:picLocks noChangeAspect="1"/>
          </p:cNvPicPr>
          <p:nvPr/>
        </p:nvPicPr>
        <p:blipFill>
          <a:blip r:embed="rId5"/>
          <a:stretch>
            <a:fillRect/>
          </a:stretch>
        </p:blipFill>
        <p:spPr>
          <a:xfrm>
            <a:off x="12088368" y="3291840"/>
            <a:ext cx="4754880" cy="4572000"/>
          </a:xfrm>
          <a:prstGeom prst="roundRect">
            <a:avLst>
              <a:gd name="adj" fmla="val 3000"/>
            </a:avLst>
          </a:prstGeom>
        </p:spPr>
      </p:pic>
      <p:pic>
        <p:nvPicPr>
          <p:cNvPr id="552" name="Picture 551" descr="after_parent-insights-ar.webp-2.236-56.jpg"/>
          <p:cNvPicPr>
            <a:picLocks noChangeAspect="1"/>
          </p:cNvPicPr>
          <p:nvPr/>
        </p:nvPicPr>
        <p:blipFill>
          <a:blip r:embed="rId6"/>
          <a:stretch>
            <a:fillRect/>
          </a:stretch>
        </p:blipFill>
        <p:spPr>
          <a:xfrm>
            <a:off x="1408176" y="3291840"/>
            <a:ext cx="10222992" cy="4572000"/>
          </a:xfrm>
          <a:prstGeom prst="roundRect">
            <a:avLst>
              <a:gd name="adj" fmla="val 3000"/>
            </a:avLst>
          </a:prstGeom>
        </p:spPr>
      </p:pic>
      <p:sp>
        <p:nvSpPr>
          <p:cNvPr id="553" name="TextBox 552"/>
          <p:cNvSpPr txBox="1"/>
          <p:nvPr/>
        </p:nvSpPr>
        <p:spPr>
          <a:xfrm>
            <a:off x="12088368" y="8001000"/>
            <a:ext cx="4754880" cy="548640"/>
          </a:xfrm>
          <a:prstGeom prst="rect">
            <a:avLst/>
          </a:prstGeom>
          <a:noFill/>
        </p:spPr>
        <p:txBody>
          <a:bodyPr wrap="square" lIns="0" tIns="0" rIns="0" bIns="0" anchor="t">
            <a:spAutoFit/>
          </a:bodyPr>
          <a:lstStyle/>
          <a:p>
            <a:pPr algn="r" rtl="1"/>
            <a:r>
              <a:rPr lang="ar-SA" sz="2200" b="1">
                <a:solidFill>
                  <a:srgbClr val="F2F4FF"/>
                </a:solidFill>
                <a:latin typeface="Readex Pro"/>
                <a:ea typeface="Readex Pro"/>
                <a:cs typeface="Readex Pro"/>
                <a:sym typeface="Readex Pro"/>
              </a:rPr>
              <a:t>مصادر الأسبوع، بروابطها</a:t>
            </a:r>
          </a:p>
        </p:txBody>
      </p:sp>
      <p:sp>
        <p:nvSpPr>
          <p:cNvPr id="554" name="TextBox 553"/>
          <p:cNvSpPr txBox="1"/>
          <p:nvPr/>
        </p:nvSpPr>
        <p:spPr>
          <a:xfrm>
            <a:off x="1408176" y="8001000"/>
            <a:ext cx="10222992" cy="548640"/>
          </a:xfrm>
          <a:prstGeom prst="rect">
            <a:avLst/>
          </a:prstGeom>
          <a:noFill/>
        </p:spPr>
        <p:txBody>
          <a:bodyPr wrap="square" lIns="0" tIns="0" rIns="0" bIns="0" anchor="t">
            <a:spAutoFit/>
          </a:bodyPr>
          <a:lstStyle/>
          <a:p>
            <a:pPr algn="r" rtl="1"/>
            <a:r>
              <a:rPr lang="ar-SA" sz="2200" b="1">
                <a:solidFill>
                  <a:srgbClr val="F2F4FF"/>
                </a:solidFill>
                <a:latin typeface="Readex Pro"/>
                <a:ea typeface="Readex Pro"/>
                <a:cs typeface="Readex Pro"/>
                <a:sym typeface="Readex Pro"/>
              </a:rPr>
              <a:t>ملخص أسبوعي وتقدم ومهام، بلا نص المحادثة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04 · كل الميزات · معيار تجربة المستفيد</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a:buSzPts val="4500"/>
            </a:pPr>
            <a:r>
              <a:rPr lang="ar-SA" sz="4500" b="1" dirty="0">
                <a:solidFill>
                  <a:srgbClr val="F2F4FF"/>
                </a:solidFill>
                <a:latin typeface="Readex Pro"/>
                <a:ea typeface="Readex Pro"/>
                <a:cs typeface="Readex Pro"/>
                <a:sym typeface="Readex Pro"/>
              </a:rPr>
              <a:t>كل </a:t>
            </a:r>
            <a:r>
              <a:rPr lang="ar-SA" sz="4500" b="1" dirty="0">
                <a:solidFill>
                  <a:srgbClr val="F2F4FF"/>
                </a:solidFill>
              </a:rPr>
              <a:t>خصائص الصديق</a:t>
            </a:r>
            <a:r>
              <a:rPr lang="ar-SA" sz="4500" b="1" dirty="0">
                <a:solidFill>
                  <a:srgbClr val="F2F4FF"/>
                </a:solidFill>
                <a:latin typeface="Readex Pro"/>
                <a:ea typeface="Readex Pro"/>
                <a:cs typeface="Readex Pro"/>
                <a:sym typeface="Readex Pro"/>
              </a:rPr>
              <a:t>، بلمحة</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9</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Rounded Rectangle 550"/>
          <p:cNvSpPr/>
          <p:nvPr/>
        </p:nvSpPr>
        <p:spPr>
          <a:xfrm>
            <a:off x="11881104" y="3017520"/>
            <a:ext cx="4962144" cy="5989320"/>
          </a:xfrm>
          <a:prstGeom prst="roundRect">
            <a:avLst>
              <a:gd name="adj" fmla="val 5000"/>
            </a:avLst>
          </a:prstGeom>
          <a:solidFill>
            <a:srgbClr val="161D48"/>
          </a:solidFill>
          <a:ln w="12700">
            <a:solidFill>
              <a:srgbClr val="4A5590"/>
            </a:solidFill>
          </a:ln>
        </p:spPr>
        <p:txBody>
          <a:bodyPr rtlCol="0" anchor="ctr"/>
          <a:lstStyle/>
          <a:p>
            <a:endParaRPr/>
          </a:p>
        </p:txBody>
      </p:sp>
      <p:sp>
        <p:nvSpPr>
          <p:cNvPr id="552" name="Oval 551"/>
          <p:cNvSpPr/>
          <p:nvPr/>
        </p:nvSpPr>
        <p:spPr>
          <a:xfrm>
            <a:off x="15928848" y="3200400"/>
            <a:ext cx="713232" cy="713232"/>
          </a:xfrm>
          <a:prstGeom prst="ellipse">
            <a:avLst/>
          </a:prstGeom>
          <a:solidFill>
            <a:srgbClr val="2EF2C2">
              <a:alpha val="14000"/>
            </a:srgbClr>
          </a:solidFill>
          <a:ln w="12700">
            <a:noFill/>
          </a:ln>
        </p:spPr>
        <p:txBody>
          <a:bodyPr rtlCol="0" anchor="ctr"/>
          <a:lstStyle/>
          <a:p>
            <a:endParaRPr/>
          </a:p>
        </p:txBody>
      </p:sp>
      <p:pic>
        <p:nvPicPr>
          <p:cNvPr id="553" name="Picture 552" descr="FaChild-turq.png"/>
          <p:cNvPicPr>
            <a:picLocks noChangeAspect="1"/>
          </p:cNvPicPr>
          <p:nvPr/>
        </p:nvPicPr>
        <p:blipFill>
          <a:blip r:embed="rId5"/>
          <a:stretch>
            <a:fillRect/>
          </a:stretch>
        </p:blipFill>
        <p:spPr>
          <a:xfrm>
            <a:off x="16121421" y="3392973"/>
            <a:ext cx="328087" cy="328087"/>
          </a:xfrm>
          <a:prstGeom prst="rect">
            <a:avLst/>
          </a:prstGeom>
        </p:spPr>
      </p:pic>
      <p:sp>
        <p:nvSpPr>
          <p:cNvPr id="554" name="TextBox 553"/>
          <p:cNvSpPr txBox="1"/>
          <p:nvPr/>
        </p:nvSpPr>
        <p:spPr>
          <a:xfrm>
            <a:off x="12063984" y="3200400"/>
            <a:ext cx="3727704" cy="713232"/>
          </a:xfrm>
          <a:prstGeom prst="rect">
            <a:avLst/>
          </a:prstGeom>
          <a:noFill/>
        </p:spPr>
        <p:txBody>
          <a:bodyPr wrap="square" lIns="0" tIns="0" rIns="0" bIns="0" anchor="ctr">
            <a:spAutoFit/>
          </a:bodyPr>
          <a:lstStyle/>
          <a:p>
            <a:pPr algn="r" rtl="1"/>
            <a:r>
              <a:rPr lang="ar-SA" sz="2400" b="1">
                <a:solidFill>
                  <a:srgbClr val="2EF2C2"/>
                </a:solidFill>
                <a:latin typeface="Readex Pro"/>
                <a:ea typeface="Readex Pro"/>
                <a:cs typeface="Readex Pro"/>
                <a:sym typeface="Readex Pro"/>
              </a:rPr>
              <a:t>للطفل (14)</a:t>
            </a:r>
          </a:p>
        </p:txBody>
      </p:sp>
      <p:sp>
        <p:nvSpPr>
          <p:cNvPr id="555" name="Rounded Rectangle 554"/>
          <p:cNvSpPr/>
          <p:nvPr/>
        </p:nvSpPr>
        <p:spPr>
          <a:xfrm>
            <a:off x="14612112" y="4114800"/>
            <a:ext cx="204825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56" name="TextBox 555"/>
          <p:cNvSpPr txBox="1"/>
          <p:nvPr/>
        </p:nvSpPr>
        <p:spPr>
          <a:xfrm>
            <a:off x="14612112" y="4114800"/>
            <a:ext cx="204825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محادثة صوتية</a:t>
            </a:r>
          </a:p>
        </p:txBody>
      </p:sp>
      <p:sp>
        <p:nvSpPr>
          <p:cNvPr id="557" name="Rounded Rectangle 556"/>
          <p:cNvSpPr/>
          <p:nvPr/>
        </p:nvSpPr>
        <p:spPr>
          <a:xfrm>
            <a:off x="13400532" y="4114800"/>
            <a:ext cx="1120140"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58" name="TextBox 557"/>
          <p:cNvSpPr txBox="1"/>
          <p:nvPr/>
        </p:nvSpPr>
        <p:spPr>
          <a:xfrm>
            <a:off x="13400532" y="4114800"/>
            <a:ext cx="1120140"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كتابة</a:t>
            </a:r>
          </a:p>
        </p:txBody>
      </p:sp>
      <p:sp>
        <p:nvSpPr>
          <p:cNvPr id="559" name="Rounded Rectangle 558"/>
          <p:cNvSpPr/>
          <p:nvPr/>
        </p:nvSpPr>
        <p:spPr>
          <a:xfrm>
            <a:off x="14479524" y="4663440"/>
            <a:ext cx="2180844"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60" name="TextBox 559"/>
          <p:cNvSpPr txBox="1"/>
          <p:nvPr/>
        </p:nvSpPr>
        <p:spPr>
          <a:xfrm>
            <a:off x="14479524" y="4663440"/>
            <a:ext cx="2180844"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عربي وإنجليزي</a:t>
            </a:r>
          </a:p>
        </p:txBody>
      </p:sp>
      <p:sp>
        <p:nvSpPr>
          <p:cNvPr id="561" name="Rounded Rectangle 560"/>
          <p:cNvSpPr/>
          <p:nvPr/>
        </p:nvSpPr>
        <p:spPr>
          <a:xfrm>
            <a:off x="13551408" y="5212080"/>
            <a:ext cx="3108960"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62" name="TextBox 561"/>
          <p:cNvSpPr txBox="1"/>
          <p:nvPr/>
        </p:nvSpPr>
        <p:spPr>
          <a:xfrm>
            <a:off x="13551408" y="5212080"/>
            <a:ext cx="3108960"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شخصية ثلاثية الأبعاد</a:t>
            </a:r>
          </a:p>
        </p:txBody>
      </p:sp>
      <p:sp>
        <p:nvSpPr>
          <p:cNvPr id="563" name="Rounded Rectangle 562"/>
          <p:cNvSpPr/>
          <p:nvPr/>
        </p:nvSpPr>
        <p:spPr>
          <a:xfrm>
            <a:off x="14479524" y="5760720"/>
            <a:ext cx="2180844"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64" name="TextBox 563"/>
          <p:cNvSpPr txBox="1"/>
          <p:nvPr/>
        </p:nvSpPr>
        <p:spPr>
          <a:xfrm>
            <a:off x="14479524" y="5760720"/>
            <a:ext cx="2180844"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مزامنة الشفاه</a:t>
            </a:r>
          </a:p>
        </p:txBody>
      </p:sp>
      <p:sp>
        <p:nvSpPr>
          <p:cNvPr id="565" name="Rounded Rectangle 564"/>
          <p:cNvSpPr/>
          <p:nvPr/>
        </p:nvSpPr>
        <p:spPr>
          <a:xfrm>
            <a:off x="14081760" y="6309360"/>
            <a:ext cx="2578608"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66" name="TextBox 565"/>
          <p:cNvSpPr txBox="1"/>
          <p:nvPr/>
        </p:nvSpPr>
        <p:spPr>
          <a:xfrm>
            <a:off x="14081760" y="6309360"/>
            <a:ext cx="2578608"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30 حركة وإيماءات</a:t>
            </a:r>
          </a:p>
        </p:txBody>
      </p:sp>
      <p:sp>
        <p:nvSpPr>
          <p:cNvPr id="567" name="Rounded Rectangle 566"/>
          <p:cNvSpPr/>
          <p:nvPr/>
        </p:nvSpPr>
        <p:spPr>
          <a:xfrm>
            <a:off x="14612112" y="6858000"/>
            <a:ext cx="204825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68" name="TextBox 567"/>
          <p:cNvSpPr txBox="1"/>
          <p:nvPr/>
        </p:nvSpPr>
        <p:spPr>
          <a:xfrm>
            <a:off x="14612112" y="6858000"/>
            <a:ext cx="204825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بطاقة المصدر</a:t>
            </a:r>
          </a:p>
        </p:txBody>
      </p:sp>
      <p:sp>
        <p:nvSpPr>
          <p:cNvPr id="569" name="Rounded Rectangle 568"/>
          <p:cNvSpPr/>
          <p:nvPr/>
        </p:nvSpPr>
        <p:spPr>
          <a:xfrm>
            <a:off x="12605004" y="6858000"/>
            <a:ext cx="1915668"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70" name="TextBox 569"/>
          <p:cNvSpPr txBox="1"/>
          <p:nvPr/>
        </p:nvSpPr>
        <p:spPr>
          <a:xfrm>
            <a:off x="12605004" y="6858000"/>
            <a:ext cx="1915668"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تلاوة مسجلة</a:t>
            </a:r>
          </a:p>
        </p:txBody>
      </p:sp>
      <p:sp>
        <p:nvSpPr>
          <p:cNvPr id="571" name="Rounded Rectangle 570"/>
          <p:cNvSpPr/>
          <p:nvPr/>
        </p:nvSpPr>
        <p:spPr>
          <a:xfrm>
            <a:off x="14081760" y="7406640"/>
            <a:ext cx="2578608"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72" name="TextBox 571"/>
          <p:cNvSpPr txBox="1"/>
          <p:nvPr/>
        </p:nvSpPr>
        <p:spPr>
          <a:xfrm>
            <a:off x="14081760" y="7406640"/>
            <a:ext cx="2578608"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آية طمأنة للحزين</a:t>
            </a:r>
          </a:p>
        </p:txBody>
      </p:sp>
      <p:sp>
        <p:nvSpPr>
          <p:cNvPr id="573" name="Rounded Rectangle 572"/>
          <p:cNvSpPr/>
          <p:nvPr/>
        </p:nvSpPr>
        <p:spPr>
          <a:xfrm>
            <a:off x="13002768" y="7406640"/>
            <a:ext cx="987552"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74" name="TextBox 573"/>
          <p:cNvSpPr txBox="1"/>
          <p:nvPr/>
        </p:nvSpPr>
        <p:spPr>
          <a:xfrm>
            <a:off x="13002768" y="7406640"/>
            <a:ext cx="987552"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مهام</a:t>
            </a:r>
          </a:p>
        </p:txBody>
      </p:sp>
      <p:sp>
        <p:nvSpPr>
          <p:cNvPr id="575" name="Rounded Rectangle 574"/>
          <p:cNvSpPr/>
          <p:nvPr/>
        </p:nvSpPr>
        <p:spPr>
          <a:xfrm>
            <a:off x="15540228" y="7955280"/>
            <a:ext cx="1120140"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76" name="TextBox 575"/>
          <p:cNvSpPr txBox="1"/>
          <p:nvPr/>
        </p:nvSpPr>
        <p:spPr>
          <a:xfrm>
            <a:off x="15540228" y="7955280"/>
            <a:ext cx="1120140"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أوسمة</a:t>
            </a:r>
          </a:p>
        </p:txBody>
      </p:sp>
      <p:sp>
        <p:nvSpPr>
          <p:cNvPr id="577" name="Rounded Rectangle 576"/>
          <p:cNvSpPr/>
          <p:nvPr/>
        </p:nvSpPr>
        <p:spPr>
          <a:xfrm>
            <a:off x="13267944" y="7955280"/>
            <a:ext cx="2180844"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78" name="TextBox 577"/>
          <p:cNvSpPr txBox="1"/>
          <p:nvPr/>
        </p:nvSpPr>
        <p:spPr>
          <a:xfrm>
            <a:off x="13267944" y="7955280"/>
            <a:ext cx="2180844"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نقاط ومستويات</a:t>
            </a:r>
          </a:p>
        </p:txBody>
      </p:sp>
      <p:sp>
        <p:nvSpPr>
          <p:cNvPr id="579" name="Rounded Rectangle 578"/>
          <p:cNvSpPr/>
          <p:nvPr/>
        </p:nvSpPr>
        <p:spPr>
          <a:xfrm>
            <a:off x="14612112" y="8503920"/>
            <a:ext cx="204825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80" name="TextBox 579"/>
          <p:cNvSpPr txBox="1"/>
          <p:nvPr/>
        </p:nvSpPr>
        <p:spPr>
          <a:xfrm>
            <a:off x="14612112" y="8503920"/>
            <a:ext cx="204825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أيام متتالية</a:t>
            </a:r>
          </a:p>
        </p:txBody>
      </p:sp>
      <p:sp>
        <p:nvSpPr>
          <p:cNvPr id="581" name="Rounded Rectangle 580"/>
          <p:cNvSpPr/>
          <p:nvPr/>
        </p:nvSpPr>
        <p:spPr>
          <a:xfrm>
            <a:off x="12074652" y="8503920"/>
            <a:ext cx="2446020"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82" name="TextBox 581"/>
          <p:cNvSpPr txBox="1"/>
          <p:nvPr/>
        </p:nvSpPr>
        <p:spPr>
          <a:xfrm>
            <a:off x="12074652" y="8503920"/>
            <a:ext cx="2446020"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احتفال بالإنجاز</a:t>
            </a:r>
          </a:p>
        </p:txBody>
      </p:sp>
      <p:sp>
        <p:nvSpPr>
          <p:cNvPr id="583" name="Rounded Rectangle 582"/>
          <p:cNvSpPr/>
          <p:nvPr/>
        </p:nvSpPr>
        <p:spPr>
          <a:xfrm>
            <a:off x="6644640" y="3017520"/>
            <a:ext cx="4962144" cy="5989320"/>
          </a:xfrm>
          <a:prstGeom prst="roundRect">
            <a:avLst>
              <a:gd name="adj" fmla="val 5000"/>
            </a:avLst>
          </a:prstGeom>
          <a:solidFill>
            <a:srgbClr val="161D48"/>
          </a:solidFill>
          <a:ln w="12700">
            <a:solidFill>
              <a:srgbClr val="4A5590"/>
            </a:solidFill>
          </a:ln>
        </p:spPr>
        <p:txBody>
          <a:bodyPr rtlCol="0" anchor="ctr"/>
          <a:lstStyle/>
          <a:p>
            <a:endParaRPr/>
          </a:p>
        </p:txBody>
      </p:sp>
      <p:sp>
        <p:nvSpPr>
          <p:cNvPr id="584" name="Oval 583"/>
          <p:cNvSpPr/>
          <p:nvPr/>
        </p:nvSpPr>
        <p:spPr>
          <a:xfrm>
            <a:off x="10692384" y="3200400"/>
            <a:ext cx="713232" cy="713232"/>
          </a:xfrm>
          <a:prstGeom prst="ellipse">
            <a:avLst/>
          </a:prstGeom>
          <a:solidFill>
            <a:srgbClr val="2EF2C2">
              <a:alpha val="14000"/>
            </a:srgbClr>
          </a:solidFill>
          <a:ln w="12700">
            <a:noFill/>
          </a:ln>
        </p:spPr>
        <p:txBody>
          <a:bodyPr rtlCol="0" anchor="ctr"/>
          <a:lstStyle/>
          <a:p>
            <a:endParaRPr/>
          </a:p>
        </p:txBody>
      </p:sp>
      <p:pic>
        <p:nvPicPr>
          <p:cNvPr id="585" name="Picture 584" descr="FaPeopleRoof-turq.png"/>
          <p:cNvPicPr>
            <a:picLocks noChangeAspect="1"/>
          </p:cNvPicPr>
          <p:nvPr/>
        </p:nvPicPr>
        <p:blipFill>
          <a:blip r:embed="rId6"/>
          <a:stretch>
            <a:fillRect/>
          </a:stretch>
        </p:blipFill>
        <p:spPr>
          <a:xfrm>
            <a:off x="10884957" y="3392973"/>
            <a:ext cx="328087" cy="328087"/>
          </a:xfrm>
          <a:prstGeom prst="rect">
            <a:avLst/>
          </a:prstGeom>
        </p:spPr>
      </p:pic>
      <p:sp>
        <p:nvSpPr>
          <p:cNvPr id="586" name="TextBox 585"/>
          <p:cNvSpPr txBox="1"/>
          <p:nvPr/>
        </p:nvSpPr>
        <p:spPr>
          <a:xfrm>
            <a:off x="6827520" y="3200400"/>
            <a:ext cx="3727704" cy="713232"/>
          </a:xfrm>
          <a:prstGeom prst="rect">
            <a:avLst/>
          </a:prstGeom>
          <a:noFill/>
        </p:spPr>
        <p:txBody>
          <a:bodyPr wrap="square" lIns="0" tIns="0" rIns="0" bIns="0" anchor="ctr">
            <a:spAutoFit/>
          </a:bodyPr>
          <a:lstStyle/>
          <a:p>
            <a:pPr algn="r" rtl="1"/>
            <a:r>
              <a:rPr lang="ar-SA" sz="2400" b="1">
                <a:solidFill>
                  <a:srgbClr val="2EF2C2"/>
                </a:solidFill>
                <a:latin typeface="Readex Pro"/>
                <a:ea typeface="Readex Pro"/>
                <a:cs typeface="Readex Pro"/>
                <a:sym typeface="Readex Pro"/>
              </a:rPr>
              <a:t>للوالدين (10)</a:t>
            </a:r>
          </a:p>
        </p:txBody>
      </p:sp>
      <p:sp>
        <p:nvSpPr>
          <p:cNvPr id="587" name="Rounded Rectangle 586"/>
          <p:cNvSpPr/>
          <p:nvPr/>
        </p:nvSpPr>
        <p:spPr>
          <a:xfrm>
            <a:off x="9508236" y="4114800"/>
            <a:ext cx="1915668"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88" name="TextBox 587"/>
          <p:cNvSpPr txBox="1"/>
          <p:nvPr/>
        </p:nvSpPr>
        <p:spPr>
          <a:xfrm>
            <a:off x="9508236" y="4114800"/>
            <a:ext cx="1915668"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حساب الوالد</a:t>
            </a:r>
          </a:p>
        </p:txBody>
      </p:sp>
      <p:sp>
        <p:nvSpPr>
          <p:cNvPr id="589" name="Rounded Rectangle 588"/>
          <p:cNvSpPr/>
          <p:nvPr/>
        </p:nvSpPr>
        <p:spPr>
          <a:xfrm>
            <a:off x="7103364" y="4114800"/>
            <a:ext cx="2313432"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90" name="TextBox 589"/>
          <p:cNvSpPr txBox="1"/>
          <p:nvPr/>
        </p:nvSpPr>
        <p:spPr>
          <a:xfrm>
            <a:off x="7103364" y="4114800"/>
            <a:ext cx="2313432"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حسابات الأبناء</a:t>
            </a:r>
          </a:p>
        </p:txBody>
      </p:sp>
      <p:sp>
        <p:nvSpPr>
          <p:cNvPr id="591" name="Rounded Rectangle 590"/>
          <p:cNvSpPr/>
          <p:nvPr/>
        </p:nvSpPr>
        <p:spPr>
          <a:xfrm>
            <a:off x="9375648" y="4663440"/>
            <a:ext cx="204825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92" name="TextBox 591"/>
          <p:cNvSpPr txBox="1"/>
          <p:nvPr/>
        </p:nvSpPr>
        <p:spPr>
          <a:xfrm>
            <a:off x="9375648" y="4663440"/>
            <a:ext cx="204825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ملخص كل جلسة</a:t>
            </a:r>
          </a:p>
        </p:txBody>
      </p:sp>
      <p:sp>
        <p:nvSpPr>
          <p:cNvPr id="593" name="Rounded Rectangle 592"/>
          <p:cNvSpPr/>
          <p:nvPr/>
        </p:nvSpPr>
        <p:spPr>
          <a:xfrm>
            <a:off x="7368540" y="4663440"/>
            <a:ext cx="1915668"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94" name="TextBox 593"/>
          <p:cNvSpPr txBox="1"/>
          <p:nvPr/>
        </p:nvSpPr>
        <p:spPr>
          <a:xfrm>
            <a:off x="7368540" y="4663440"/>
            <a:ext cx="1915668"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قيم الأسبوع</a:t>
            </a:r>
          </a:p>
        </p:txBody>
      </p:sp>
      <p:sp>
        <p:nvSpPr>
          <p:cNvPr id="595" name="Rounded Rectangle 594"/>
          <p:cNvSpPr/>
          <p:nvPr/>
        </p:nvSpPr>
        <p:spPr>
          <a:xfrm>
            <a:off x="9375648" y="5212080"/>
            <a:ext cx="204825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96" name="TextBox 595"/>
          <p:cNvSpPr txBox="1"/>
          <p:nvPr/>
        </p:nvSpPr>
        <p:spPr>
          <a:xfrm>
            <a:off x="9375648" y="5212080"/>
            <a:ext cx="204825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أسئلة للنقاش</a:t>
            </a:r>
          </a:p>
        </p:txBody>
      </p:sp>
      <p:sp>
        <p:nvSpPr>
          <p:cNvPr id="597" name="Rounded Rectangle 596"/>
          <p:cNvSpPr/>
          <p:nvPr/>
        </p:nvSpPr>
        <p:spPr>
          <a:xfrm>
            <a:off x="7103364" y="5212080"/>
            <a:ext cx="2180844"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598" name="TextBox 597"/>
          <p:cNvSpPr txBox="1"/>
          <p:nvPr/>
        </p:nvSpPr>
        <p:spPr>
          <a:xfrm>
            <a:off x="7103364" y="5212080"/>
            <a:ext cx="2180844"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مصادر الأسبوع</a:t>
            </a:r>
          </a:p>
        </p:txBody>
      </p:sp>
      <p:sp>
        <p:nvSpPr>
          <p:cNvPr id="599" name="Rounded Rectangle 598"/>
          <p:cNvSpPr/>
          <p:nvPr/>
        </p:nvSpPr>
        <p:spPr>
          <a:xfrm>
            <a:off x="9375648" y="5760720"/>
            <a:ext cx="204825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00" name="TextBox 599"/>
          <p:cNvSpPr txBox="1"/>
          <p:nvPr/>
        </p:nvSpPr>
        <p:spPr>
          <a:xfrm>
            <a:off x="9375648" y="5760720"/>
            <a:ext cx="204825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تأكيد المهام</a:t>
            </a:r>
          </a:p>
        </p:txBody>
      </p:sp>
      <p:sp>
        <p:nvSpPr>
          <p:cNvPr id="601" name="Rounded Rectangle 600"/>
          <p:cNvSpPr/>
          <p:nvPr/>
        </p:nvSpPr>
        <p:spPr>
          <a:xfrm>
            <a:off x="6838188" y="5760720"/>
            <a:ext cx="2446020"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02" name="TextBox 601"/>
          <p:cNvSpPr txBox="1"/>
          <p:nvPr/>
        </p:nvSpPr>
        <p:spPr>
          <a:xfrm>
            <a:off x="6838188" y="5760720"/>
            <a:ext cx="2446020"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تنبيهات السلامة</a:t>
            </a:r>
          </a:p>
        </p:txBody>
      </p:sp>
      <p:sp>
        <p:nvSpPr>
          <p:cNvPr id="603" name="Rounded Rectangle 602"/>
          <p:cNvSpPr/>
          <p:nvPr/>
        </p:nvSpPr>
        <p:spPr>
          <a:xfrm>
            <a:off x="9508236" y="6309360"/>
            <a:ext cx="1915668"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04" name="TextBox 603"/>
          <p:cNvSpPr txBox="1"/>
          <p:nvPr/>
        </p:nvSpPr>
        <p:spPr>
          <a:xfrm>
            <a:off x="9508236" y="6309360"/>
            <a:ext cx="1915668"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تقدم كل طفل</a:t>
            </a:r>
          </a:p>
        </p:txBody>
      </p:sp>
      <p:sp>
        <p:nvSpPr>
          <p:cNvPr id="605" name="Rounded Rectangle 604"/>
          <p:cNvSpPr/>
          <p:nvPr/>
        </p:nvSpPr>
        <p:spPr>
          <a:xfrm>
            <a:off x="6970776" y="6309360"/>
            <a:ext cx="2446020"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06" name="TextBox 605"/>
          <p:cNvSpPr txBox="1"/>
          <p:nvPr/>
        </p:nvSpPr>
        <p:spPr>
          <a:xfrm>
            <a:off x="6970776" y="6309360"/>
            <a:ext cx="2446020"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بلا نص المحادثة</a:t>
            </a:r>
          </a:p>
        </p:txBody>
      </p:sp>
      <p:sp>
        <p:nvSpPr>
          <p:cNvPr id="607" name="Rounded Rectangle 606"/>
          <p:cNvSpPr/>
          <p:nvPr/>
        </p:nvSpPr>
        <p:spPr>
          <a:xfrm>
            <a:off x="1408176" y="3017520"/>
            <a:ext cx="4962144" cy="5989320"/>
          </a:xfrm>
          <a:prstGeom prst="roundRect">
            <a:avLst>
              <a:gd name="adj" fmla="val 5000"/>
            </a:avLst>
          </a:prstGeom>
          <a:solidFill>
            <a:srgbClr val="161D48"/>
          </a:solidFill>
          <a:ln w="12700">
            <a:solidFill>
              <a:srgbClr val="4A5590"/>
            </a:solidFill>
          </a:ln>
        </p:spPr>
        <p:txBody>
          <a:bodyPr rtlCol="0" anchor="ctr"/>
          <a:lstStyle/>
          <a:p>
            <a:endParaRPr/>
          </a:p>
        </p:txBody>
      </p:sp>
      <p:sp>
        <p:nvSpPr>
          <p:cNvPr id="608" name="Oval 607"/>
          <p:cNvSpPr/>
          <p:nvPr/>
        </p:nvSpPr>
        <p:spPr>
          <a:xfrm>
            <a:off x="5455920" y="3200400"/>
            <a:ext cx="713232" cy="713232"/>
          </a:xfrm>
          <a:prstGeom prst="ellipse">
            <a:avLst/>
          </a:prstGeom>
          <a:solidFill>
            <a:srgbClr val="2EF2C2">
              <a:alpha val="14000"/>
            </a:srgbClr>
          </a:solidFill>
          <a:ln w="12700">
            <a:noFill/>
          </a:ln>
        </p:spPr>
        <p:txBody>
          <a:bodyPr rtlCol="0" anchor="ctr"/>
          <a:lstStyle/>
          <a:p>
            <a:endParaRPr/>
          </a:p>
        </p:txBody>
      </p:sp>
      <p:pic>
        <p:nvPicPr>
          <p:cNvPr id="609" name="Picture 608" descr="FaShieldHalved-turq.png"/>
          <p:cNvPicPr>
            <a:picLocks noChangeAspect="1"/>
          </p:cNvPicPr>
          <p:nvPr/>
        </p:nvPicPr>
        <p:blipFill>
          <a:blip r:embed="rId7"/>
          <a:stretch>
            <a:fillRect/>
          </a:stretch>
        </p:blipFill>
        <p:spPr>
          <a:xfrm>
            <a:off x="5648493" y="3392973"/>
            <a:ext cx="328087" cy="328087"/>
          </a:xfrm>
          <a:prstGeom prst="rect">
            <a:avLst/>
          </a:prstGeom>
        </p:spPr>
      </p:pic>
      <p:sp>
        <p:nvSpPr>
          <p:cNvPr id="610" name="TextBox 609"/>
          <p:cNvSpPr txBox="1"/>
          <p:nvPr/>
        </p:nvSpPr>
        <p:spPr>
          <a:xfrm>
            <a:off x="1591056" y="3200400"/>
            <a:ext cx="3727704" cy="713232"/>
          </a:xfrm>
          <a:prstGeom prst="rect">
            <a:avLst/>
          </a:prstGeom>
          <a:noFill/>
        </p:spPr>
        <p:txBody>
          <a:bodyPr wrap="square" lIns="0" tIns="0" rIns="0" bIns="0" anchor="ctr">
            <a:spAutoFit/>
          </a:bodyPr>
          <a:lstStyle/>
          <a:p>
            <a:pPr algn="r" rtl="1"/>
            <a:r>
              <a:rPr lang="ar-SA" sz="2400" b="1">
                <a:solidFill>
                  <a:srgbClr val="2EF2C2"/>
                </a:solidFill>
                <a:latin typeface="Readex Pro"/>
                <a:ea typeface="Readex Pro"/>
                <a:cs typeface="Readex Pro"/>
                <a:sym typeface="Readex Pro"/>
              </a:rPr>
              <a:t>الأمان والمحتوى (10)</a:t>
            </a:r>
          </a:p>
        </p:txBody>
      </p:sp>
      <p:sp>
        <p:nvSpPr>
          <p:cNvPr id="611" name="Rounded Rectangle 610"/>
          <p:cNvSpPr/>
          <p:nvPr/>
        </p:nvSpPr>
        <p:spPr>
          <a:xfrm>
            <a:off x="4006596" y="4114800"/>
            <a:ext cx="2180844"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12" name="TextBox 611"/>
          <p:cNvSpPr txBox="1"/>
          <p:nvPr/>
        </p:nvSpPr>
        <p:spPr>
          <a:xfrm>
            <a:off x="4006596" y="4114800"/>
            <a:ext cx="2180844"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بنك 273 عنصرا</a:t>
            </a:r>
          </a:p>
        </p:txBody>
      </p:sp>
      <p:sp>
        <p:nvSpPr>
          <p:cNvPr id="613" name="Rounded Rectangle 612"/>
          <p:cNvSpPr/>
          <p:nvPr/>
        </p:nvSpPr>
        <p:spPr>
          <a:xfrm>
            <a:off x="2132076" y="4114800"/>
            <a:ext cx="1783080"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14" name="TextBox 613"/>
          <p:cNvSpPr txBox="1"/>
          <p:nvPr/>
        </p:nvSpPr>
        <p:spPr>
          <a:xfrm>
            <a:off x="2132076" y="4114800"/>
            <a:ext cx="1783080"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حارس الدور</a:t>
            </a:r>
          </a:p>
        </p:txBody>
      </p:sp>
      <p:sp>
        <p:nvSpPr>
          <p:cNvPr id="615" name="Rounded Rectangle 614"/>
          <p:cNvSpPr/>
          <p:nvPr/>
        </p:nvSpPr>
        <p:spPr>
          <a:xfrm>
            <a:off x="4006596" y="4663440"/>
            <a:ext cx="2180844"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16" name="TextBox 615"/>
          <p:cNvSpPr txBox="1"/>
          <p:nvPr/>
        </p:nvSpPr>
        <p:spPr>
          <a:xfrm>
            <a:off x="4006596" y="4663440"/>
            <a:ext cx="2180844"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حراس المخرجات</a:t>
            </a:r>
          </a:p>
        </p:txBody>
      </p:sp>
      <p:sp>
        <p:nvSpPr>
          <p:cNvPr id="617" name="Rounded Rectangle 616"/>
          <p:cNvSpPr/>
          <p:nvPr/>
        </p:nvSpPr>
        <p:spPr>
          <a:xfrm>
            <a:off x="1866900" y="4663440"/>
            <a:ext cx="204825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18" name="TextBox 617"/>
          <p:cNvSpPr txBox="1"/>
          <p:nvPr/>
        </p:nvSpPr>
        <p:spPr>
          <a:xfrm>
            <a:off x="1866900" y="4663440"/>
            <a:ext cx="204825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إحالة الفتوى</a:t>
            </a:r>
          </a:p>
        </p:txBody>
      </p:sp>
      <p:sp>
        <p:nvSpPr>
          <p:cNvPr id="619" name="Rounded Rectangle 618"/>
          <p:cNvSpPr/>
          <p:nvPr/>
        </p:nvSpPr>
        <p:spPr>
          <a:xfrm>
            <a:off x="2813304" y="5212080"/>
            <a:ext cx="337413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20" name="TextBox 619"/>
          <p:cNvSpPr txBox="1"/>
          <p:nvPr/>
        </p:nvSpPr>
        <p:spPr>
          <a:xfrm>
            <a:off x="2813304" y="5212080"/>
            <a:ext cx="337413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إفصاح أنه ذكاء اصطناعي</a:t>
            </a:r>
          </a:p>
        </p:txBody>
      </p:sp>
      <p:sp>
        <p:nvSpPr>
          <p:cNvPr id="621" name="Rounded Rectangle 620"/>
          <p:cNvSpPr/>
          <p:nvPr/>
        </p:nvSpPr>
        <p:spPr>
          <a:xfrm>
            <a:off x="3874008" y="5760720"/>
            <a:ext cx="2313432"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22" name="TextBox 621"/>
          <p:cNvSpPr txBox="1"/>
          <p:nvPr/>
        </p:nvSpPr>
        <p:spPr>
          <a:xfrm>
            <a:off x="3874008" y="5760720"/>
            <a:ext cx="2313432"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سقف يومي للصوت</a:t>
            </a:r>
          </a:p>
        </p:txBody>
      </p:sp>
      <p:sp>
        <p:nvSpPr>
          <p:cNvPr id="623" name="Rounded Rectangle 622"/>
          <p:cNvSpPr/>
          <p:nvPr/>
        </p:nvSpPr>
        <p:spPr>
          <a:xfrm>
            <a:off x="3078480" y="6309360"/>
            <a:ext cx="3108960"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24" name="TextBox 623"/>
          <p:cNvSpPr txBox="1"/>
          <p:nvPr/>
        </p:nvSpPr>
        <p:spPr>
          <a:xfrm>
            <a:off x="3078480" y="6309360"/>
            <a:ext cx="3108960"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كتابة عند بلوغ السقف</a:t>
            </a:r>
          </a:p>
        </p:txBody>
      </p:sp>
      <p:sp>
        <p:nvSpPr>
          <p:cNvPr id="625" name="Rounded Rectangle 624"/>
          <p:cNvSpPr/>
          <p:nvPr/>
        </p:nvSpPr>
        <p:spPr>
          <a:xfrm>
            <a:off x="4006596" y="6858000"/>
            <a:ext cx="2180844"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26" name="TextBox 625"/>
          <p:cNvSpPr txBox="1"/>
          <p:nvPr/>
        </p:nvSpPr>
        <p:spPr>
          <a:xfrm>
            <a:off x="4006596" y="6858000"/>
            <a:ext cx="2180844"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صفحة الخصوصية</a:t>
            </a:r>
          </a:p>
        </p:txBody>
      </p:sp>
      <p:sp>
        <p:nvSpPr>
          <p:cNvPr id="627" name="Rounded Rectangle 626"/>
          <p:cNvSpPr/>
          <p:nvPr/>
        </p:nvSpPr>
        <p:spPr>
          <a:xfrm>
            <a:off x="1866900" y="6858000"/>
            <a:ext cx="2048256"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28" name="TextBox 627"/>
          <p:cNvSpPr txBox="1"/>
          <p:nvPr/>
        </p:nvSpPr>
        <p:spPr>
          <a:xfrm>
            <a:off x="1866900" y="6858000"/>
            <a:ext cx="2048256"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حسابات للجنة</a:t>
            </a:r>
          </a:p>
        </p:txBody>
      </p:sp>
      <p:sp>
        <p:nvSpPr>
          <p:cNvPr id="629" name="Rounded Rectangle 628"/>
          <p:cNvSpPr/>
          <p:nvPr/>
        </p:nvSpPr>
        <p:spPr>
          <a:xfrm>
            <a:off x="4536948" y="7406640"/>
            <a:ext cx="1650492" cy="457200"/>
          </a:xfrm>
          <a:prstGeom prst="roundRect">
            <a:avLst>
              <a:gd name="adj" fmla="val 50000"/>
            </a:avLst>
          </a:prstGeom>
          <a:solidFill>
            <a:srgbClr val="6150EA">
              <a:alpha val="35000"/>
            </a:srgbClr>
          </a:solidFill>
          <a:ln w="12700">
            <a:noFill/>
          </a:ln>
        </p:spPr>
        <p:txBody>
          <a:bodyPr rtlCol="0" anchor="ctr"/>
          <a:lstStyle/>
          <a:p>
            <a:endParaRPr/>
          </a:p>
        </p:txBody>
      </p:sp>
      <p:sp>
        <p:nvSpPr>
          <p:cNvPr id="630" name="TextBox 629"/>
          <p:cNvSpPr txBox="1"/>
          <p:nvPr/>
        </p:nvSpPr>
        <p:spPr>
          <a:xfrm>
            <a:off x="4536948" y="7406640"/>
            <a:ext cx="1650492" cy="457200"/>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تقييم آلي</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05 · القيم · معيار تحقيق النفع</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38 قيمة يعيشها الطفل</a:t>
            </a:r>
          </a:p>
        </p:txBody>
      </p:sp>
      <p:sp>
        <p:nvSpPr>
          <p:cNvPr id="539" name="Google Shape;539;p1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لكل قيمة أحاديث ومصادر مراجعة مرتبطة بها، ولـ37 منها آيات</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10</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Rounded Rectangle 550"/>
          <p:cNvSpPr/>
          <p:nvPr/>
        </p:nvSpPr>
        <p:spPr>
          <a:xfrm>
            <a:off x="11905488" y="3611880"/>
            <a:ext cx="4937760" cy="2798064"/>
          </a:xfrm>
          <a:prstGeom prst="roundRect">
            <a:avLst>
              <a:gd name="adj" fmla="val 6000"/>
            </a:avLst>
          </a:prstGeom>
          <a:solidFill>
            <a:srgbClr val="161D48"/>
          </a:solidFill>
          <a:ln w="12700">
            <a:solidFill>
              <a:srgbClr val="4A5590"/>
            </a:solidFill>
          </a:ln>
        </p:spPr>
        <p:txBody>
          <a:bodyPr rtlCol="0" anchor="ctr"/>
          <a:lstStyle/>
          <a:p>
            <a:endParaRPr/>
          </a:p>
        </p:txBody>
      </p:sp>
      <p:sp>
        <p:nvSpPr>
          <p:cNvPr id="552" name="Oval 551"/>
          <p:cNvSpPr/>
          <p:nvPr/>
        </p:nvSpPr>
        <p:spPr>
          <a:xfrm>
            <a:off x="15974568" y="3721608"/>
            <a:ext cx="658368" cy="658368"/>
          </a:xfrm>
          <a:prstGeom prst="ellipse">
            <a:avLst/>
          </a:prstGeom>
          <a:solidFill>
            <a:srgbClr val="2EF2C2">
              <a:alpha val="14000"/>
            </a:srgbClr>
          </a:solidFill>
          <a:ln w="12700">
            <a:noFill/>
          </a:ln>
        </p:spPr>
        <p:txBody>
          <a:bodyPr rtlCol="0" anchor="ctr"/>
          <a:lstStyle/>
          <a:p>
            <a:endParaRPr/>
          </a:p>
        </p:txBody>
      </p:sp>
      <p:pic>
        <p:nvPicPr>
          <p:cNvPr id="553" name="Picture 552" descr="FaHandsPraying-turq.png"/>
          <p:cNvPicPr>
            <a:picLocks noChangeAspect="1"/>
          </p:cNvPicPr>
          <p:nvPr/>
        </p:nvPicPr>
        <p:blipFill>
          <a:blip r:embed="rId5"/>
          <a:stretch>
            <a:fillRect/>
          </a:stretch>
        </p:blipFill>
        <p:spPr>
          <a:xfrm>
            <a:off x="16152327" y="3899367"/>
            <a:ext cx="302849" cy="302849"/>
          </a:xfrm>
          <a:prstGeom prst="rect">
            <a:avLst/>
          </a:prstGeom>
        </p:spPr>
      </p:pic>
      <p:sp>
        <p:nvSpPr>
          <p:cNvPr id="554" name="TextBox 553"/>
          <p:cNvSpPr txBox="1"/>
          <p:nvPr/>
        </p:nvSpPr>
        <p:spPr>
          <a:xfrm>
            <a:off x="12088368" y="3776472"/>
            <a:ext cx="3749040" cy="548640"/>
          </a:xfrm>
          <a:prstGeom prst="rect">
            <a:avLst/>
          </a:prstGeom>
          <a:noFill/>
        </p:spPr>
        <p:txBody>
          <a:bodyPr wrap="square" lIns="0" tIns="0" rIns="0" bIns="0" anchor="ctr">
            <a:spAutoFit/>
          </a:bodyPr>
          <a:lstStyle/>
          <a:p>
            <a:pPr algn="r" rtl="1"/>
            <a:r>
              <a:rPr lang="ar-SA" sz="2200" b="1">
                <a:solidFill>
                  <a:srgbClr val="2EF2C2"/>
                </a:solidFill>
                <a:latin typeface="Readex Pro"/>
                <a:ea typeface="Readex Pro"/>
                <a:cs typeface="Readex Pro"/>
                <a:sym typeface="Readex Pro"/>
              </a:rPr>
              <a:t>الإيمان والعبادة (6)</a:t>
            </a:r>
          </a:p>
        </p:txBody>
      </p:sp>
      <p:sp>
        <p:nvSpPr>
          <p:cNvPr id="555" name="Rounded Rectangle 554"/>
          <p:cNvSpPr/>
          <p:nvPr/>
        </p:nvSpPr>
        <p:spPr>
          <a:xfrm>
            <a:off x="15663672" y="4434840"/>
            <a:ext cx="10149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56" name="TextBox 555"/>
          <p:cNvSpPr txBox="1"/>
          <p:nvPr/>
        </p:nvSpPr>
        <p:spPr>
          <a:xfrm>
            <a:off x="15663672" y="4434840"/>
            <a:ext cx="10149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الصلاة</a:t>
            </a:r>
          </a:p>
        </p:txBody>
      </p:sp>
      <p:sp>
        <p:nvSpPr>
          <p:cNvPr id="557" name="Rounded Rectangle 556"/>
          <p:cNvSpPr/>
          <p:nvPr/>
        </p:nvSpPr>
        <p:spPr>
          <a:xfrm>
            <a:off x="14328648" y="4434840"/>
            <a:ext cx="12435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58" name="TextBox 557"/>
          <p:cNvSpPr txBox="1"/>
          <p:nvPr/>
        </p:nvSpPr>
        <p:spPr>
          <a:xfrm>
            <a:off x="14328648" y="4434840"/>
            <a:ext cx="12435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ذكر الله</a:t>
            </a:r>
          </a:p>
        </p:txBody>
      </p:sp>
      <p:sp>
        <p:nvSpPr>
          <p:cNvPr id="559" name="Rounded Rectangle 558"/>
          <p:cNvSpPr/>
          <p:nvPr/>
        </p:nvSpPr>
        <p:spPr>
          <a:xfrm>
            <a:off x="12193524" y="4434840"/>
            <a:ext cx="20436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60" name="TextBox 559"/>
          <p:cNvSpPr txBox="1"/>
          <p:nvPr/>
        </p:nvSpPr>
        <p:spPr>
          <a:xfrm>
            <a:off x="12193524" y="4434840"/>
            <a:ext cx="20436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التوكل على الله</a:t>
            </a:r>
          </a:p>
        </p:txBody>
      </p:sp>
      <p:sp>
        <p:nvSpPr>
          <p:cNvPr id="561" name="Rounded Rectangle 560"/>
          <p:cNvSpPr/>
          <p:nvPr/>
        </p:nvSpPr>
        <p:spPr>
          <a:xfrm>
            <a:off x="14977872" y="4910328"/>
            <a:ext cx="17007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62" name="TextBox 561"/>
          <p:cNvSpPr txBox="1"/>
          <p:nvPr/>
        </p:nvSpPr>
        <p:spPr>
          <a:xfrm>
            <a:off x="14977872" y="4910328"/>
            <a:ext cx="17007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محبة النبي ﷺ</a:t>
            </a:r>
          </a:p>
        </p:txBody>
      </p:sp>
      <p:sp>
        <p:nvSpPr>
          <p:cNvPr id="563" name="Rounded Rectangle 562"/>
          <p:cNvSpPr/>
          <p:nvPr/>
        </p:nvSpPr>
        <p:spPr>
          <a:xfrm>
            <a:off x="13757148" y="4910328"/>
            <a:ext cx="11292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64" name="TextBox 563"/>
          <p:cNvSpPr txBox="1"/>
          <p:nvPr/>
        </p:nvSpPr>
        <p:spPr>
          <a:xfrm>
            <a:off x="13757148" y="4910328"/>
            <a:ext cx="11292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الإخلاص</a:t>
            </a:r>
          </a:p>
        </p:txBody>
      </p:sp>
      <p:sp>
        <p:nvSpPr>
          <p:cNvPr id="565" name="Rounded Rectangle 564"/>
          <p:cNvSpPr/>
          <p:nvPr/>
        </p:nvSpPr>
        <p:spPr>
          <a:xfrm>
            <a:off x="12765024" y="4910328"/>
            <a:ext cx="9006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66" name="TextBox 565"/>
          <p:cNvSpPr txBox="1"/>
          <p:nvPr/>
        </p:nvSpPr>
        <p:spPr>
          <a:xfrm>
            <a:off x="12765024" y="4910328"/>
            <a:ext cx="9006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الشكر</a:t>
            </a:r>
          </a:p>
        </p:txBody>
      </p:sp>
      <p:sp>
        <p:nvSpPr>
          <p:cNvPr id="567" name="Rounded Rectangle 566"/>
          <p:cNvSpPr/>
          <p:nvPr/>
        </p:nvSpPr>
        <p:spPr>
          <a:xfrm>
            <a:off x="6656832" y="3611880"/>
            <a:ext cx="4937760" cy="2798064"/>
          </a:xfrm>
          <a:prstGeom prst="roundRect">
            <a:avLst>
              <a:gd name="adj" fmla="val 6000"/>
            </a:avLst>
          </a:prstGeom>
          <a:solidFill>
            <a:srgbClr val="161D48"/>
          </a:solidFill>
          <a:ln w="12700">
            <a:solidFill>
              <a:srgbClr val="4A5590"/>
            </a:solidFill>
          </a:ln>
        </p:spPr>
        <p:txBody>
          <a:bodyPr rtlCol="0" anchor="ctr"/>
          <a:lstStyle/>
          <a:p>
            <a:endParaRPr/>
          </a:p>
        </p:txBody>
      </p:sp>
      <p:sp>
        <p:nvSpPr>
          <p:cNvPr id="568" name="Oval 567"/>
          <p:cNvSpPr/>
          <p:nvPr/>
        </p:nvSpPr>
        <p:spPr>
          <a:xfrm>
            <a:off x="10725912" y="3721608"/>
            <a:ext cx="658368" cy="658368"/>
          </a:xfrm>
          <a:prstGeom prst="ellipse">
            <a:avLst/>
          </a:prstGeom>
          <a:solidFill>
            <a:srgbClr val="2EF2C2">
              <a:alpha val="14000"/>
            </a:srgbClr>
          </a:solidFill>
          <a:ln w="12700">
            <a:noFill/>
          </a:ln>
        </p:spPr>
        <p:txBody>
          <a:bodyPr rtlCol="0" anchor="ctr"/>
          <a:lstStyle/>
          <a:p>
            <a:endParaRPr/>
          </a:p>
        </p:txBody>
      </p:sp>
      <p:pic>
        <p:nvPicPr>
          <p:cNvPr id="569" name="Picture 568" descr="FaHandshake-turq.png"/>
          <p:cNvPicPr>
            <a:picLocks noChangeAspect="1"/>
          </p:cNvPicPr>
          <p:nvPr/>
        </p:nvPicPr>
        <p:blipFill>
          <a:blip r:embed="rId6"/>
          <a:stretch>
            <a:fillRect/>
          </a:stretch>
        </p:blipFill>
        <p:spPr>
          <a:xfrm>
            <a:off x="10903671" y="3899367"/>
            <a:ext cx="302849" cy="302849"/>
          </a:xfrm>
          <a:prstGeom prst="rect">
            <a:avLst/>
          </a:prstGeom>
        </p:spPr>
      </p:pic>
      <p:sp>
        <p:nvSpPr>
          <p:cNvPr id="570" name="TextBox 569"/>
          <p:cNvSpPr txBox="1"/>
          <p:nvPr/>
        </p:nvSpPr>
        <p:spPr>
          <a:xfrm>
            <a:off x="6839712" y="3776472"/>
            <a:ext cx="3749040" cy="548640"/>
          </a:xfrm>
          <a:prstGeom prst="rect">
            <a:avLst/>
          </a:prstGeom>
          <a:noFill/>
        </p:spPr>
        <p:txBody>
          <a:bodyPr wrap="square" lIns="0" tIns="0" rIns="0" bIns="0" anchor="ctr">
            <a:spAutoFit/>
          </a:bodyPr>
          <a:lstStyle/>
          <a:p>
            <a:pPr algn="r" rtl="1"/>
            <a:r>
              <a:rPr lang="ar-SA" sz="2200" b="1">
                <a:solidFill>
                  <a:srgbClr val="2EF2C2"/>
                </a:solidFill>
                <a:latin typeface="Readex Pro"/>
                <a:ea typeface="Readex Pro"/>
                <a:cs typeface="Readex Pro"/>
                <a:sym typeface="Readex Pro"/>
              </a:rPr>
              <a:t>الصدق والأمانة (6)</a:t>
            </a:r>
          </a:p>
        </p:txBody>
      </p:sp>
      <p:sp>
        <p:nvSpPr>
          <p:cNvPr id="571" name="Rounded Rectangle 570"/>
          <p:cNvSpPr/>
          <p:nvPr/>
        </p:nvSpPr>
        <p:spPr>
          <a:xfrm>
            <a:off x="10529316" y="4434840"/>
            <a:ext cx="9006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72" name="TextBox 571"/>
          <p:cNvSpPr txBox="1"/>
          <p:nvPr/>
        </p:nvSpPr>
        <p:spPr>
          <a:xfrm>
            <a:off x="10529316" y="4434840"/>
            <a:ext cx="9006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الصدق</a:t>
            </a:r>
          </a:p>
        </p:txBody>
      </p:sp>
      <p:sp>
        <p:nvSpPr>
          <p:cNvPr id="573" name="Rounded Rectangle 572"/>
          <p:cNvSpPr/>
          <p:nvPr/>
        </p:nvSpPr>
        <p:spPr>
          <a:xfrm>
            <a:off x="9308592" y="4434840"/>
            <a:ext cx="11292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74" name="TextBox 573"/>
          <p:cNvSpPr txBox="1"/>
          <p:nvPr/>
        </p:nvSpPr>
        <p:spPr>
          <a:xfrm>
            <a:off x="9308592" y="4434840"/>
            <a:ext cx="11292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الأمانة</a:t>
            </a:r>
          </a:p>
        </p:txBody>
      </p:sp>
      <p:sp>
        <p:nvSpPr>
          <p:cNvPr id="575" name="Rounded Rectangle 574"/>
          <p:cNvSpPr/>
          <p:nvPr/>
        </p:nvSpPr>
        <p:spPr>
          <a:xfrm>
            <a:off x="7402068" y="4434840"/>
            <a:ext cx="18150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76" name="TextBox 575"/>
          <p:cNvSpPr txBox="1"/>
          <p:nvPr/>
        </p:nvSpPr>
        <p:spPr>
          <a:xfrm>
            <a:off x="7402068" y="4434840"/>
            <a:ext cx="18150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الوفاء بالوعد</a:t>
            </a:r>
          </a:p>
        </p:txBody>
      </p:sp>
      <p:sp>
        <p:nvSpPr>
          <p:cNvPr id="577" name="Rounded Rectangle 576"/>
          <p:cNvSpPr/>
          <p:nvPr/>
        </p:nvSpPr>
        <p:spPr>
          <a:xfrm>
            <a:off x="10529316" y="4910328"/>
            <a:ext cx="9006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78" name="TextBox 577"/>
          <p:cNvSpPr txBox="1"/>
          <p:nvPr/>
        </p:nvSpPr>
        <p:spPr>
          <a:xfrm>
            <a:off x="10529316" y="4910328"/>
            <a:ext cx="9006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العدل</a:t>
            </a:r>
          </a:p>
        </p:txBody>
      </p:sp>
      <p:sp>
        <p:nvSpPr>
          <p:cNvPr id="579" name="Rounded Rectangle 578"/>
          <p:cNvSpPr/>
          <p:nvPr/>
        </p:nvSpPr>
        <p:spPr>
          <a:xfrm>
            <a:off x="9422892" y="4910328"/>
            <a:ext cx="10149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80" name="TextBox 579"/>
          <p:cNvSpPr txBox="1"/>
          <p:nvPr/>
        </p:nvSpPr>
        <p:spPr>
          <a:xfrm>
            <a:off x="9422892" y="4910328"/>
            <a:ext cx="10149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الحياء</a:t>
            </a:r>
          </a:p>
        </p:txBody>
      </p:sp>
      <p:sp>
        <p:nvSpPr>
          <p:cNvPr id="581" name="Rounded Rectangle 580"/>
          <p:cNvSpPr/>
          <p:nvPr/>
        </p:nvSpPr>
        <p:spPr>
          <a:xfrm>
            <a:off x="7859268" y="4910328"/>
            <a:ext cx="14721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82" name="TextBox 581"/>
          <p:cNvSpPr txBox="1"/>
          <p:nvPr/>
        </p:nvSpPr>
        <p:spPr>
          <a:xfrm>
            <a:off x="7859268" y="4910328"/>
            <a:ext cx="14721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ترك الغيبة</a:t>
            </a:r>
          </a:p>
        </p:txBody>
      </p:sp>
      <p:sp>
        <p:nvSpPr>
          <p:cNvPr id="583" name="Rounded Rectangle 582"/>
          <p:cNvSpPr/>
          <p:nvPr/>
        </p:nvSpPr>
        <p:spPr>
          <a:xfrm>
            <a:off x="1408176" y="3611880"/>
            <a:ext cx="4937760" cy="2798064"/>
          </a:xfrm>
          <a:prstGeom prst="roundRect">
            <a:avLst>
              <a:gd name="adj" fmla="val 6000"/>
            </a:avLst>
          </a:prstGeom>
          <a:solidFill>
            <a:srgbClr val="161D48"/>
          </a:solidFill>
          <a:ln w="12700">
            <a:solidFill>
              <a:srgbClr val="4A5590"/>
            </a:solidFill>
          </a:ln>
        </p:spPr>
        <p:txBody>
          <a:bodyPr rtlCol="0" anchor="ctr"/>
          <a:lstStyle/>
          <a:p>
            <a:endParaRPr/>
          </a:p>
        </p:txBody>
      </p:sp>
      <p:sp>
        <p:nvSpPr>
          <p:cNvPr id="584" name="Oval 583"/>
          <p:cNvSpPr/>
          <p:nvPr/>
        </p:nvSpPr>
        <p:spPr>
          <a:xfrm>
            <a:off x="5477256" y="3721608"/>
            <a:ext cx="658368" cy="658368"/>
          </a:xfrm>
          <a:prstGeom prst="ellipse">
            <a:avLst/>
          </a:prstGeom>
          <a:solidFill>
            <a:srgbClr val="2EF2C2">
              <a:alpha val="14000"/>
            </a:srgbClr>
          </a:solidFill>
          <a:ln w="12700">
            <a:noFill/>
          </a:ln>
        </p:spPr>
        <p:txBody>
          <a:bodyPr rtlCol="0" anchor="ctr"/>
          <a:lstStyle/>
          <a:p>
            <a:endParaRPr/>
          </a:p>
        </p:txBody>
      </p:sp>
      <p:pic>
        <p:nvPicPr>
          <p:cNvPr id="585" name="Picture 584" descr="FaPeopleRoof-turq.png"/>
          <p:cNvPicPr>
            <a:picLocks noChangeAspect="1"/>
          </p:cNvPicPr>
          <p:nvPr/>
        </p:nvPicPr>
        <p:blipFill>
          <a:blip r:embed="rId7"/>
          <a:stretch>
            <a:fillRect/>
          </a:stretch>
        </p:blipFill>
        <p:spPr>
          <a:xfrm>
            <a:off x="5655015" y="3899367"/>
            <a:ext cx="302849" cy="302849"/>
          </a:xfrm>
          <a:prstGeom prst="rect">
            <a:avLst/>
          </a:prstGeom>
        </p:spPr>
      </p:pic>
      <p:sp>
        <p:nvSpPr>
          <p:cNvPr id="586" name="TextBox 585"/>
          <p:cNvSpPr txBox="1"/>
          <p:nvPr/>
        </p:nvSpPr>
        <p:spPr>
          <a:xfrm>
            <a:off x="1591056" y="3776472"/>
            <a:ext cx="3749040" cy="548640"/>
          </a:xfrm>
          <a:prstGeom prst="rect">
            <a:avLst/>
          </a:prstGeom>
          <a:noFill/>
        </p:spPr>
        <p:txBody>
          <a:bodyPr wrap="square" lIns="0" tIns="0" rIns="0" bIns="0" anchor="ctr">
            <a:spAutoFit/>
          </a:bodyPr>
          <a:lstStyle/>
          <a:p>
            <a:pPr algn="r" rtl="1"/>
            <a:r>
              <a:rPr lang="ar-SA" sz="2200" b="1">
                <a:solidFill>
                  <a:srgbClr val="2EF2C2"/>
                </a:solidFill>
                <a:latin typeface="Readex Pro"/>
                <a:ea typeface="Readex Pro"/>
                <a:cs typeface="Readex Pro"/>
                <a:sym typeface="Readex Pro"/>
              </a:rPr>
              <a:t>الأسرة والمجتمع (6)</a:t>
            </a:r>
          </a:p>
        </p:txBody>
      </p:sp>
      <p:sp>
        <p:nvSpPr>
          <p:cNvPr id="587" name="Rounded Rectangle 586"/>
          <p:cNvSpPr/>
          <p:nvPr/>
        </p:nvSpPr>
        <p:spPr>
          <a:xfrm>
            <a:off x="4594860" y="4434840"/>
            <a:ext cx="15864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88" name="TextBox 587"/>
          <p:cNvSpPr txBox="1"/>
          <p:nvPr/>
        </p:nvSpPr>
        <p:spPr>
          <a:xfrm>
            <a:off x="4594860" y="4434840"/>
            <a:ext cx="15864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بر الوالدين</a:t>
            </a:r>
          </a:p>
        </p:txBody>
      </p:sp>
      <p:sp>
        <p:nvSpPr>
          <p:cNvPr id="589" name="Rounded Rectangle 588"/>
          <p:cNvSpPr/>
          <p:nvPr/>
        </p:nvSpPr>
        <p:spPr>
          <a:xfrm>
            <a:off x="3145536" y="4434840"/>
            <a:ext cx="13578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90" name="TextBox 589"/>
          <p:cNvSpPr txBox="1"/>
          <p:nvPr/>
        </p:nvSpPr>
        <p:spPr>
          <a:xfrm>
            <a:off x="3145536" y="4434840"/>
            <a:ext cx="13578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صلة الرحم</a:t>
            </a:r>
          </a:p>
        </p:txBody>
      </p:sp>
      <p:sp>
        <p:nvSpPr>
          <p:cNvPr id="591" name="Rounded Rectangle 590"/>
          <p:cNvSpPr/>
          <p:nvPr/>
        </p:nvSpPr>
        <p:spPr>
          <a:xfrm>
            <a:off x="4480560" y="4910328"/>
            <a:ext cx="17007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92" name="TextBox 591"/>
          <p:cNvSpPr txBox="1"/>
          <p:nvPr/>
        </p:nvSpPr>
        <p:spPr>
          <a:xfrm>
            <a:off x="4480560" y="4910328"/>
            <a:ext cx="17007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توقير الكبير</a:t>
            </a:r>
          </a:p>
        </p:txBody>
      </p:sp>
      <p:sp>
        <p:nvSpPr>
          <p:cNvPr id="593" name="Rounded Rectangle 592"/>
          <p:cNvSpPr/>
          <p:nvPr/>
        </p:nvSpPr>
        <p:spPr>
          <a:xfrm>
            <a:off x="2116836" y="4910328"/>
            <a:ext cx="22722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94" name="TextBox 593"/>
          <p:cNvSpPr txBox="1"/>
          <p:nvPr/>
        </p:nvSpPr>
        <p:spPr>
          <a:xfrm>
            <a:off x="2116836" y="4910328"/>
            <a:ext cx="22722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الإحسان إلى الجار</a:t>
            </a:r>
          </a:p>
        </p:txBody>
      </p:sp>
      <p:sp>
        <p:nvSpPr>
          <p:cNvPr id="595" name="Rounded Rectangle 594"/>
          <p:cNvSpPr/>
          <p:nvPr/>
        </p:nvSpPr>
        <p:spPr>
          <a:xfrm>
            <a:off x="5166360" y="5385816"/>
            <a:ext cx="10149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96" name="TextBox 595"/>
          <p:cNvSpPr txBox="1"/>
          <p:nvPr/>
        </p:nvSpPr>
        <p:spPr>
          <a:xfrm>
            <a:off x="5166360" y="5385816"/>
            <a:ext cx="10149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الأخوة</a:t>
            </a:r>
          </a:p>
        </p:txBody>
      </p:sp>
      <p:sp>
        <p:nvSpPr>
          <p:cNvPr id="597" name="Rounded Rectangle 596"/>
          <p:cNvSpPr/>
          <p:nvPr/>
        </p:nvSpPr>
        <p:spPr>
          <a:xfrm>
            <a:off x="3374136" y="5385816"/>
            <a:ext cx="17007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598" name="TextBox 597"/>
          <p:cNvSpPr txBox="1"/>
          <p:nvPr/>
        </p:nvSpPr>
        <p:spPr>
          <a:xfrm>
            <a:off x="3374136" y="5385816"/>
            <a:ext cx="17007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إفشاء السلام</a:t>
            </a:r>
          </a:p>
        </p:txBody>
      </p:sp>
      <p:sp>
        <p:nvSpPr>
          <p:cNvPr id="599" name="Rounded Rectangle 598"/>
          <p:cNvSpPr/>
          <p:nvPr/>
        </p:nvSpPr>
        <p:spPr>
          <a:xfrm>
            <a:off x="11905488" y="6519672"/>
            <a:ext cx="4937760" cy="2798064"/>
          </a:xfrm>
          <a:prstGeom prst="roundRect">
            <a:avLst>
              <a:gd name="adj" fmla="val 6000"/>
            </a:avLst>
          </a:prstGeom>
          <a:solidFill>
            <a:srgbClr val="161D48"/>
          </a:solidFill>
          <a:ln w="12700">
            <a:solidFill>
              <a:srgbClr val="4A5590"/>
            </a:solidFill>
          </a:ln>
        </p:spPr>
        <p:txBody>
          <a:bodyPr rtlCol="0" anchor="ctr"/>
          <a:lstStyle/>
          <a:p>
            <a:endParaRPr/>
          </a:p>
        </p:txBody>
      </p:sp>
      <p:sp>
        <p:nvSpPr>
          <p:cNvPr id="600" name="Oval 599"/>
          <p:cNvSpPr/>
          <p:nvPr/>
        </p:nvSpPr>
        <p:spPr>
          <a:xfrm>
            <a:off x="15974568" y="6629400"/>
            <a:ext cx="658368" cy="658368"/>
          </a:xfrm>
          <a:prstGeom prst="ellipse">
            <a:avLst/>
          </a:prstGeom>
          <a:solidFill>
            <a:srgbClr val="2EF2C2">
              <a:alpha val="14000"/>
            </a:srgbClr>
          </a:solidFill>
          <a:ln w="12700">
            <a:noFill/>
          </a:ln>
        </p:spPr>
        <p:txBody>
          <a:bodyPr rtlCol="0" anchor="ctr"/>
          <a:lstStyle/>
          <a:p>
            <a:endParaRPr/>
          </a:p>
        </p:txBody>
      </p:sp>
      <p:pic>
        <p:nvPicPr>
          <p:cNvPr id="601" name="Picture 600" descr="FaHandHoldingHeart-turq.png"/>
          <p:cNvPicPr>
            <a:picLocks noChangeAspect="1"/>
          </p:cNvPicPr>
          <p:nvPr/>
        </p:nvPicPr>
        <p:blipFill>
          <a:blip r:embed="rId8"/>
          <a:stretch>
            <a:fillRect/>
          </a:stretch>
        </p:blipFill>
        <p:spPr>
          <a:xfrm>
            <a:off x="16152327" y="6807159"/>
            <a:ext cx="302849" cy="302849"/>
          </a:xfrm>
          <a:prstGeom prst="rect">
            <a:avLst/>
          </a:prstGeom>
        </p:spPr>
      </p:pic>
      <p:sp>
        <p:nvSpPr>
          <p:cNvPr id="602" name="TextBox 601"/>
          <p:cNvSpPr txBox="1"/>
          <p:nvPr/>
        </p:nvSpPr>
        <p:spPr>
          <a:xfrm>
            <a:off x="12088368" y="6684264"/>
            <a:ext cx="3749040" cy="548640"/>
          </a:xfrm>
          <a:prstGeom prst="rect">
            <a:avLst/>
          </a:prstGeom>
          <a:noFill/>
        </p:spPr>
        <p:txBody>
          <a:bodyPr wrap="square" lIns="0" tIns="0" rIns="0" bIns="0" anchor="ctr">
            <a:spAutoFit/>
          </a:bodyPr>
          <a:lstStyle/>
          <a:p>
            <a:pPr algn="r" rtl="1"/>
            <a:r>
              <a:rPr lang="ar-SA" sz="2200" b="1">
                <a:solidFill>
                  <a:srgbClr val="2EF2C2"/>
                </a:solidFill>
                <a:latin typeface="Readex Pro"/>
                <a:ea typeface="Readex Pro"/>
                <a:cs typeface="Readex Pro"/>
                <a:sym typeface="Readex Pro"/>
              </a:rPr>
              <a:t>الرحمة والعطاء (8)</a:t>
            </a:r>
          </a:p>
        </p:txBody>
      </p:sp>
      <p:sp>
        <p:nvSpPr>
          <p:cNvPr id="603" name="Rounded Rectangle 602"/>
          <p:cNvSpPr/>
          <p:nvPr/>
        </p:nvSpPr>
        <p:spPr>
          <a:xfrm>
            <a:off x="15663672" y="7342632"/>
            <a:ext cx="10149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04" name="TextBox 603"/>
          <p:cNvSpPr txBox="1"/>
          <p:nvPr/>
        </p:nvSpPr>
        <p:spPr>
          <a:xfrm>
            <a:off x="15663672" y="7342632"/>
            <a:ext cx="10149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الرحمة</a:t>
            </a:r>
          </a:p>
        </p:txBody>
      </p:sp>
      <p:sp>
        <p:nvSpPr>
          <p:cNvPr id="605" name="Rounded Rectangle 604"/>
          <p:cNvSpPr/>
          <p:nvPr/>
        </p:nvSpPr>
        <p:spPr>
          <a:xfrm>
            <a:off x="13642848" y="7342632"/>
            <a:ext cx="19293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06" name="TextBox 605"/>
          <p:cNvSpPr txBox="1"/>
          <p:nvPr/>
        </p:nvSpPr>
        <p:spPr>
          <a:xfrm>
            <a:off x="13642848" y="7342632"/>
            <a:ext cx="19293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الرفق بالحيوان</a:t>
            </a:r>
          </a:p>
        </p:txBody>
      </p:sp>
      <p:sp>
        <p:nvSpPr>
          <p:cNvPr id="607" name="Rounded Rectangle 606"/>
          <p:cNvSpPr/>
          <p:nvPr/>
        </p:nvSpPr>
        <p:spPr>
          <a:xfrm>
            <a:off x="12650724" y="7342632"/>
            <a:ext cx="9006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08" name="TextBox 607"/>
          <p:cNvSpPr txBox="1"/>
          <p:nvPr/>
        </p:nvSpPr>
        <p:spPr>
          <a:xfrm>
            <a:off x="12650724" y="7342632"/>
            <a:ext cx="9006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الكرم</a:t>
            </a:r>
          </a:p>
        </p:txBody>
      </p:sp>
      <p:sp>
        <p:nvSpPr>
          <p:cNvPr id="609" name="Rounded Rectangle 608"/>
          <p:cNvSpPr/>
          <p:nvPr/>
        </p:nvSpPr>
        <p:spPr>
          <a:xfrm>
            <a:off x="15663672" y="7818120"/>
            <a:ext cx="10149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10" name="TextBox 609"/>
          <p:cNvSpPr txBox="1"/>
          <p:nvPr/>
        </p:nvSpPr>
        <p:spPr>
          <a:xfrm>
            <a:off x="15663672" y="7818120"/>
            <a:ext cx="10149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الصدقة</a:t>
            </a:r>
          </a:p>
        </p:txBody>
      </p:sp>
      <p:sp>
        <p:nvSpPr>
          <p:cNvPr id="611" name="Rounded Rectangle 610"/>
          <p:cNvSpPr/>
          <p:nvPr/>
        </p:nvSpPr>
        <p:spPr>
          <a:xfrm>
            <a:off x="13871448" y="7818120"/>
            <a:ext cx="17007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12" name="TextBox 611"/>
          <p:cNvSpPr txBox="1"/>
          <p:nvPr/>
        </p:nvSpPr>
        <p:spPr>
          <a:xfrm>
            <a:off x="13871448" y="7818120"/>
            <a:ext cx="17007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رعاية اليتيم</a:t>
            </a:r>
          </a:p>
        </p:txBody>
      </p:sp>
      <p:sp>
        <p:nvSpPr>
          <p:cNvPr id="613" name="Rounded Rectangle 612"/>
          <p:cNvSpPr/>
          <p:nvPr/>
        </p:nvSpPr>
        <p:spPr>
          <a:xfrm>
            <a:off x="14749272" y="8293608"/>
            <a:ext cx="19293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14" name="TextBox 613"/>
          <p:cNvSpPr txBox="1"/>
          <p:nvPr/>
        </p:nvSpPr>
        <p:spPr>
          <a:xfrm>
            <a:off x="14749272" y="8293608"/>
            <a:ext cx="19293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مساعدة الآخرين</a:t>
            </a:r>
          </a:p>
        </p:txBody>
      </p:sp>
      <p:sp>
        <p:nvSpPr>
          <p:cNvPr id="615" name="Rounded Rectangle 614"/>
          <p:cNvSpPr/>
          <p:nvPr/>
        </p:nvSpPr>
        <p:spPr>
          <a:xfrm>
            <a:off x="12957048" y="8293608"/>
            <a:ext cx="17007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16" name="TextBox 615"/>
          <p:cNvSpPr txBox="1"/>
          <p:nvPr/>
        </p:nvSpPr>
        <p:spPr>
          <a:xfrm>
            <a:off x="12957048" y="8293608"/>
            <a:ext cx="17007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عيادة المريض</a:t>
            </a:r>
          </a:p>
        </p:txBody>
      </p:sp>
      <p:sp>
        <p:nvSpPr>
          <p:cNvPr id="617" name="Rounded Rectangle 616"/>
          <p:cNvSpPr/>
          <p:nvPr/>
        </p:nvSpPr>
        <p:spPr>
          <a:xfrm>
            <a:off x="15549372" y="8769096"/>
            <a:ext cx="11292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18" name="TextBox 617"/>
          <p:cNvSpPr txBox="1"/>
          <p:nvPr/>
        </p:nvSpPr>
        <p:spPr>
          <a:xfrm>
            <a:off x="15549372" y="8769096"/>
            <a:ext cx="11292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التعاون</a:t>
            </a:r>
          </a:p>
        </p:txBody>
      </p:sp>
      <p:sp>
        <p:nvSpPr>
          <p:cNvPr id="619" name="Rounded Rectangle 618"/>
          <p:cNvSpPr/>
          <p:nvPr/>
        </p:nvSpPr>
        <p:spPr>
          <a:xfrm>
            <a:off x="6656832" y="6519672"/>
            <a:ext cx="4937760" cy="2798064"/>
          </a:xfrm>
          <a:prstGeom prst="roundRect">
            <a:avLst>
              <a:gd name="adj" fmla="val 6000"/>
            </a:avLst>
          </a:prstGeom>
          <a:solidFill>
            <a:srgbClr val="161D48"/>
          </a:solidFill>
          <a:ln w="12700">
            <a:solidFill>
              <a:srgbClr val="4A5590"/>
            </a:solidFill>
          </a:ln>
        </p:spPr>
        <p:txBody>
          <a:bodyPr rtlCol="0" anchor="ctr"/>
          <a:lstStyle/>
          <a:p>
            <a:endParaRPr/>
          </a:p>
        </p:txBody>
      </p:sp>
      <p:sp>
        <p:nvSpPr>
          <p:cNvPr id="620" name="Oval 619"/>
          <p:cNvSpPr/>
          <p:nvPr/>
        </p:nvSpPr>
        <p:spPr>
          <a:xfrm>
            <a:off x="10725912" y="6629400"/>
            <a:ext cx="658368" cy="658368"/>
          </a:xfrm>
          <a:prstGeom prst="ellipse">
            <a:avLst/>
          </a:prstGeom>
          <a:solidFill>
            <a:srgbClr val="2EF2C2">
              <a:alpha val="14000"/>
            </a:srgbClr>
          </a:solidFill>
          <a:ln w="12700">
            <a:noFill/>
          </a:ln>
        </p:spPr>
        <p:txBody>
          <a:bodyPr rtlCol="0" anchor="ctr"/>
          <a:lstStyle/>
          <a:p>
            <a:endParaRPr/>
          </a:p>
        </p:txBody>
      </p:sp>
      <p:pic>
        <p:nvPicPr>
          <p:cNvPr id="621" name="Picture 620" descr="FaSeedling-turq.png"/>
          <p:cNvPicPr>
            <a:picLocks noChangeAspect="1"/>
          </p:cNvPicPr>
          <p:nvPr/>
        </p:nvPicPr>
        <p:blipFill>
          <a:blip r:embed="rId9"/>
          <a:stretch>
            <a:fillRect/>
          </a:stretch>
        </p:blipFill>
        <p:spPr>
          <a:xfrm>
            <a:off x="10903671" y="6807159"/>
            <a:ext cx="302849" cy="302849"/>
          </a:xfrm>
          <a:prstGeom prst="rect">
            <a:avLst/>
          </a:prstGeom>
        </p:spPr>
      </p:pic>
      <p:sp>
        <p:nvSpPr>
          <p:cNvPr id="622" name="TextBox 621"/>
          <p:cNvSpPr txBox="1"/>
          <p:nvPr/>
        </p:nvSpPr>
        <p:spPr>
          <a:xfrm>
            <a:off x="6839712" y="6684264"/>
            <a:ext cx="3749040" cy="548640"/>
          </a:xfrm>
          <a:prstGeom prst="rect">
            <a:avLst/>
          </a:prstGeom>
          <a:noFill/>
        </p:spPr>
        <p:txBody>
          <a:bodyPr wrap="square" lIns="0" tIns="0" rIns="0" bIns="0" anchor="ctr">
            <a:spAutoFit/>
          </a:bodyPr>
          <a:lstStyle/>
          <a:p>
            <a:pPr algn="r" rtl="1"/>
            <a:r>
              <a:rPr lang="ar-SA" sz="2200" b="1">
                <a:solidFill>
                  <a:srgbClr val="2EF2C2"/>
                </a:solidFill>
                <a:latin typeface="Readex Pro"/>
                <a:ea typeface="Readex Pro"/>
                <a:cs typeface="Readex Pro"/>
                <a:sym typeface="Readex Pro"/>
              </a:rPr>
              <a:t>تهذيب النفس (7)</a:t>
            </a:r>
          </a:p>
        </p:txBody>
      </p:sp>
      <p:sp>
        <p:nvSpPr>
          <p:cNvPr id="623" name="Rounded Rectangle 622"/>
          <p:cNvSpPr/>
          <p:nvPr/>
        </p:nvSpPr>
        <p:spPr>
          <a:xfrm>
            <a:off x="10529316" y="7342632"/>
            <a:ext cx="9006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24" name="TextBox 623"/>
          <p:cNvSpPr txBox="1"/>
          <p:nvPr/>
        </p:nvSpPr>
        <p:spPr>
          <a:xfrm>
            <a:off x="10529316" y="7342632"/>
            <a:ext cx="9006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الصبر</a:t>
            </a:r>
          </a:p>
        </p:txBody>
      </p:sp>
      <p:sp>
        <p:nvSpPr>
          <p:cNvPr id="625" name="Rounded Rectangle 624"/>
          <p:cNvSpPr/>
          <p:nvPr/>
        </p:nvSpPr>
        <p:spPr>
          <a:xfrm>
            <a:off x="9079992" y="7342632"/>
            <a:ext cx="13578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26" name="TextBox 625"/>
          <p:cNvSpPr txBox="1"/>
          <p:nvPr/>
        </p:nvSpPr>
        <p:spPr>
          <a:xfrm>
            <a:off x="9079992" y="7342632"/>
            <a:ext cx="13578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كظم الغيظ</a:t>
            </a:r>
          </a:p>
        </p:txBody>
      </p:sp>
      <p:sp>
        <p:nvSpPr>
          <p:cNvPr id="627" name="Rounded Rectangle 626"/>
          <p:cNvSpPr/>
          <p:nvPr/>
        </p:nvSpPr>
        <p:spPr>
          <a:xfrm>
            <a:off x="8087868" y="7342632"/>
            <a:ext cx="9006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28" name="TextBox 627"/>
          <p:cNvSpPr txBox="1"/>
          <p:nvPr/>
        </p:nvSpPr>
        <p:spPr>
          <a:xfrm>
            <a:off x="8087868" y="7342632"/>
            <a:ext cx="9006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العفو</a:t>
            </a:r>
          </a:p>
        </p:txBody>
      </p:sp>
      <p:sp>
        <p:nvSpPr>
          <p:cNvPr id="629" name="Rounded Rectangle 628"/>
          <p:cNvSpPr/>
          <p:nvPr/>
        </p:nvSpPr>
        <p:spPr>
          <a:xfrm>
            <a:off x="6867144" y="7342632"/>
            <a:ext cx="11292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30" name="TextBox 629"/>
          <p:cNvSpPr txBox="1"/>
          <p:nvPr/>
        </p:nvSpPr>
        <p:spPr>
          <a:xfrm>
            <a:off x="6867144" y="7342632"/>
            <a:ext cx="11292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التواضع</a:t>
            </a:r>
          </a:p>
        </p:txBody>
      </p:sp>
      <p:sp>
        <p:nvSpPr>
          <p:cNvPr id="631" name="Rounded Rectangle 630"/>
          <p:cNvSpPr/>
          <p:nvPr/>
        </p:nvSpPr>
        <p:spPr>
          <a:xfrm>
            <a:off x="10300716" y="7818120"/>
            <a:ext cx="11292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32" name="TextBox 631"/>
          <p:cNvSpPr txBox="1"/>
          <p:nvPr/>
        </p:nvSpPr>
        <p:spPr>
          <a:xfrm>
            <a:off x="10300716" y="7818120"/>
            <a:ext cx="11292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القناعة</a:t>
            </a:r>
          </a:p>
        </p:txBody>
      </p:sp>
      <p:sp>
        <p:nvSpPr>
          <p:cNvPr id="633" name="Rounded Rectangle 632"/>
          <p:cNvSpPr/>
          <p:nvPr/>
        </p:nvSpPr>
        <p:spPr>
          <a:xfrm>
            <a:off x="9079992" y="7818120"/>
            <a:ext cx="11292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34" name="TextBox 633"/>
          <p:cNvSpPr txBox="1"/>
          <p:nvPr/>
        </p:nvSpPr>
        <p:spPr>
          <a:xfrm>
            <a:off x="9079992" y="7818120"/>
            <a:ext cx="11292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الشجاعة</a:t>
            </a:r>
          </a:p>
        </p:txBody>
      </p:sp>
      <p:sp>
        <p:nvSpPr>
          <p:cNvPr id="635" name="Rounded Rectangle 634"/>
          <p:cNvSpPr/>
          <p:nvPr/>
        </p:nvSpPr>
        <p:spPr>
          <a:xfrm>
            <a:off x="7402068" y="7818120"/>
            <a:ext cx="15864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36" name="TextBox 635"/>
          <p:cNvSpPr txBox="1"/>
          <p:nvPr/>
        </p:nvSpPr>
        <p:spPr>
          <a:xfrm>
            <a:off x="7402068" y="7818120"/>
            <a:ext cx="15864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عدم الإسراف</a:t>
            </a:r>
          </a:p>
        </p:txBody>
      </p:sp>
      <p:sp>
        <p:nvSpPr>
          <p:cNvPr id="637" name="Rounded Rectangle 636"/>
          <p:cNvSpPr/>
          <p:nvPr/>
        </p:nvSpPr>
        <p:spPr>
          <a:xfrm>
            <a:off x="1408176" y="6519672"/>
            <a:ext cx="4937760" cy="2798064"/>
          </a:xfrm>
          <a:prstGeom prst="roundRect">
            <a:avLst>
              <a:gd name="adj" fmla="val 6000"/>
            </a:avLst>
          </a:prstGeom>
          <a:solidFill>
            <a:srgbClr val="161D48"/>
          </a:solidFill>
          <a:ln w="12700">
            <a:solidFill>
              <a:srgbClr val="4A5590"/>
            </a:solidFill>
          </a:ln>
        </p:spPr>
        <p:txBody>
          <a:bodyPr rtlCol="0" anchor="ctr"/>
          <a:lstStyle/>
          <a:p>
            <a:endParaRPr/>
          </a:p>
        </p:txBody>
      </p:sp>
      <p:sp>
        <p:nvSpPr>
          <p:cNvPr id="638" name="Oval 637"/>
          <p:cNvSpPr/>
          <p:nvPr/>
        </p:nvSpPr>
        <p:spPr>
          <a:xfrm>
            <a:off x="5477256" y="6629400"/>
            <a:ext cx="658368" cy="658368"/>
          </a:xfrm>
          <a:prstGeom prst="ellipse">
            <a:avLst/>
          </a:prstGeom>
          <a:solidFill>
            <a:srgbClr val="2EF2C2">
              <a:alpha val="14000"/>
            </a:srgbClr>
          </a:solidFill>
          <a:ln w="12700">
            <a:noFill/>
          </a:ln>
        </p:spPr>
        <p:txBody>
          <a:bodyPr rtlCol="0" anchor="ctr"/>
          <a:lstStyle/>
          <a:p>
            <a:endParaRPr/>
          </a:p>
        </p:txBody>
      </p:sp>
      <p:pic>
        <p:nvPicPr>
          <p:cNvPr id="639" name="Picture 638" descr="FaStar-turq.png"/>
          <p:cNvPicPr>
            <a:picLocks noChangeAspect="1"/>
          </p:cNvPicPr>
          <p:nvPr/>
        </p:nvPicPr>
        <p:blipFill>
          <a:blip r:embed="rId10"/>
          <a:stretch>
            <a:fillRect/>
          </a:stretch>
        </p:blipFill>
        <p:spPr>
          <a:xfrm>
            <a:off x="5655015" y="6807159"/>
            <a:ext cx="302849" cy="302849"/>
          </a:xfrm>
          <a:prstGeom prst="rect">
            <a:avLst/>
          </a:prstGeom>
        </p:spPr>
      </p:pic>
      <p:sp>
        <p:nvSpPr>
          <p:cNvPr id="640" name="TextBox 639"/>
          <p:cNvSpPr txBox="1"/>
          <p:nvPr/>
        </p:nvSpPr>
        <p:spPr>
          <a:xfrm>
            <a:off x="1591056" y="6684264"/>
            <a:ext cx="3749040" cy="548640"/>
          </a:xfrm>
          <a:prstGeom prst="rect">
            <a:avLst/>
          </a:prstGeom>
          <a:noFill/>
        </p:spPr>
        <p:txBody>
          <a:bodyPr wrap="square" lIns="0" tIns="0" rIns="0" bIns="0" anchor="ctr">
            <a:spAutoFit/>
          </a:bodyPr>
          <a:lstStyle/>
          <a:p>
            <a:pPr algn="r" rtl="1"/>
            <a:r>
              <a:rPr lang="ar-SA" sz="2200" b="1">
                <a:solidFill>
                  <a:srgbClr val="2EF2C2"/>
                </a:solidFill>
                <a:latin typeface="Readex Pro"/>
                <a:ea typeface="Readex Pro"/>
                <a:cs typeface="Readex Pro"/>
                <a:sym typeface="Readex Pro"/>
              </a:rPr>
              <a:t>آداب يومية (5)</a:t>
            </a:r>
          </a:p>
        </p:txBody>
      </p:sp>
      <p:sp>
        <p:nvSpPr>
          <p:cNvPr id="641" name="Rounded Rectangle 640"/>
          <p:cNvSpPr/>
          <p:nvPr/>
        </p:nvSpPr>
        <p:spPr>
          <a:xfrm>
            <a:off x="5052060" y="7342632"/>
            <a:ext cx="11292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42" name="TextBox 641"/>
          <p:cNvSpPr txBox="1"/>
          <p:nvPr/>
        </p:nvSpPr>
        <p:spPr>
          <a:xfrm>
            <a:off x="5052060" y="7342632"/>
            <a:ext cx="11292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النظافة</a:t>
            </a:r>
          </a:p>
        </p:txBody>
      </p:sp>
      <p:sp>
        <p:nvSpPr>
          <p:cNvPr id="643" name="Rounded Rectangle 642"/>
          <p:cNvSpPr/>
          <p:nvPr/>
        </p:nvSpPr>
        <p:spPr>
          <a:xfrm>
            <a:off x="3374136" y="7342632"/>
            <a:ext cx="15864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44" name="TextBox 643"/>
          <p:cNvSpPr txBox="1"/>
          <p:nvPr/>
        </p:nvSpPr>
        <p:spPr>
          <a:xfrm>
            <a:off x="3374136" y="7342632"/>
            <a:ext cx="15864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آداب الطعام</a:t>
            </a:r>
          </a:p>
        </p:txBody>
      </p:sp>
      <p:sp>
        <p:nvSpPr>
          <p:cNvPr id="645" name="Rounded Rectangle 644"/>
          <p:cNvSpPr/>
          <p:nvPr/>
        </p:nvSpPr>
        <p:spPr>
          <a:xfrm>
            <a:off x="4366260" y="7818120"/>
            <a:ext cx="18150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46" name="TextBox 645"/>
          <p:cNvSpPr txBox="1"/>
          <p:nvPr/>
        </p:nvSpPr>
        <p:spPr>
          <a:xfrm>
            <a:off x="4366260" y="7818120"/>
            <a:ext cx="18150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الكلمة الطيبة</a:t>
            </a:r>
          </a:p>
        </p:txBody>
      </p:sp>
      <p:sp>
        <p:nvSpPr>
          <p:cNvPr id="647" name="Rounded Rectangle 646"/>
          <p:cNvSpPr/>
          <p:nvPr/>
        </p:nvSpPr>
        <p:spPr>
          <a:xfrm>
            <a:off x="2916936" y="7818120"/>
            <a:ext cx="13578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48" name="TextBox 647"/>
          <p:cNvSpPr txBox="1"/>
          <p:nvPr/>
        </p:nvSpPr>
        <p:spPr>
          <a:xfrm>
            <a:off x="2916936" y="7818120"/>
            <a:ext cx="13578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حسن الخلق</a:t>
            </a:r>
          </a:p>
        </p:txBody>
      </p:sp>
      <p:sp>
        <p:nvSpPr>
          <p:cNvPr id="649" name="Rounded Rectangle 648"/>
          <p:cNvSpPr/>
          <p:nvPr/>
        </p:nvSpPr>
        <p:spPr>
          <a:xfrm>
            <a:off x="4823460" y="8293608"/>
            <a:ext cx="1357884" cy="438912"/>
          </a:xfrm>
          <a:prstGeom prst="roundRect">
            <a:avLst>
              <a:gd name="adj" fmla="val 50000"/>
            </a:avLst>
          </a:prstGeom>
          <a:solidFill>
            <a:srgbClr val="6150EA">
              <a:alpha val="35000"/>
            </a:srgbClr>
          </a:solidFill>
          <a:ln w="12700">
            <a:noFill/>
          </a:ln>
        </p:spPr>
        <p:txBody>
          <a:bodyPr rtlCol="0" anchor="ctr"/>
          <a:lstStyle/>
          <a:p>
            <a:endParaRPr/>
          </a:p>
        </p:txBody>
      </p:sp>
      <p:sp>
        <p:nvSpPr>
          <p:cNvPr id="650" name="TextBox 649"/>
          <p:cNvSpPr txBox="1"/>
          <p:nvPr/>
        </p:nvSpPr>
        <p:spPr>
          <a:xfrm>
            <a:off x="4823460" y="8293608"/>
            <a:ext cx="1357884" cy="438912"/>
          </a:xfrm>
          <a:prstGeom prst="rect">
            <a:avLst/>
          </a:prstGeom>
          <a:noFill/>
        </p:spPr>
        <p:txBody>
          <a:bodyPr wrap="square" lIns="0" tIns="0" rIns="0" bIns="0" anchor="ctr">
            <a:spAutoFit/>
          </a:bodyPr>
          <a:lstStyle/>
          <a:p>
            <a:pPr algn="ctr" rtl="1"/>
            <a:r>
              <a:rPr lang="ar-SA" sz="1800" b="0">
                <a:solidFill>
                  <a:srgbClr val="F2F4FF"/>
                </a:solidFill>
                <a:latin typeface="Readex Pro"/>
                <a:ea typeface="Readex Pro"/>
                <a:cs typeface="Readex Pro"/>
                <a:sym typeface="Readex Pro"/>
              </a:rPr>
              <a:t>طلب العلم</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4FF"/>
        </a:solidFill>
        <a:effectLst/>
      </p:bgPr>
    </p:bg>
    <p:spTree>
      <p:nvGrpSpPr>
        <p:cNvPr id="1" name=""/>
        <p:cNvGrpSpPr/>
        <p:nvPr/>
      </p:nvGrpSpPr>
      <p:grpSpPr>
        <a:xfrm>
          <a:off x="0" y="0"/>
          <a:ext cx="0" cy="0"/>
          <a:chOff x="0" y="0"/>
          <a:chExt cx="0" cy="0"/>
        </a:xfrm>
      </p:grpSpPr>
      <p:pic>
        <p:nvPicPr>
          <p:cNvPr id="626" name="Google Shape;626;p16" title="خلفية هكثون5.png"/>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627" name="Google Shape;627;p16"/>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11</a:t>
            </a:fld>
            <a:endParaRPr/>
          </a:p>
        </p:txBody>
      </p:sp>
      <p:sp>
        <p:nvSpPr>
          <p:cNvPr id="628" name="Google Shape;628;p16"/>
          <p:cNvSpPr txBox="1">
            <a:spLocks noGrp="1"/>
          </p:cNvSpPr>
          <p:nvPr>
            <p:ph type="title"/>
          </p:nvPr>
        </p:nvSpPr>
        <p:spPr>
          <a:xfrm>
            <a:off x="2476500" y="3143250"/>
            <a:ext cx="13335000" cy="295275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5550"/>
              <a:buNone/>
            </a:pPr>
            <a:r>
              <a:rPr lang="ar-SA" sz="5550" b="1" dirty="0">
                <a:solidFill>
                  <a:srgbClr val="12183F"/>
                </a:solidFill>
                <a:latin typeface="Readex Pro"/>
                <a:ea typeface="Readex Pro"/>
                <a:cs typeface="Readex Pro"/>
                <a:sym typeface="Readex Pro"/>
              </a:rPr>
              <a:t>لا مصدر، لا جواب</a:t>
            </a:r>
          </a:p>
          <a:p>
            <a:pPr algn="ctr">
              <a:buSzPts val="5550"/>
            </a:pPr>
            <a:r>
              <a:rPr lang="ar-SA" sz="5550" b="1" dirty="0">
                <a:solidFill>
                  <a:srgbClr val="12183F"/>
                </a:solidFill>
                <a:latin typeface="Readex Pro"/>
                <a:ea typeface="Readex Pro"/>
                <a:cs typeface="Readex Pro"/>
                <a:sym typeface="Readex Pro"/>
              </a:rPr>
              <a:t>ولا فتوى، ولا نص يكتب من </a:t>
            </a:r>
            <a:r>
              <a:rPr lang="ar-SA" sz="5550" b="1" dirty="0">
                <a:solidFill>
                  <a:srgbClr val="12183F"/>
                </a:solidFill>
              </a:rPr>
              <a:t>ذاكرة </a:t>
            </a:r>
            <a:r>
              <a:rPr lang="ar-SA" sz="5550" b="1" dirty="0" err="1">
                <a:solidFill>
                  <a:srgbClr val="12183F"/>
                </a:solidFill>
              </a:rPr>
              <a:t>الAI</a:t>
            </a:r>
            <a:endParaRPr lang="ar-SA" sz="5550" b="1" dirty="0" err="1">
              <a:solidFill>
                <a:srgbClr val="12183F"/>
              </a:solidFill>
              <a:latin typeface="Readex Pro"/>
              <a:ea typeface="Readex Pro"/>
              <a:cs typeface="Readex Pro"/>
            </a:endParaRPr>
          </a:p>
        </p:txBody>
      </p:sp>
      <p:sp>
        <p:nvSpPr>
          <p:cNvPr id="629" name="Google Shape;629;p16"/>
          <p:cNvSpPr txBox="1">
            <a:spLocks noGrp="1"/>
          </p:cNvSpPr>
          <p:nvPr>
            <p:ph type="body" idx="1"/>
          </p:nvPr>
        </p:nvSpPr>
        <p:spPr>
          <a:xfrm>
            <a:off x="2478024" y="6905625"/>
            <a:ext cx="13331952" cy="109728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0">
                <a:solidFill>
                  <a:srgbClr val="6150EA"/>
                </a:solidFill>
                <a:latin typeface="Readex Pro"/>
                <a:ea typeface="Readex Pro"/>
                <a:cs typeface="Readex Pro"/>
                <a:sym typeface="Readex Pro"/>
              </a:rPr>
              <a:t>إن لم يجد الصديق عنصرا مراجعا في البنك، يقول إنه لا يجد مصدرا موثوقا، ولا يكتب من ذاكرته</a:t>
            </a:r>
          </a:p>
        </p:txBody>
      </p:sp>
      <p:sp>
        <p:nvSpPr>
          <p:cNvPr id="630" name="Google Shape;630;p16"/>
          <p:cNvSpPr txBox="1">
            <a:spLocks noGrp="1"/>
          </p:cNvSpPr>
          <p:nvPr>
            <p:ph type="body" idx="2"/>
          </p:nvPr>
        </p:nvSpPr>
        <p:spPr>
          <a:xfrm>
            <a:off x="3333750" y="8239125"/>
            <a:ext cx="11620500" cy="5238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1950"/>
              <a:buNone/>
            </a:pPr>
            <a:r>
              <a:rPr lang="ar-SA" sz="1950" b="0">
                <a:solidFill>
                  <a:srgbClr val="4A5590"/>
                </a:solidFill>
                <a:latin typeface="Readex Pro"/>
                <a:ea typeface="Readex Pro"/>
                <a:cs typeface="Readex Pro"/>
                <a:sym typeface="Readex Pro"/>
              </a:rPr>
              <a:t>القرار 3 في خطة المشروع</a:t>
            </a:r>
          </a:p>
        </p:txBody>
      </p:sp>
      <p:pic>
        <p:nvPicPr>
          <p:cNvPr id="631" name="Google Shape;631;p16" title="شعار تحدي الذكاء.png"/>
          <p:cNvPicPr preferRelativeResize="0"/>
          <p:nvPr/>
        </p:nvPicPr>
        <p:blipFill>
          <a:blip r:embed="rId3">
            <a:alphaModFix/>
          </a:blip>
          <a:stretch>
            <a:fillRect/>
          </a:stretch>
        </p:blipFill>
        <p:spPr>
          <a:xfrm>
            <a:off x="1015225" y="572270"/>
            <a:ext cx="3490299" cy="1109450"/>
          </a:xfrm>
          <a:prstGeom prst="rect">
            <a:avLst/>
          </a:prstGeom>
          <a:noFill/>
          <a:ln>
            <a:noFill/>
          </a:ln>
        </p:spPr>
      </p:pic>
      <p:sp>
        <p:nvSpPr>
          <p:cNvPr id="632" name="TextBox 631"/>
          <p:cNvSpPr txBox="1"/>
          <p:nvPr/>
        </p:nvSpPr>
        <p:spPr>
          <a:xfrm>
            <a:off x="10360152" y="1024128"/>
            <a:ext cx="6473952" cy="420624"/>
          </a:xfrm>
          <a:prstGeom prst="rect">
            <a:avLst/>
          </a:prstGeom>
          <a:noFill/>
        </p:spPr>
        <p:txBody>
          <a:bodyPr wrap="square" lIns="0" tIns="0" rIns="0" bIns="0" anchor="t">
            <a:spAutoFit/>
          </a:bodyPr>
          <a:lstStyle/>
          <a:p>
            <a:pPr algn="r" rtl="1"/>
            <a:r>
              <a:rPr lang="ar-SA" sz="1800" b="0">
                <a:solidFill>
                  <a:srgbClr val="6150EA"/>
                </a:solidFill>
                <a:latin typeface="Readex Pro"/>
                <a:ea typeface="Readex Pro"/>
                <a:cs typeface="Readex Pro"/>
                <a:sym typeface="Readex Pro"/>
              </a:rPr>
              <a:t>06 · مصادر موثوقة · معيار الموثوقية</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06 · مصادر موثوقة · معيار الموثوقية</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a:buSzPts val="4500"/>
            </a:pPr>
            <a:r>
              <a:rPr lang="ar-SA" sz="4500" b="1" dirty="0">
                <a:solidFill>
                  <a:srgbClr val="F2F4FF"/>
                </a:solidFill>
                <a:latin typeface="Readex Pro"/>
                <a:ea typeface="Readex Pro"/>
                <a:cs typeface="Readex Pro"/>
                <a:sym typeface="Readex Pro"/>
              </a:rPr>
              <a:t>مصادر معتمدة فقط: 273 عنصرا مراجعا</a:t>
            </a:r>
            <a:r>
              <a:rPr lang="ar-SA" sz="4500" b="1" dirty="0">
                <a:solidFill>
                  <a:srgbClr val="F2F4FF"/>
                </a:solidFill>
              </a:rPr>
              <a:t> من طالب علم</a:t>
            </a:r>
            <a:endParaRPr lang="ar-SA" sz="4500" b="1" dirty="0">
              <a:solidFill>
                <a:srgbClr val="F2F4FF"/>
              </a:solidFill>
              <a:latin typeface="Readex Pro"/>
              <a:ea typeface="Readex Pro"/>
              <a:cs typeface="Readex Pro"/>
              <a:sym typeface="Readex Pro"/>
            </a:endParaRP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12</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Rounded Rectangle 550"/>
          <p:cNvSpPr/>
          <p:nvPr/>
        </p:nvSpPr>
        <p:spPr>
          <a:xfrm>
            <a:off x="11905488" y="3429000"/>
            <a:ext cx="4937760" cy="242316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52" name="TextBox 551"/>
          <p:cNvSpPr txBox="1"/>
          <p:nvPr/>
        </p:nvSpPr>
        <p:spPr>
          <a:xfrm>
            <a:off x="15151608" y="3657600"/>
            <a:ext cx="1463040" cy="914400"/>
          </a:xfrm>
          <a:prstGeom prst="rect">
            <a:avLst/>
          </a:prstGeom>
          <a:noFill/>
        </p:spPr>
        <p:txBody>
          <a:bodyPr wrap="square" lIns="0" tIns="0" rIns="0" bIns="0" anchor="t">
            <a:spAutoFit/>
          </a:bodyPr>
          <a:lstStyle/>
          <a:p>
            <a:pPr algn="r" rtl="1"/>
            <a:r>
              <a:rPr lang="ar-SA" sz="4400" b="1">
                <a:solidFill>
                  <a:srgbClr val="2EF2C2"/>
                </a:solidFill>
                <a:latin typeface="Readex Pro"/>
                <a:ea typeface="Readex Pro"/>
                <a:cs typeface="Readex Pro"/>
                <a:sym typeface="Readex Pro"/>
              </a:rPr>
              <a:t>74</a:t>
            </a:r>
          </a:p>
        </p:txBody>
      </p:sp>
      <p:sp>
        <p:nvSpPr>
          <p:cNvPr id="553" name="TextBox 552"/>
          <p:cNvSpPr txBox="1"/>
          <p:nvPr/>
        </p:nvSpPr>
        <p:spPr>
          <a:xfrm>
            <a:off x="12741629" y="3660895"/>
            <a:ext cx="2926080" cy="731520"/>
          </a:xfrm>
          <a:prstGeom prst="rect">
            <a:avLst/>
          </a:prstGeom>
          <a:noFill/>
        </p:spPr>
        <p:txBody>
          <a:bodyPr wrap="square" lIns="0" tIns="0" rIns="0" bIns="0" anchor="ctr">
            <a:spAutoFit/>
          </a:bodyPr>
          <a:lstStyle/>
          <a:p>
            <a:pPr algn="r" rtl="1"/>
            <a:r>
              <a:rPr lang="ar-SA" sz="2200" b="1">
                <a:solidFill>
                  <a:srgbClr val="F2F4FF"/>
                </a:solidFill>
                <a:latin typeface="Readex Pro"/>
                <a:ea typeface="Readex Pro"/>
                <a:cs typeface="Readex Pro"/>
                <a:sym typeface="Readex Pro"/>
              </a:rPr>
              <a:t>آية</a:t>
            </a:r>
          </a:p>
        </p:txBody>
      </p:sp>
      <p:sp>
        <p:nvSpPr>
          <p:cNvPr id="554" name="TextBox 553"/>
          <p:cNvSpPr txBox="1"/>
          <p:nvPr/>
        </p:nvSpPr>
        <p:spPr>
          <a:xfrm>
            <a:off x="12134088" y="4754880"/>
            <a:ext cx="4480560" cy="91440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نص مجمع الملك فهد عبر Quranpedia</a:t>
            </a:r>
          </a:p>
        </p:txBody>
      </p:sp>
      <p:sp>
        <p:nvSpPr>
          <p:cNvPr id="555" name="Rounded Rectangle 554"/>
          <p:cNvSpPr/>
          <p:nvPr/>
        </p:nvSpPr>
        <p:spPr>
          <a:xfrm>
            <a:off x="6656832" y="3429000"/>
            <a:ext cx="4937760" cy="242316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56" name="TextBox 555"/>
          <p:cNvSpPr txBox="1"/>
          <p:nvPr/>
        </p:nvSpPr>
        <p:spPr>
          <a:xfrm>
            <a:off x="9902952" y="3657600"/>
            <a:ext cx="1463040" cy="914400"/>
          </a:xfrm>
          <a:prstGeom prst="rect">
            <a:avLst/>
          </a:prstGeom>
          <a:noFill/>
        </p:spPr>
        <p:txBody>
          <a:bodyPr wrap="square" lIns="0" tIns="0" rIns="0" bIns="0" anchor="t">
            <a:spAutoFit/>
          </a:bodyPr>
          <a:lstStyle/>
          <a:p>
            <a:pPr algn="r" rtl="1"/>
            <a:r>
              <a:rPr lang="ar-SA" sz="4400" b="1">
                <a:solidFill>
                  <a:srgbClr val="2EF2C2"/>
                </a:solidFill>
                <a:latin typeface="Readex Pro"/>
                <a:ea typeface="Readex Pro"/>
                <a:cs typeface="Readex Pro"/>
                <a:sym typeface="Readex Pro"/>
              </a:rPr>
              <a:t>94</a:t>
            </a:r>
          </a:p>
        </p:txBody>
      </p:sp>
      <p:sp>
        <p:nvSpPr>
          <p:cNvPr id="557" name="TextBox 556"/>
          <p:cNvSpPr txBox="1"/>
          <p:nvPr/>
        </p:nvSpPr>
        <p:spPr>
          <a:xfrm>
            <a:off x="7657729" y="3660895"/>
            <a:ext cx="2926080" cy="731520"/>
          </a:xfrm>
          <a:prstGeom prst="rect">
            <a:avLst/>
          </a:prstGeom>
          <a:noFill/>
        </p:spPr>
        <p:txBody>
          <a:bodyPr wrap="square" lIns="0" tIns="0" rIns="0" bIns="0" anchor="ctr">
            <a:spAutoFit/>
          </a:bodyPr>
          <a:lstStyle/>
          <a:p>
            <a:pPr algn="r" rtl="1"/>
            <a:r>
              <a:rPr lang="ar-SA" sz="2200" b="1">
                <a:solidFill>
                  <a:srgbClr val="F2F4FF"/>
                </a:solidFill>
                <a:latin typeface="Readex Pro"/>
                <a:ea typeface="Readex Pro"/>
                <a:cs typeface="Readex Pro"/>
                <a:sym typeface="Readex Pro"/>
              </a:rPr>
              <a:t>حديثا</a:t>
            </a:r>
          </a:p>
        </p:txBody>
      </p:sp>
      <p:sp>
        <p:nvSpPr>
          <p:cNvPr id="558" name="TextBox 557"/>
          <p:cNvSpPr txBox="1"/>
          <p:nvPr/>
        </p:nvSpPr>
        <p:spPr>
          <a:xfrm>
            <a:off x="6885432" y="4754880"/>
            <a:ext cx="4480560" cy="91440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البخاري 60 ومسلم 34، من الدرر السنية</a:t>
            </a:r>
          </a:p>
        </p:txBody>
      </p:sp>
      <p:sp>
        <p:nvSpPr>
          <p:cNvPr id="559" name="Rounded Rectangle 558"/>
          <p:cNvSpPr/>
          <p:nvPr/>
        </p:nvSpPr>
        <p:spPr>
          <a:xfrm>
            <a:off x="1408176" y="3429000"/>
            <a:ext cx="4937760" cy="242316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60" name="TextBox 559"/>
          <p:cNvSpPr txBox="1"/>
          <p:nvPr/>
        </p:nvSpPr>
        <p:spPr>
          <a:xfrm>
            <a:off x="4654296" y="3657600"/>
            <a:ext cx="1463040" cy="914400"/>
          </a:xfrm>
          <a:prstGeom prst="rect">
            <a:avLst/>
          </a:prstGeom>
          <a:noFill/>
        </p:spPr>
        <p:txBody>
          <a:bodyPr wrap="square" lIns="0" tIns="0" rIns="0" bIns="0" anchor="t">
            <a:spAutoFit/>
          </a:bodyPr>
          <a:lstStyle/>
          <a:p>
            <a:pPr algn="r" rtl="1"/>
            <a:r>
              <a:rPr lang="ar-SA" sz="4400" b="1">
                <a:solidFill>
                  <a:srgbClr val="2EF2C2"/>
                </a:solidFill>
                <a:latin typeface="Readex Pro"/>
                <a:ea typeface="Readex Pro"/>
                <a:cs typeface="Readex Pro"/>
                <a:sym typeface="Readex Pro"/>
              </a:rPr>
              <a:t>50</a:t>
            </a:r>
          </a:p>
        </p:txBody>
      </p:sp>
      <p:sp>
        <p:nvSpPr>
          <p:cNvPr id="561" name="TextBox 560"/>
          <p:cNvSpPr txBox="1"/>
          <p:nvPr/>
        </p:nvSpPr>
        <p:spPr>
          <a:xfrm>
            <a:off x="2419371" y="3660895"/>
            <a:ext cx="2926080" cy="731520"/>
          </a:xfrm>
          <a:prstGeom prst="rect">
            <a:avLst/>
          </a:prstGeom>
          <a:noFill/>
        </p:spPr>
        <p:txBody>
          <a:bodyPr wrap="square" lIns="0" tIns="0" rIns="0" bIns="0" anchor="ctr">
            <a:spAutoFit/>
          </a:bodyPr>
          <a:lstStyle/>
          <a:p>
            <a:pPr algn="r" rtl="1"/>
            <a:r>
              <a:rPr lang="ar-SA" sz="2200" b="1">
                <a:solidFill>
                  <a:srgbClr val="F2F4FF"/>
                </a:solidFill>
                <a:latin typeface="Readex Pro"/>
                <a:ea typeface="Readex Pro"/>
                <a:cs typeface="Readex Pro"/>
                <a:sym typeface="Readex Pro"/>
              </a:rPr>
              <a:t>تفسيرا وعقيدة وفقها وسيرة</a:t>
            </a:r>
          </a:p>
        </p:txBody>
      </p:sp>
      <p:sp>
        <p:nvSpPr>
          <p:cNvPr id="562" name="TextBox 561"/>
          <p:cNvSpPr txBox="1"/>
          <p:nvPr/>
        </p:nvSpPr>
        <p:spPr>
          <a:xfrm>
            <a:off x="1636776" y="4754880"/>
            <a:ext cx="4480560" cy="91440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موسوعات الدرر السنية</a:t>
            </a:r>
          </a:p>
        </p:txBody>
      </p:sp>
      <p:sp>
        <p:nvSpPr>
          <p:cNvPr id="563" name="Rounded Rectangle 562"/>
          <p:cNvSpPr/>
          <p:nvPr/>
        </p:nvSpPr>
        <p:spPr>
          <a:xfrm>
            <a:off x="11905488" y="6163056"/>
            <a:ext cx="4937760" cy="242316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64" name="TextBox 563"/>
          <p:cNvSpPr txBox="1"/>
          <p:nvPr/>
        </p:nvSpPr>
        <p:spPr>
          <a:xfrm>
            <a:off x="15151608" y="6391656"/>
            <a:ext cx="1463040" cy="914400"/>
          </a:xfrm>
          <a:prstGeom prst="rect">
            <a:avLst/>
          </a:prstGeom>
          <a:noFill/>
        </p:spPr>
        <p:txBody>
          <a:bodyPr wrap="square" lIns="0" tIns="0" rIns="0" bIns="0" anchor="t">
            <a:spAutoFit/>
          </a:bodyPr>
          <a:lstStyle/>
          <a:p>
            <a:pPr algn="r" rtl="1"/>
            <a:r>
              <a:rPr lang="ar-SA" sz="4400" b="1">
                <a:solidFill>
                  <a:srgbClr val="2EF2C2"/>
                </a:solidFill>
                <a:latin typeface="Readex Pro"/>
                <a:ea typeface="Readex Pro"/>
                <a:cs typeface="Readex Pro"/>
                <a:sym typeface="Readex Pro"/>
              </a:rPr>
              <a:t>32</a:t>
            </a:r>
          </a:p>
        </p:txBody>
      </p:sp>
      <p:sp>
        <p:nvSpPr>
          <p:cNvPr id="565" name="TextBox 564"/>
          <p:cNvSpPr txBox="1"/>
          <p:nvPr/>
        </p:nvSpPr>
        <p:spPr>
          <a:xfrm>
            <a:off x="12741628" y="6333167"/>
            <a:ext cx="2926080" cy="731520"/>
          </a:xfrm>
          <a:prstGeom prst="rect">
            <a:avLst/>
          </a:prstGeom>
          <a:noFill/>
        </p:spPr>
        <p:txBody>
          <a:bodyPr wrap="square" lIns="0" tIns="0" rIns="0" bIns="0" anchor="ctr">
            <a:spAutoFit/>
          </a:bodyPr>
          <a:lstStyle/>
          <a:p>
            <a:pPr algn="r" rtl="1"/>
            <a:r>
              <a:rPr lang="ar-SA" sz="2200" b="1">
                <a:solidFill>
                  <a:srgbClr val="F2F4FF"/>
                </a:solidFill>
                <a:latin typeface="Readex Pro"/>
                <a:ea typeface="Readex Pro"/>
                <a:cs typeface="Readex Pro"/>
                <a:sym typeface="Readex Pro"/>
              </a:rPr>
              <a:t>مصطلحا</a:t>
            </a:r>
          </a:p>
        </p:txBody>
      </p:sp>
      <p:sp>
        <p:nvSpPr>
          <p:cNvPr id="566" name="TextBox 565"/>
          <p:cNvSpPr txBox="1"/>
          <p:nvPr/>
        </p:nvSpPr>
        <p:spPr>
          <a:xfrm>
            <a:off x="12134088" y="7488936"/>
            <a:ext cx="4480560" cy="91440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معجم الجمهرة</a:t>
            </a:r>
          </a:p>
        </p:txBody>
      </p:sp>
      <p:sp>
        <p:nvSpPr>
          <p:cNvPr id="567" name="Rounded Rectangle 566"/>
          <p:cNvSpPr/>
          <p:nvPr/>
        </p:nvSpPr>
        <p:spPr>
          <a:xfrm>
            <a:off x="6656832" y="6163056"/>
            <a:ext cx="4937760" cy="242316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68" name="TextBox 567"/>
          <p:cNvSpPr txBox="1"/>
          <p:nvPr/>
        </p:nvSpPr>
        <p:spPr>
          <a:xfrm>
            <a:off x="9902952" y="6391656"/>
            <a:ext cx="1463040" cy="914400"/>
          </a:xfrm>
          <a:prstGeom prst="rect">
            <a:avLst/>
          </a:prstGeom>
          <a:noFill/>
        </p:spPr>
        <p:txBody>
          <a:bodyPr wrap="square" lIns="0" tIns="0" rIns="0" bIns="0" anchor="t">
            <a:spAutoFit/>
          </a:bodyPr>
          <a:lstStyle/>
          <a:p>
            <a:pPr algn="r" rtl="1"/>
            <a:r>
              <a:rPr lang="ar-SA" sz="4400" b="1">
                <a:solidFill>
                  <a:srgbClr val="2EF2C2"/>
                </a:solidFill>
                <a:latin typeface="Readex Pro"/>
                <a:ea typeface="Readex Pro"/>
                <a:cs typeface="Readex Pro"/>
                <a:sym typeface="Readex Pro"/>
              </a:rPr>
              <a:t>23</a:t>
            </a:r>
          </a:p>
        </p:txBody>
      </p:sp>
      <p:sp>
        <p:nvSpPr>
          <p:cNvPr id="569" name="TextBox 568"/>
          <p:cNvSpPr txBox="1"/>
          <p:nvPr/>
        </p:nvSpPr>
        <p:spPr>
          <a:xfrm>
            <a:off x="7678324" y="6333167"/>
            <a:ext cx="2926080" cy="731520"/>
          </a:xfrm>
          <a:prstGeom prst="rect">
            <a:avLst/>
          </a:prstGeom>
          <a:noFill/>
        </p:spPr>
        <p:txBody>
          <a:bodyPr wrap="square" lIns="0" tIns="0" rIns="0" bIns="0" anchor="ctr">
            <a:spAutoFit/>
          </a:bodyPr>
          <a:lstStyle/>
          <a:p>
            <a:pPr algn="r" rtl="1"/>
            <a:r>
              <a:rPr lang="ar-SA" sz="2200" b="1">
                <a:solidFill>
                  <a:srgbClr val="F2F4FF"/>
                </a:solidFill>
                <a:latin typeface="Readex Pro"/>
                <a:ea typeface="Readex Pro"/>
                <a:cs typeface="Readex Pro"/>
                <a:sym typeface="Readex Pro"/>
              </a:rPr>
              <a:t>سؤالا شائعا</a:t>
            </a:r>
          </a:p>
        </p:txBody>
      </p:sp>
      <p:sp>
        <p:nvSpPr>
          <p:cNvPr id="570" name="TextBox 569"/>
          <p:cNvSpPr txBox="1"/>
          <p:nvPr/>
        </p:nvSpPr>
        <p:spPr>
          <a:xfrm>
            <a:off x="6885432" y="7488936"/>
            <a:ext cx="4480560" cy="91440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كتاب بينات</a:t>
            </a:r>
          </a:p>
        </p:txBody>
      </p:sp>
      <p:sp>
        <p:nvSpPr>
          <p:cNvPr id="571" name="Rounded Rectangle 570"/>
          <p:cNvSpPr/>
          <p:nvPr/>
        </p:nvSpPr>
        <p:spPr>
          <a:xfrm>
            <a:off x="1408176" y="6163056"/>
            <a:ext cx="4937760" cy="2423160"/>
          </a:xfrm>
          <a:prstGeom prst="roundRect">
            <a:avLst>
              <a:gd name="adj" fmla="val 7000"/>
            </a:avLst>
          </a:prstGeom>
          <a:solidFill>
            <a:srgbClr val="161D48"/>
          </a:solidFill>
          <a:ln w="12700">
            <a:solidFill>
              <a:srgbClr val="2EF2C2"/>
            </a:solidFill>
          </a:ln>
        </p:spPr>
        <p:txBody>
          <a:bodyPr rtlCol="0" anchor="ctr"/>
          <a:lstStyle/>
          <a:p>
            <a:endParaRPr/>
          </a:p>
        </p:txBody>
      </p:sp>
      <p:sp>
        <p:nvSpPr>
          <p:cNvPr id="572" name="Oval 571"/>
          <p:cNvSpPr/>
          <p:nvPr/>
        </p:nvSpPr>
        <p:spPr>
          <a:xfrm>
            <a:off x="5202936" y="6391656"/>
            <a:ext cx="914400" cy="914400"/>
          </a:xfrm>
          <a:prstGeom prst="ellipse">
            <a:avLst/>
          </a:prstGeom>
          <a:solidFill>
            <a:srgbClr val="2EF2C2">
              <a:alpha val="14000"/>
            </a:srgbClr>
          </a:solidFill>
          <a:ln w="12700">
            <a:noFill/>
          </a:ln>
        </p:spPr>
        <p:txBody>
          <a:bodyPr rtlCol="0" anchor="ctr"/>
          <a:lstStyle/>
          <a:p>
            <a:endParaRPr/>
          </a:p>
        </p:txBody>
      </p:sp>
      <p:pic>
        <p:nvPicPr>
          <p:cNvPr id="573" name="Picture 572" descr="FaVolumeHigh-turq.png"/>
          <p:cNvPicPr>
            <a:picLocks noChangeAspect="1"/>
          </p:cNvPicPr>
          <p:nvPr/>
        </p:nvPicPr>
        <p:blipFill>
          <a:blip r:embed="rId5"/>
          <a:stretch>
            <a:fillRect/>
          </a:stretch>
        </p:blipFill>
        <p:spPr>
          <a:xfrm>
            <a:off x="5449824" y="6638544"/>
            <a:ext cx="420624" cy="420624"/>
          </a:xfrm>
          <a:prstGeom prst="rect">
            <a:avLst/>
          </a:prstGeom>
        </p:spPr>
      </p:pic>
      <p:sp>
        <p:nvSpPr>
          <p:cNvPr id="574" name="TextBox 573"/>
          <p:cNvSpPr txBox="1"/>
          <p:nvPr/>
        </p:nvSpPr>
        <p:spPr>
          <a:xfrm>
            <a:off x="1636776" y="6394951"/>
            <a:ext cx="3474720" cy="731520"/>
          </a:xfrm>
          <a:prstGeom prst="rect">
            <a:avLst/>
          </a:prstGeom>
          <a:noFill/>
        </p:spPr>
        <p:txBody>
          <a:bodyPr wrap="square" lIns="0" tIns="0" rIns="0" bIns="0" anchor="ctr">
            <a:spAutoFit/>
          </a:bodyPr>
          <a:lstStyle/>
          <a:p>
            <a:pPr algn="r" rtl="1"/>
            <a:r>
              <a:rPr lang="ar-SA" sz="2200" b="1">
                <a:solidFill>
                  <a:srgbClr val="F2F4FF"/>
                </a:solidFill>
                <a:latin typeface="Readex Pro"/>
                <a:ea typeface="Readex Pro"/>
                <a:cs typeface="Readex Pro"/>
                <a:sym typeface="Readex Pro"/>
              </a:rPr>
              <a:t>تلاوة مسجلة</a:t>
            </a:r>
          </a:p>
        </p:txBody>
      </p:sp>
      <p:sp>
        <p:nvSpPr>
          <p:cNvPr id="575" name="TextBox 574"/>
          <p:cNvSpPr txBox="1"/>
          <p:nvPr/>
        </p:nvSpPr>
        <p:spPr>
          <a:xfrm>
            <a:off x="1636776" y="7488936"/>
            <a:ext cx="4480560" cy="91440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محمود خليل الحصري (مرتل)، everyayah.com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07 · كيف يعمل · معيار الجودة التقنية واستخدام الذكاء الاصطناعي</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كيف يعمل الصديق؟</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13</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Rounded Rectangle 550"/>
          <p:cNvSpPr/>
          <p:nvPr/>
        </p:nvSpPr>
        <p:spPr>
          <a:xfrm>
            <a:off x="14145768" y="3246120"/>
            <a:ext cx="2697480" cy="251460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52" name="Oval 551"/>
          <p:cNvSpPr/>
          <p:nvPr/>
        </p:nvSpPr>
        <p:spPr>
          <a:xfrm>
            <a:off x="15083028" y="3447288"/>
            <a:ext cx="822960" cy="822960"/>
          </a:xfrm>
          <a:prstGeom prst="ellipse">
            <a:avLst/>
          </a:prstGeom>
          <a:solidFill>
            <a:srgbClr val="2EF2C2">
              <a:alpha val="14000"/>
            </a:srgbClr>
          </a:solidFill>
          <a:ln w="12700">
            <a:noFill/>
          </a:ln>
        </p:spPr>
        <p:txBody>
          <a:bodyPr rtlCol="0" anchor="ctr"/>
          <a:lstStyle/>
          <a:p>
            <a:endParaRPr/>
          </a:p>
        </p:txBody>
      </p:sp>
      <p:pic>
        <p:nvPicPr>
          <p:cNvPr id="553" name="Picture 552" descr="FaMicrophone-turq.png"/>
          <p:cNvPicPr>
            <a:picLocks noChangeAspect="1"/>
          </p:cNvPicPr>
          <p:nvPr/>
        </p:nvPicPr>
        <p:blipFill>
          <a:blip r:embed="rId5"/>
          <a:stretch>
            <a:fillRect/>
          </a:stretch>
        </p:blipFill>
        <p:spPr>
          <a:xfrm>
            <a:off x="15305227" y="3669487"/>
            <a:ext cx="378562" cy="378562"/>
          </a:xfrm>
          <a:prstGeom prst="rect">
            <a:avLst/>
          </a:prstGeom>
        </p:spPr>
      </p:pic>
      <p:sp>
        <p:nvSpPr>
          <p:cNvPr id="554" name="TextBox 553"/>
          <p:cNvSpPr txBox="1"/>
          <p:nvPr/>
        </p:nvSpPr>
        <p:spPr>
          <a:xfrm>
            <a:off x="14255496" y="4343400"/>
            <a:ext cx="2478024" cy="548640"/>
          </a:xfrm>
          <a:prstGeom prst="rect">
            <a:avLst/>
          </a:prstGeom>
          <a:noFill/>
        </p:spPr>
        <p:txBody>
          <a:bodyPr wrap="square" lIns="0" tIns="0" rIns="0" bIns="0" anchor="t">
            <a:spAutoFit/>
          </a:bodyPr>
          <a:lstStyle/>
          <a:p>
            <a:pPr algn="ctr" rtl="1"/>
            <a:r>
              <a:rPr lang="ar-SA" sz="2000" b="1">
                <a:solidFill>
                  <a:srgbClr val="F2F4FF"/>
                </a:solidFill>
                <a:latin typeface="Readex Pro"/>
                <a:ea typeface="Readex Pro"/>
                <a:cs typeface="Readex Pro"/>
                <a:sym typeface="Readex Pro"/>
              </a:rPr>
              <a:t>سؤال الطفل</a:t>
            </a:r>
          </a:p>
        </p:txBody>
      </p:sp>
      <p:sp>
        <p:nvSpPr>
          <p:cNvPr id="555" name="TextBox 554"/>
          <p:cNvSpPr txBox="1"/>
          <p:nvPr/>
        </p:nvSpPr>
        <p:spPr>
          <a:xfrm>
            <a:off x="14255496" y="4892040"/>
            <a:ext cx="2478024" cy="731520"/>
          </a:xfrm>
          <a:prstGeom prst="rect">
            <a:avLst/>
          </a:prstGeom>
          <a:noFill/>
        </p:spPr>
        <p:txBody>
          <a:bodyPr wrap="square" lIns="0" tIns="0" rIns="0" bIns="0" anchor="t">
            <a:spAutoFit/>
          </a:bodyPr>
          <a:lstStyle/>
          <a:p>
            <a:pPr algn="ctr" rtl="1"/>
            <a:r>
              <a:rPr lang="ar-SA" sz="1800" b="0">
                <a:solidFill>
                  <a:srgbClr val="CBCFE6"/>
                </a:solidFill>
                <a:latin typeface="Readex Pro"/>
                <a:ea typeface="Readex Pro"/>
                <a:cs typeface="Readex Pro"/>
                <a:sym typeface="Readex Pro"/>
              </a:rPr>
              <a:t>صوت أو كتابة</a:t>
            </a:r>
          </a:p>
        </p:txBody>
      </p:sp>
      <p:sp>
        <p:nvSpPr>
          <p:cNvPr id="556" name="Rounded Rectangle 555"/>
          <p:cNvSpPr/>
          <p:nvPr/>
        </p:nvSpPr>
        <p:spPr>
          <a:xfrm>
            <a:off x="10963656" y="3246120"/>
            <a:ext cx="2697480" cy="251460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57" name="Oval 556"/>
          <p:cNvSpPr/>
          <p:nvPr/>
        </p:nvSpPr>
        <p:spPr>
          <a:xfrm>
            <a:off x="11900916" y="3447288"/>
            <a:ext cx="822960" cy="822960"/>
          </a:xfrm>
          <a:prstGeom prst="ellipse">
            <a:avLst/>
          </a:prstGeom>
          <a:solidFill>
            <a:srgbClr val="2EF2C2">
              <a:alpha val="14000"/>
            </a:srgbClr>
          </a:solidFill>
          <a:ln w="12700">
            <a:noFill/>
          </a:ln>
        </p:spPr>
        <p:txBody>
          <a:bodyPr rtlCol="0" anchor="ctr"/>
          <a:lstStyle/>
          <a:p>
            <a:endParaRPr/>
          </a:p>
        </p:txBody>
      </p:sp>
      <p:pic>
        <p:nvPicPr>
          <p:cNvPr id="558" name="Picture 557" descr="FaShieldHalved-turq.png"/>
          <p:cNvPicPr>
            <a:picLocks noChangeAspect="1"/>
          </p:cNvPicPr>
          <p:nvPr/>
        </p:nvPicPr>
        <p:blipFill>
          <a:blip r:embed="rId6"/>
          <a:stretch>
            <a:fillRect/>
          </a:stretch>
        </p:blipFill>
        <p:spPr>
          <a:xfrm>
            <a:off x="12123115" y="3669487"/>
            <a:ext cx="378562" cy="378562"/>
          </a:xfrm>
          <a:prstGeom prst="rect">
            <a:avLst/>
          </a:prstGeom>
        </p:spPr>
      </p:pic>
      <p:sp>
        <p:nvSpPr>
          <p:cNvPr id="559" name="TextBox 558"/>
          <p:cNvSpPr txBox="1"/>
          <p:nvPr/>
        </p:nvSpPr>
        <p:spPr>
          <a:xfrm>
            <a:off x="11073384" y="4343400"/>
            <a:ext cx="2478024" cy="548640"/>
          </a:xfrm>
          <a:prstGeom prst="rect">
            <a:avLst/>
          </a:prstGeom>
          <a:noFill/>
        </p:spPr>
        <p:txBody>
          <a:bodyPr wrap="square" lIns="0" tIns="0" rIns="0" bIns="0" anchor="t">
            <a:spAutoFit/>
          </a:bodyPr>
          <a:lstStyle/>
          <a:p>
            <a:pPr algn="ctr" rtl="1"/>
            <a:r>
              <a:rPr lang="ar-SA" sz="2000" b="1">
                <a:solidFill>
                  <a:srgbClr val="F2F4FF"/>
                </a:solidFill>
                <a:latin typeface="Readex Pro"/>
                <a:ea typeface="Readex Pro"/>
                <a:cs typeface="Readex Pro"/>
                <a:sym typeface="Readex Pro"/>
              </a:rPr>
              <a:t>حارس الدور</a:t>
            </a:r>
          </a:p>
        </p:txBody>
      </p:sp>
      <p:sp>
        <p:nvSpPr>
          <p:cNvPr id="560" name="TextBox 559"/>
          <p:cNvSpPr txBox="1"/>
          <p:nvPr/>
        </p:nvSpPr>
        <p:spPr>
          <a:xfrm>
            <a:off x="11073384" y="4892040"/>
            <a:ext cx="2478024" cy="731520"/>
          </a:xfrm>
          <a:prstGeom prst="rect">
            <a:avLst/>
          </a:prstGeom>
          <a:noFill/>
        </p:spPr>
        <p:txBody>
          <a:bodyPr wrap="square" lIns="0" tIns="0" rIns="0" bIns="0" anchor="t">
            <a:spAutoFit/>
          </a:bodyPr>
          <a:lstStyle/>
          <a:p>
            <a:pPr algn="ctr" rtl="1"/>
            <a:r>
              <a:rPr lang="ar-SA" sz="1800" b="0">
                <a:solidFill>
                  <a:srgbClr val="CBCFE6"/>
                </a:solidFill>
                <a:latin typeface="Readex Pro"/>
                <a:ea typeface="Readex Pro"/>
                <a:cs typeface="Readex Pro"/>
                <a:sym typeface="Readex Pro"/>
              </a:rPr>
              <a:t>أمان، إحالة، لا فتوى</a:t>
            </a:r>
          </a:p>
        </p:txBody>
      </p:sp>
      <p:sp>
        <p:nvSpPr>
          <p:cNvPr id="561" name="Left Arrow 560"/>
          <p:cNvSpPr/>
          <p:nvPr/>
        </p:nvSpPr>
        <p:spPr>
          <a:xfrm>
            <a:off x="13725144" y="4338828"/>
            <a:ext cx="356616" cy="329184"/>
          </a:xfrm>
          <a:prstGeom prst="leftArrow">
            <a:avLst/>
          </a:prstGeom>
          <a:solidFill>
            <a:srgbClr val="2EF2C2">
              <a:alpha val="80000"/>
            </a:srgbClr>
          </a:solidFill>
          <a:ln w="12700">
            <a:noFill/>
          </a:ln>
        </p:spPr>
        <p:txBody>
          <a:bodyPr rtlCol="0" anchor="ctr"/>
          <a:lstStyle/>
          <a:p>
            <a:pPr algn="ctr"/>
            <a:endParaRPr/>
          </a:p>
        </p:txBody>
      </p:sp>
      <p:sp>
        <p:nvSpPr>
          <p:cNvPr id="562" name="Rounded Rectangle 561"/>
          <p:cNvSpPr/>
          <p:nvPr/>
        </p:nvSpPr>
        <p:spPr>
          <a:xfrm>
            <a:off x="7781544" y="3246120"/>
            <a:ext cx="2697480" cy="2514600"/>
          </a:xfrm>
          <a:prstGeom prst="roundRect">
            <a:avLst>
              <a:gd name="adj" fmla="val 8000"/>
            </a:avLst>
          </a:prstGeom>
          <a:solidFill>
            <a:srgbClr val="161D48"/>
          </a:solidFill>
          <a:ln w="31750">
            <a:solidFill>
              <a:srgbClr val="2EF2C2"/>
            </a:solidFill>
          </a:ln>
        </p:spPr>
        <p:txBody>
          <a:bodyPr rtlCol="0" anchor="ctr"/>
          <a:lstStyle/>
          <a:p>
            <a:endParaRPr/>
          </a:p>
        </p:txBody>
      </p:sp>
      <p:sp>
        <p:nvSpPr>
          <p:cNvPr id="563" name="Oval 562"/>
          <p:cNvSpPr/>
          <p:nvPr/>
        </p:nvSpPr>
        <p:spPr>
          <a:xfrm>
            <a:off x="8718804" y="3447288"/>
            <a:ext cx="822960" cy="822960"/>
          </a:xfrm>
          <a:prstGeom prst="ellipse">
            <a:avLst/>
          </a:prstGeom>
          <a:solidFill>
            <a:srgbClr val="2EF2C2">
              <a:alpha val="14000"/>
            </a:srgbClr>
          </a:solidFill>
          <a:ln w="12700">
            <a:noFill/>
          </a:ln>
        </p:spPr>
        <p:txBody>
          <a:bodyPr rtlCol="0" anchor="ctr"/>
          <a:lstStyle/>
          <a:p>
            <a:endParaRPr/>
          </a:p>
        </p:txBody>
      </p:sp>
      <p:pic>
        <p:nvPicPr>
          <p:cNvPr id="564" name="Picture 563" descr="FaBrain-turq.png"/>
          <p:cNvPicPr>
            <a:picLocks noChangeAspect="1"/>
          </p:cNvPicPr>
          <p:nvPr/>
        </p:nvPicPr>
        <p:blipFill>
          <a:blip r:embed="rId7"/>
          <a:stretch>
            <a:fillRect/>
          </a:stretch>
        </p:blipFill>
        <p:spPr>
          <a:xfrm>
            <a:off x="8941003" y="3669487"/>
            <a:ext cx="378562" cy="378562"/>
          </a:xfrm>
          <a:prstGeom prst="rect">
            <a:avLst/>
          </a:prstGeom>
        </p:spPr>
      </p:pic>
      <p:sp>
        <p:nvSpPr>
          <p:cNvPr id="565" name="TextBox 564"/>
          <p:cNvSpPr txBox="1"/>
          <p:nvPr/>
        </p:nvSpPr>
        <p:spPr>
          <a:xfrm>
            <a:off x="7891272" y="4343400"/>
            <a:ext cx="2478024" cy="548640"/>
          </a:xfrm>
          <a:prstGeom prst="rect">
            <a:avLst/>
          </a:prstGeom>
          <a:noFill/>
        </p:spPr>
        <p:txBody>
          <a:bodyPr wrap="square" lIns="0" tIns="0" rIns="0" bIns="0" anchor="t">
            <a:spAutoFit/>
          </a:bodyPr>
          <a:lstStyle/>
          <a:p>
            <a:pPr algn="ctr" rtl="1"/>
            <a:r>
              <a:rPr lang="ar-SA" sz="2000" b="1">
                <a:solidFill>
                  <a:srgbClr val="2EF2C2"/>
                </a:solidFill>
                <a:latin typeface="Readex Pro"/>
                <a:ea typeface="Readex Pro"/>
                <a:cs typeface="Readex Pro"/>
                <a:sym typeface="Readex Pro"/>
              </a:rPr>
              <a:t>النموذج يبحث</a:t>
            </a:r>
          </a:p>
        </p:txBody>
      </p:sp>
      <p:sp>
        <p:nvSpPr>
          <p:cNvPr id="566" name="TextBox 565"/>
          <p:cNvSpPr txBox="1"/>
          <p:nvPr/>
        </p:nvSpPr>
        <p:spPr>
          <a:xfrm>
            <a:off x="7891272" y="4892040"/>
            <a:ext cx="2478024" cy="731520"/>
          </a:xfrm>
          <a:prstGeom prst="rect">
            <a:avLst/>
          </a:prstGeom>
          <a:noFill/>
        </p:spPr>
        <p:txBody>
          <a:bodyPr wrap="square" lIns="0" tIns="0" rIns="0" bIns="0" anchor="t">
            <a:spAutoFit/>
          </a:bodyPr>
          <a:lstStyle/>
          <a:p>
            <a:pPr algn="ctr" rtl="1"/>
            <a:r>
              <a:rPr lang="ar-SA" sz="1800" b="0">
                <a:solidFill>
                  <a:srgbClr val="CBCFE6"/>
                </a:solidFill>
                <a:latin typeface="Readex Pro"/>
                <a:ea typeface="Readex Pro"/>
                <a:cs typeface="Readex Pro"/>
                <a:sym typeface="Readex Pro"/>
              </a:rPr>
              <a:t>search_bank في البنك المراجع</a:t>
            </a:r>
          </a:p>
        </p:txBody>
      </p:sp>
      <p:sp>
        <p:nvSpPr>
          <p:cNvPr id="567" name="Left Arrow 566"/>
          <p:cNvSpPr/>
          <p:nvPr/>
        </p:nvSpPr>
        <p:spPr>
          <a:xfrm>
            <a:off x="10543032" y="4338828"/>
            <a:ext cx="356616" cy="329184"/>
          </a:xfrm>
          <a:prstGeom prst="leftArrow">
            <a:avLst/>
          </a:prstGeom>
          <a:solidFill>
            <a:srgbClr val="2EF2C2">
              <a:alpha val="80000"/>
            </a:srgbClr>
          </a:solidFill>
          <a:ln w="12700">
            <a:noFill/>
          </a:ln>
        </p:spPr>
        <p:txBody>
          <a:bodyPr rtlCol="0" anchor="ctr"/>
          <a:lstStyle/>
          <a:p>
            <a:pPr algn="ctr"/>
            <a:endParaRPr/>
          </a:p>
        </p:txBody>
      </p:sp>
      <p:sp>
        <p:nvSpPr>
          <p:cNvPr id="568" name="Rounded Rectangle 567"/>
          <p:cNvSpPr/>
          <p:nvPr/>
        </p:nvSpPr>
        <p:spPr>
          <a:xfrm>
            <a:off x="4599432" y="3246120"/>
            <a:ext cx="2697480" cy="251460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69" name="Oval 568"/>
          <p:cNvSpPr/>
          <p:nvPr/>
        </p:nvSpPr>
        <p:spPr>
          <a:xfrm>
            <a:off x="5536692" y="3447288"/>
            <a:ext cx="822960" cy="822960"/>
          </a:xfrm>
          <a:prstGeom prst="ellipse">
            <a:avLst/>
          </a:prstGeom>
          <a:solidFill>
            <a:srgbClr val="2EF2C2">
              <a:alpha val="14000"/>
            </a:srgbClr>
          </a:solidFill>
          <a:ln w="12700">
            <a:noFill/>
          </a:ln>
        </p:spPr>
        <p:txBody>
          <a:bodyPr rtlCol="0" anchor="ctr"/>
          <a:lstStyle/>
          <a:p>
            <a:endParaRPr/>
          </a:p>
        </p:txBody>
      </p:sp>
      <p:pic>
        <p:nvPicPr>
          <p:cNvPr id="570" name="Picture 569" descr="FaIdCard-turq.png"/>
          <p:cNvPicPr>
            <a:picLocks noChangeAspect="1"/>
          </p:cNvPicPr>
          <p:nvPr/>
        </p:nvPicPr>
        <p:blipFill>
          <a:blip r:embed="rId8"/>
          <a:stretch>
            <a:fillRect/>
          </a:stretch>
        </p:blipFill>
        <p:spPr>
          <a:xfrm>
            <a:off x="5758891" y="3669487"/>
            <a:ext cx="378562" cy="378562"/>
          </a:xfrm>
          <a:prstGeom prst="rect">
            <a:avLst/>
          </a:prstGeom>
        </p:spPr>
      </p:pic>
      <p:sp>
        <p:nvSpPr>
          <p:cNvPr id="571" name="TextBox 570"/>
          <p:cNvSpPr txBox="1"/>
          <p:nvPr/>
        </p:nvSpPr>
        <p:spPr>
          <a:xfrm>
            <a:off x="4709160" y="4343400"/>
            <a:ext cx="2478024" cy="548640"/>
          </a:xfrm>
          <a:prstGeom prst="rect">
            <a:avLst/>
          </a:prstGeom>
          <a:noFill/>
        </p:spPr>
        <p:txBody>
          <a:bodyPr wrap="square" lIns="0" tIns="0" rIns="0" bIns="0" anchor="t">
            <a:spAutoFit/>
          </a:bodyPr>
          <a:lstStyle/>
          <a:p>
            <a:pPr algn="ctr" rtl="1"/>
            <a:r>
              <a:rPr lang="ar-SA" sz="2000" b="1">
                <a:solidFill>
                  <a:srgbClr val="F2F4FF"/>
                </a:solidFill>
                <a:latin typeface="Readex Pro"/>
                <a:ea typeface="Readex Pro"/>
                <a:cs typeface="Readex Pro"/>
                <a:sym typeface="Readex Pro"/>
              </a:rPr>
              <a:t>بطاقة بمصدرها</a:t>
            </a:r>
          </a:p>
        </p:txBody>
      </p:sp>
      <p:sp>
        <p:nvSpPr>
          <p:cNvPr id="572" name="TextBox 571"/>
          <p:cNvSpPr txBox="1"/>
          <p:nvPr/>
        </p:nvSpPr>
        <p:spPr>
          <a:xfrm>
            <a:off x="4709160" y="4892040"/>
            <a:ext cx="2478024" cy="731520"/>
          </a:xfrm>
          <a:prstGeom prst="rect">
            <a:avLst/>
          </a:prstGeom>
          <a:noFill/>
        </p:spPr>
        <p:txBody>
          <a:bodyPr wrap="square" lIns="0" tIns="0" rIns="0" bIns="0" anchor="t">
            <a:spAutoFit/>
          </a:bodyPr>
          <a:lstStyle/>
          <a:p>
            <a:pPr algn="ctr" rtl="1"/>
            <a:r>
              <a:rPr lang="ar-SA" sz="1800" b="0">
                <a:solidFill>
                  <a:srgbClr val="CBCFE6"/>
                </a:solidFill>
                <a:latin typeface="Readex Pro"/>
                <a:ea typeface="Readex Pro"/>
                <a:cs typeface="Readex Pro"/>
                <a:sym typeface="Readex Pro"/>
              </a:rPr>
              <a:t>من البنك، لا من الذاكرة</a:t>
            </a:r>
          </a:p>
        </p:txBody>
      </p:sp>
      <p:sp>
        <p:nvSpPr>
          <p:cNvPr id="573" name="Left Arrow 572"/>
          <p:cNvSpPr/>
          <p:nvPr/>
        </p:nvSpPr>
        <p:spPr>
          <a:xfrm>
            <a:off x="7360920" y="4338828"/>
            <a:ext cx="356616" cy="329184"/>
          </a:xfrm>
          <a:prstGeom prst="leftArrow">
            <a:avLst/>
          </a:prstGeom>
          <a:solidFill>
            <a:srgbClr val="2EF2C2">
              <a:alpha val="80000"/>
            </a:srgbClr>
          </a:solidFill>
          <a:ln w="12700">
            <a:noFill/>
          </a:ln>
        </p:spPr>
        <p:txBody>
          <a:bodyPr rtlCol="0" anchor="ctr"/>
          <a:lstStyle/>
          <a:p>
            <a:pPr algn="ctr"/>
            <a:endParaRPr/>
          </a:p>
        </p:txBody>
      </p:sp>
      <p:sp>
        <p:nvSpPr>
          <p:cNvPr id="574" name="Rounded Rectangle 573"/>
          <p:cNvSpPr/>
          <p:nvPr/>
        </p:nvSpPr>
        <p:spPr>
          <a:xfrm>
            <a:off x="1417320" y="3246120"/>
            <a:ext cx="2697480" cy="251460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75" name="Oval 574"/>
          <p:cNvSpPr/>
          <p:nvPr/>
        </p:nvSpPr>
        <p:spPr>
          <a:xfrm>
            <a:off x="2354580" y="3447288"/>
            <a:ext cx="822960" cy="822960"/>
          </a:xfrm>
          <a:prstGeom prst="ellipse">
            <a:avLst/>
          </a:prstGeom>
          <a:solidFill>
            <a:srgbClr val="2EF2C2">
              <a:alpha val="14000"/>
            </a:srgbClr>
          </a:solidFill>
          <a:ln w="12700">
            <a:noFill/>
          </a:ln>
        </p:spPr>
        <p:txBody>
          <a:bodyPr rtlCol="0" anchor="ctr"/>
          <a:lstStyle/>
          <a:p>
            <a:endParaRPr/>
          </a:p>
        </p:txBody>
      </p:sp>
      <p:pic>
        <p:nvPicPr>
          <p:cNvPr id="576" name="Picture 575" descr="FaFilter-turq.png"/>
          <p:cNvPicPr>
            <a:picLocks noChangeAspect="1"/>
          </p:cNvPicPr>
          <p:nvPr/>
        </p:nvPicPr>
        <p:blipFill>
          <a:blip r:embed="rId9"/>
          <a:stretch>
            <a:fillRect/>
          </a:stretch>
        </p:blipFill>
        <p:spPr>
          <a:xfrm>
            <a:off x="2576779" y="3669487"/>
            <a:ext cx="378562" cy="378562"/>
          </a:xfrm>
          <a:prstGeom prst="rect">
            <a:avLst/>
          </a:prstGeom>
        </p:spPr>
      </p:pic>
      <p:sp>
        <p:nvSpPr>
          <p:cNvPr id="577" name="TextBox 576"/>
          <p:cNvSpPr txBox="1"/>
          <p:nvPr/>
        </p:nvSpPr>
        <p:spPr>
          <a:xfrm>
            <a:off x="1527048" y="4343400"/>
            <a:ext cx="2478024" cy="548640"/>
          </a:xfrm>
          <a:prstGeom prst="rect">
            <a:avLst/>
          </a:prstGeom>
          <a:noFill/>
        </p:spPr>
        <p:txBody>
          <a:bodyPr wrap="square" lIns="0" tIns="0" rIns="0" bIns="0" anchor="t">
            <a:spAutoFit/>
          </a:bodyPr>
          <a:lstStyle/>
          <a:p>
            <a:pPr algn="ctr" rtl="1"/>
            <a:r>
              <a:rPr lang="ar-SA" sz="2000" b="1">
                <a:solidFill>
                  <a:srgbClr val="F2F4FF"/>
                </a:solidFill>
                <a:latin typeface="Readex Pro"/>
                <a:ea typeface="Readex Pro"/>
                <a:cs typeface="Readex Pro"/>
                <a:sym typeface="Readex Pro"/>
              </a:rPr>
              <a:t>حراس المخرجات</a:t>
            </a:r>
          </a:p>
        </p:txBody>
      </p:sp>
      <p:sp>
        <p:nvSpPr>
          <p:cNvPr id="578" name="TextBox 577"/>
          <p:cNvSpPr txBox="1"/>
          <p:nvPr/>
        </p:nvSpPr>
        <p:spPr>
          <a:xfrm>
            <a:off x="1527048" y="4892040"/>
            <a:ext cx="2478024" cy="731520"/>
          </a:xfrm>
          <a:prstGeom prst="rect">
            <a:avLst/>
          </a:prstGeom>
          <a:noFill/>
        </p:spPr>
        <p:txBody>
          <a:bodyPr wrap="square" lIns="0" tIns="0" rIns="0" bIns="0" anchor="t">
            <a:spAutoFit/>
          </a:bodyPr>
          <a:lstStyle/>
          <a:p>
            <a:pPr algn="ctr" rtl="1"/>
            <a:r>
              <a:rPr lang="ar-SA" sz="1800" b="0">
                <a:solidFill>
                  <a:srgbClr val="CBCFE6"/>
                </a:solidFill>
                <a:latin typeface="Readex Pro"/>
                <a:ea typeface="Readex Pro"/>
                <a:cs typeface="Readex Pro"/>
                <a:sym typeface="Readex Pro"/>
              </a:rPr>
              <a:t>يحذف ما لا مصدر له</a:t>
            </a:r>
          </a:p>
        </p:txBody>
      </p:sp>
      <p:sp>
        <p:nvSpPr>
          <p:cNvPr id="579" name="Left Arrow 578"/>
          <p:cNvSpPr/>
          <p:nvPr/>
        </p:nvSpPr>
        <p:spPr>
          <a:xfrm>
            <a:off x="4178808" y="4338828"/>
            <a:ext cx="356616" cy="329184"/>
          </a:xfrm>
          <a:prstGeom prst="leftArrow">
            <a:avLst/>
          </a:prstGeom>
          <a:solidFill>
            <a:srgbClr val="2EF2C2">
              <a:alpha val="80000"/>
            </a:srgbClr>
          </a:solidFill>
          <a:ln w="12700">
            <a:noFill/>
          </a:ln>
        </p:spPr>
        <p:txBody>
          <a:bodyPr rtlCol="0" anchor="ctr"/>
          <a:lstStyle/>
          <a:p>
            <a:pPr algn="ctr"/>
            <a:endParaRPr/>
          </a:p>
        </p:txBody>
      </p:sp>
      <p:sp>
        <p:nvSpPr>
          <p:cNvPr id="580" name="Down Arrow 579"/>
          <p:cNvSpPr/>
          <p:nvPr/>
        </p:nvSpPr>
        <p:spPr>
          <a:xfrm>
            <a:off x="5765292" y="5833872"/>
            <a:ext cx="365760" cy="630936"/>
          </a:xfrm>
          <a:prstGeom prst="downArrow">
            <a:avLst/>
          </a:prstGeom>
          <a:solidFill>
            <a:srgbClr val="2EF2C2">
              <a:alpha val="80000"/>
            </a:srgbClr>
          </a:solidFill>
          <a:ln w="12700">
            <a:noFill/>
          </a:ln>
        </p:spPr>
        <p:txBody>
          <a:bodyPr rtlCol="0" anchor="ctr"/>
          <a:lstStyle/>
          <a:p>
            <a:pPr algn="ctr"/>
            <a:endParaRPr/>
          </a:p>
        </p:txBody>
      </p:sp>
      <p:sp>
        <p:nvSpPr>
          <p:cNvPr id="581" name="Rounded Rectangle 580"/>
          <p:cNvSpPr/>
          <p:nvPr/>
        </p:nvSpPr>
        <p:spPr>
          <a:xfrm>
            <a:off x="4599432" y="6537960"/>
            <a:ext cx="2697480" cy="1691640"/>
          </a:xfrm>
          <a:prstGeom prst="roundRect">
            <a:avLst>
              <a:gd name="adj" fmla="val 8000"/>
            </a:avLst>
          </a:prstGeom>
          <a:solidFill>
            <a:srgbClr val="6150EA">
              <a:alpha val="30000"/>
            </a:srgbClr>
          </a:solidFill>
          <a:ln w="12700">
            <a:solidFill>
              <a:srgbClr val="6150EA"/>
            </a:solidFill>
          </a:ln>
        </p:spPr>
        <p:txBody>
          <a:bodyPr rtlCol="0" anchor="ctr"/>
          <a:lstStyle/>
          <a:p>
            <a:endParaRPr/>
          </a:p>
        </p:txBody>
      </p:sp>
      <p:sp>
        <p:nvSpPr>
          <p:cNvPr id="582" name="TextBox 581"/>
          <p:cNvSpPr txBox="1"/>
          <p:nvPr/>
        </p:nvSpPr>
        <p:spPr>
          <a:xfrm>
            <a:off x="4736592" y="6766560"/>
            <a:ext cx="2423160" cy="548640"/>
          </a:xfrm>
          <a:prstGeom prst="rect">
            <a:avLst/>
          </a:prstGeom>
          <a:noFill/>
        </p:spPr>
        <p:txBody>
          <a:bodyPr wrap="square" lIns="0" tIns="0" rIns="0" bIns="0" anchor="t">
            <a:spAutoFit/>
          </a:bodyPr>
          <a:lstStyle/>
          <a:p>
            <a:pPr algn="ctr" rtl="1"/>
            <a:r>
              <a:rPr lang="ar-SA" sz="2000" b="1">
                <a:solidFill>
                  <a:srgbClr val="F2F4FF"/>
                </a:solidFill>
                <a:latin typeface="Readex Pro"/>
                <a:ea typeface="Readex Pro"/>
                <a:cs typeface="Readex Pro"/>
                <a:sym typeface="Readex Pro"/>
              </a:rPr>
              <a:t>لوحة الوالدين</a:t>
            </a:r>
          </a:p>
        </p:txBody>
      </p:sp>
      <p:sp>
        <p:nvSpPr>
          <p:cNvPr id="583" name="TextBox 582"/>
          <p:cNvSpPr txBox="1"/>
          <p:nvPr/>
        </p:nvSpPr>
        <p:spPr>
          <a:xfrm>
            <a:off x="4736592" y="7406640"/>
            <a:ext cx="2423160" cy="731520"/>
          </a:xfrm>
          <a:prstGeom prst="rect">
            <a:avLst/>
          </a:prstGeom>
          <a:noFill/>
        </p:spPr>
        <p:txBody>
          <a:bodyPr wrap="square" lIns="0" tIns="0" rIns="0" bIns="0" anchor="t">
            <a:spAutoFit/>
          </a:bodyPr>
          <a:lstStyle/>
          <a:p>
            <a:pPr algn="ctr" rtl="1"/>
            <a:r>
              <a:rPr lang="ar-SA" sz="1800" b="0">
                <a:solidFill>
                  <a:srgbClr val="CBCFE6"/>
                </a:solidFill>
                <a:latin typeface="Readex Pro"/>
                <a:ea typeface="Readex Pro"/>
                <a:cs typeface="Readex Pro"/>
                <a:sym typeface="Readex Pro"/>
              </a:rPr>
              <a:t>ما خدمه البنك فعلا</a:t>
            </a:r>
          </a:p>
        </p:txBody>
      </p:sp>
      <p:sp>
        <p:nvSpPr>
          <p:cNvPr id="584" name="Down Arrow 583"/>
          <p:cNvSpPr/>
          <p:nvPr/>
        </p:nvSpPr>
        <p:spPr>
          <a:xfrm>
            <a:off x="2583180" y="5833872"/>
            <a:ext cx="365760" cy="630936"/>
          </a:xfrm>
          <a:prstGeom prst="downArrow">
            <a:avLst/>
          </a:prstGeom>
          <a:solidFill>
            <a:srgbClr val="2EF2C2">
              <a:alpha val="80000"/>
            </a:srgbClr>
          </a:solidFill>
          <a:ln w="12700">
            <a:noFill/>
          </a:ln>
        </p:spPr>
        <p:txBody>
          <a:bodyPr rtlCol="0" anchor="ctr"/>
          <a:lstStyle/>
          <a:p>
            <a:pPr algn="ctr"/>
            <a:endParaRPr/>
          </a:p>
        </p:txBody>
      </p:sp>
      <p:sp>
        <p:nvSpPr>
          <p:cNvPr id="585" name="Rounded Rectangle 584"/>
          <p:cNvSpPr/>
          <p:nvPr/>
        </p:nvSpPr>
        <p:spPr>
          <a:xfrm>
            <a:off x="1417320" y="6537960"/>
            <a:ext cx="2697480" cy="1691640"/>
          </a:xfrm>
          <a:prstGeom prst="roundRect">
            <a:avLst>
              <a:gd name="adj" fmla="val 8000"/>
            </a:avLst>
          </a:prstGeom>
          <a:solidFill>
            <a:srgbClr val="6150EA">
              <a:alpha val="30000"/>
            </a:srgbClr>
          </a:solidFill>
          <a:ln w="12700">
            <a:solidFill>
              <a:srgbClr val="6150EA"/>
            </a:solidFill>
          </a:ln>
        </p:spPr>
        <p:txBody>
          <a:bodyPr rtlCol="0" anchor="ctr"/>
          <a:lstStyle/>
          <a:p>
            <a:endParaRPr/>
          </a:p>
        </p:txBody>
      </p:sp>
      <p:sp>
        <p:nvSpPr>
          <p:cNvPr id="586" name="TextBox 585"/>
          <p:cNvSpPr txBox="1"/>
          <p:nvPr/>
        </p:nvSpPr>
        <p:spPr>
          <a:xfrm>
            <a:off x="1554480" y="6766560"/>
            <a:ext cx="2423160" cy="548640"/>
          </a:xfrm>
          <a:prstGeom prst="rect">
            <a:avLst/>
          </a:prstGeom>
          <a:noFill/>
        </p:spPr>
        <p:txBody>
          <a:bodyPr wrap="square" lIns="0" tIns="0" rIns="0" bIns="0" anchor="t">
            <a:spAutoFit/>
          </a:bodyPr>
          <a:lstStyle/>
          <a:p>
            <a:pPr algn="ctr" rtl="1"/>
            <a:r>
              <a:rPr lang="ar-SA" sz="2000" b="1">
                <a:solidFill>
                  <a:srgbClr val="F2F4FF"/>
                </a:solidFill>
                <a:latin typeface="Readex Pro"/>
                <a:ea typeface="Readex Pro"/>
                <a:cs typeface="Readex Pro"/>
                <a:sym typeface="Readex Pro"/>
              </a:rPr>
              <a:t>الطفل يسمع ويرى</a:t>
            </a:r>
          </a:p>
        </p:txBody>
      </p:sp>
      <p:sp>
        <p:nvSpPr>
          <p:cNvPr id="587" name="TextBox 586"/>
          <p:cNvSpPr txBox="1"/>
          <p:nvPr/>
        </p:nvSpPr>
        <p:spPr>
          <a:xfrm>
            <a:off x="1554480" y="7406640"/>
            <a:ext cx="2423160" cy="731520"/>
          </a:xfrm>
          <a:prstGeom prst="rect">
            <a:avLst/>
          </a:prstGeom>
          <a:noFill/>
        </p:spPr>
        <p:txBody>
          <a:bodyPr wrap="square" lIns="0" tIns="0" rIns="0" bIns="0" anchor="t">
            <a:spAutoFit/>
          </a:bodyPr>
          <a:lstStyle/>
          <a:p>
            <a:pPr algn="ctr" rtl="1"/>
            <a:r>
              <a:rPr lang="ar-SA" sz="1800" b="0">
                <a:solidFill>
                  <a:srgbClr val="CBCFE6"/>
                </a:solidFill>
                <a:latin typeface="Readex Pro"/>
                <a:ea typeface="Readex Pro"/>
                <a:cs typeface="Readex Pro"/>
                <a:sym typeface="Readex Pro"/>
              </a:rPr>
              <a:t>صوت ElevenLabs وتلاوة مسجلة</a:t>
            </a:r>
          </a:p>
        </p:txBody>
      </p:sp>
      <p:sp>
        <p:nvSpPr>
          <p:cNvPr id="588" name="TextBox 587"/>
          <p:cNvSpPr txBox="1"/>
          <p:nvPr/>
        </p:nvSpPr>
        <p:spPr>
          <a:xfrm>
            <a:off x="7781544" y="6949440"/>
            <a:ext cx="9061704" cy="1097280"/>
          </a:xfrm>
          <a:prstGeom prst="rect">
            <a:avLst/>
          </a:prstGeom>
          <a:noFill/>
        </p:spPr>
        <p:txBody>
          <a:bodyPr wrap="square" lIns="0" tIns="0" rIns="0" bIns="0" anchor="t">
            <a:spAutoFit/>
          </a:bodyPr>
          <a:lstStyle/>
          <a:p>
            <a:pPr algn="r" rtl="1"/>
            <a:r>
              <a:rPr lang="ar-SA" sz="2200" b="1">
                <a:solidFill>
                  <a:srgbClr val="2EF2C2"/>
                </a:solidFill>
                <a:latin typeface="Readex Pro"/>
                <a:ea typeface="Readex Pro"/>
                <a:cs typeface="Readex Pro"/>
                <a:sym typeface="Readex Pro"/>
              </a:rPr>
              <a:t>القاعدة: </a:t>
            </a:r>
            <a:r>
              <a:rPr lang="ar-SA" sz="2200" b="0">
                <a:solidFill>
                  <a:srgbClr val="F2F4FF"/>
                </a:solidFill>
                <a:latin typeface="Readex Pro"/>
                <a:ea typeface="Readex Pro"/>
                <a:cs typeface="Readex Pro"/>
                <a:sym typeface="Readex Pro"/>
              </a:rPr>
              <a:t>لا يقتبس النموذج آية أو حديثا إلا مما أعاده البنك</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a:extLst>
            <a:ext uri="{FF2B5EF4-FFF2-40B4-BE49-F238E27FC236}">
              <a16:creationId xmlns:a16="http://schemas.microsoft.com/office/drawing/2014/main" id="{BEDFD4CD-AF5B-C1F3-5395-B000C2BB9047}"/>
            </a:ext>
          </a:extLst>
        </p:cNvPr>
        <p:cNvGrpSpPr/>
        <p:nvPr/>
      </p:nvGrpSpPr>
      <p:grpSpPr>
        <a:xfrm>
          <a:off x="0" y="0"/>
          <a:ext cx="0" cy="0"/>
          <a:chOff x="0" y="0"/>
          <a:chExt cx="0" cy="0"/>
        </a:xfrm>
      </p:grpSpPr>
      <p:pic>
        <p:nvPicPr>
          <p:cNvPr id="536" name="Google Shape;536;p11">
            <a:extLst>
              <a:ext uri="{FF2B5EF4-FFF2-40B4-BE49-F238E27FC236}">
                <a16:creationId xmlns:a16="http://schemas.microsoft.com/office/drawing/2014/main" id="{8DC33208-D01E-8403-7787-505D31A3A62A}"/>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a:extLst>
              <a:ext uri="{FF2B5EF4-FFF2-40B4-BE49-F238E27FC236}">
                <a16:creationId xmlns:a16="http://schemas.microsoft.com/office/drawing/2014/main" id="{FA87F435-D623-7E9D-18ED-B43985A6C217}"/>
              </a:ext>
            </a:extLst>
          </p:cNvPr>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07 · التقنية · معيار الجودة التقنية واستخدام الذكاء الاصطناعي</a:t>
            </a:r>
          </a:p>
        </p:txBody>
      </p:sp>
      <p:sp>
        <p:nvSpPr>
          <p:cNvPr id="538" name="Google Shape;538;p11">
            <a:extLst>
              <a:ext uri="{FF2B5EF4-FFF2-40B4-BE49-F238E27FC236}">
                <a16:creationId xmlns:a16="http://schemas.microsoft.com/office/drawing/2014/main" id="{7C41E2EF-90F4-6B99-AC6C-4805FFEDF9B5}"/>
              </a:ext>
            </a:extLst>
          </p:cNvPr>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التقنية: مكونات مجربة، وضوابط بنيناها</a:t>
            </a:r>
          </a:p>
        </p:txBody>
      </p:sp>
      <p:sp>
        <p:nvSpPr>
          <p:cNvPr id="540" name="Google Shape;540;p11">
            <a:extLst>
              <a:ext uri="{FF2B5EF4-FFF2-40B4-BE49-F238E27FC236}">
                <a16:creationId xmlns:a16="http://schemas.microsoft.com/office/drawing/2014/main" id="{1718F4FA-8DA4-F8FD-9A4E-1FA99F1F5951}"/>
              </a:ext>
            </a:extLst>
          </p:cNvPr>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14</a:t>
            </a:fld>
            <a:endParaRPr/>
          </a:p>
        </p:txBody>
      </p:sp>
      <p:sp>
        <p:nvSpPr>
          <p:cNvPr id="549" name="Google Shape;549;p11">
            <a:extLst>
              <a:ext uri="{FF2B5EF4-FFF2-40B4-BE49-F238E27FC236}">
                <a16:creationId xmlns:a16="http://schemas.microsoft.com/office/drawing/2014/main" id="{04FFEB6C-4420-8815-AE2E-954AE21E7150}"/>
              </a:ext>
            </a:extLst>
          </p:cNvPr>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a:extLst>
              <a:ext uri="{FF2B5EF4-FFF2-40B4-BE49-F238E27FC236}">
                <a16:creationId xmlns:a16="http://schemas.microsoft.com/office/drawing/2014/main" id="{A8487B39-2B9A-A2A8-0CE5-A073A3A11224}"/>
              </a:ext>
            </a:extLst>
          </p:cNvPr>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TextBox 550">
            <a:extLst>
              <a:ext uri="{FF2B5EF4-FFF2-40B4-BE49-F238E27FC236}">
                <a16:creationId xmlns:a16="http://schemas.microsoft.com/office/drawing/2014/main" id="{D734D03A-ADB9-9120-3959-7C1666768F2F}"/>
              </a:ext>
            </a:extLst>
          </p:cNvPr>
          <p:cNvSpPr txBox="1"/>
          <p:nvPr/>
        </p:nvSpPr>
        <p:spPr>
          <a:xfrm>
            <a:off x="1487637" y="3244702"/>
            <a:ext cx="7443216" cy="640080"/>
          </a:xfrm>
          <a:prstGeom prst="rect">
            <a:avLst/>
          </a:prstGeom>
          <a:noFill/>
        </p:spPr>
        <p:txBody>
          <a:bodyPr wrap="square" lIns="0" tIns="0" rIns="0" bIns="0" anchor="t">
            <a:spAutoFit/>
          </a:bodyPr>
          <a:lstStyle/>
          <a:p>
            <a:pPr algn="r" rtl="1"/>
            <a:r>
              <a:rPr lang="ar-SA" sz="2600" b="1">
                <a:solidFill>
                  <a:srgbClr val="2EF2C2"/>
                </a:solidFill>
                <a:latin typeface="Readex Pro"/>
                <a:ea typeface="Readex Pro"/>
                <a:cs typeface="Readex Pro"/>
                <a:sym typeface="Readex Pro"/>
              </a:rPr>
              <a:t>ما بنيناه</a:t>
            </a:r>
          </a:p>
        </p:txBody>
      </p:sp>
      <p:sp>
        <p:nvSpPr>
          <p:cNvPr id="552" name="Rounded Rectangle 551">
            <a:extLst>
              <a:ext uri="{FF2B5EF4-FFF2-40B4-BE49-F238E27FC236}">
                <a16:creationId xmlns:a16="http://schemas.microsoft.com/office/drawing/2014/main" id="{8490D225-F84F-0DE0-41CC-48D25BB5D9FE}"/>
              </a:ext>
            </a:extLst>
          </p:cNvPr>
          <p:cNvSpPr/>
          <p:nvPr/>
        </p:nvSpPr>
        <p:spPr>
          <a:xfrm>
            <a:off x="1487637" y="4067662"/>
            <a:ext cx="7443216" cy="731520"/>
          </a:xfrm>
          <a:prstGeom prst="roundRect">
            <a:avLst>
              <a:gd name="adj" fmla="val 20000"/>
            </a:avLst>
          </a:prstGeom>
          <a:solidFill>
            <a:srgbClr val="161D48"/>
          </a:solidFill>
          <a:ln w="12700">
            <a:solidFill>
              <a:srgbClr val="2EF2C2"/>
            </a:solidFill>
          </a:ln>
        </p:spPr>
        <p:txBody>
          <a:bodyPr rtlCol="0" anchor="ctr"/>
          <a:lstStyle/>
          <a:p>
            <a:endParaRPr/>
          </a:p>
        </p:txBody>
      </p:sp>
      <p:sp>
        <p:nvSpPr>
          <p:cNvPr id="553" name="TextBox 552">
            <a:extLst>
              <a:ext uri="{FF2B5EF4-FFF2-40B4-BE49-F238E27FC236}">
                <a16:creationId xmlns:a16="http://schemas.microsoft.com/office/drawing/2014/main" id="{7153E7CE-E6DD-35E0-546A-F4E8E80D14BB}"/>
              </a:ext>
            </a:extLst>
          </p:cNvPr>
          <p:cNvSpPr txBox="1"/>
          <p:nvPr/>
        </p:nvSpPr>
        <p:spPr>
          <a:xfrm>
            <a:off x="1761957" y="4067662"/>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حارس الدور قبل النموذج</a:t>
            </a:r>
          </a:p>
        </p:txBody>
      </p:sp>
      <p:sp>
        <p:nvSpPr>
          <p:cNvPr id="554" name="Rounded Rectangle 553">
            <a:extLst>
              <a:ext uri="{FF2B5EF4-FFF2-40B4-BE49-F238E27FC236}">
                <a16:creationId xmlns:a16="http://schemas.microsoft.com/office/drawing/2014/main" id="{6C7D157E-A4D4-EE31-BA18-BDBA0987C5A0}"/>
              </a:ext>
            </a:extLst>
          </p:cNvPr>
          <p:cNvSpPr/>
          <p:nvPr/>
        </p:nvSpPr>
        <p:spPr>
          <a:xfrm>
            <a:off x="1487637" y="4982062"/>
            <a:ext cx="7443216" cy="731520"/>
          </a:xfrm>
          <a:prstGeom prst="roundRect">
            <a:avLst>
              <a:gd name="adj" fmla="val 20000"/>
            </a:avLst>
          </a:prstGeom>
          <a:solidFill>
            <a:srgbClr val="161D48"/>
          </a:solidFill>
          <a:ln w="12700">
            <a:solidFill>
              <a:srgbClr val="2EF2C2"/>
            </a:solidFill>
          </a:ln>
        </p:spPr>
        <p:txBody>
          <a:bodyPr rtlCol="0" anchor="ctr"/>
          <a:lstStyle/>
          <a:p>
            <a:endParaRPr/>
          </a:p>
        </p:txBody>
      </p:sp>
      <p:sp>
        <p:nvSpPr>
          <p:cNvPr id="555" name="TextBox 554">
            <a:extLst>
              <a:ext uri="{FF2B5EF4-FFF2-40B4-BE49-F238E27FC236}">
                <a16:creationId xmlns:a16="http://schemas.microsoft.com/office/drawing/2014/main" id="{D9C91F69-9EB4-2BC7-2679-990326A03846}"/>
              </a:ext>
            </a:extLst>
          </p:cNvPr>
          <p:cNvSpPr txBox="1"/>
          <p:nvPr/>
        </p:nvSpPr>
        <p:spPr>
          <a:xfrm>
            <a:off x="1761957" y="4982062"/>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أداة search_bank على البنك</a:t>
            </a:r>
          </a:p>
        </p:txBody>
      </p:sp>
      <p:sp>
        <p:nvSpPr>
          <p:cNvPr id="556" name="Rounded Rectangle 555">
            <a:extLst>
              <a:ext uri="{FF2B5EF4-FFF2-40B4-BE49-F238E27FC236}">
                <a16:creationId xmlns:a16="http://schemas.microsoft.com/office/drawing/2014/main" id="{181EBE4B-314B-86E8-4BAE-72C61C33FC52}"/>
              </a:ext>
            </a:extLst>
          </p:cNvPr>
          <p:cNvSpPr/>
          <p:nvPr/>
        </p:nvSpPr>
        <p:spPr>
          <a:xfrm>
            <a:off x="1487637" y="5896462"/>
            <a:ext cx="7443216" cy="731520"/>
          </a:xfrm>
          <a:prstGeom prst="roundRect">
            <a:avLst>
              <a:gd name="adj" fmla="val 20000"/>
            </a:avLst>
          </a:prstGeom>
          <a:solidFill>
            <a:srgbClr val="161D48"/>
          </a:solidFill>
          <a:ln w="12700">
            <a:solidFill>
              <a:srgbClr val="2EF2C2"/>
            </a:solidFill>
          </a:ln>
        </p:spPr>
        <p:txBody>
          <a:bodyPr rtlCol="0" anchor="ctr"/>
          <a:lstStyle/>
          <a:p>
            <a:endParaRPr/>
          </a:p>
        </p:txBody>
      </p:sp>
      <p:sp>
        <p:nvSpPr>
          <p:cNvPr id="557" name="TextBox 556">
            <a:extLst>
              <a:ext uri="{FF2B5EF4-FFF2-40B4-BE49-F238E27FC236}">
                <a16:creationId xmlns:a16="http://schemas.microsoft.com/office/drawing/2014/main" id="{732960D8-0A4A-C962-C55A-CDDA5B4C5E4F}"/>
              </a:ext>
            </a:extLst>
          </p:cNvPr>
          <p:cNvSpPr txBox="1"/>
          <p:nvPr/>
        </p:nvSpPr>
        <p:spPr>
          <a:xfrm>
            <a:off x="1761957" y="5896462"/>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حراس المخرجات</a:t>
            </a:r>
          </a:p>
        </p:txBody>
      </p:sp>
      <p:sp>
        <p:nvSpPr>
          <p:cNvPr id="558" name="Rounded Rectangle 557">
            <a:extLst>
              <a:ext uri="{FF2B5EF4-FFF2-40B4-BE49-F238E27FC236}">
                <a16:creationId xmlns:a16="http://schemas.microsoft.com/office/drawing/2014/main" id="{27E9FD2E-383C-0231-E1C4-53AB7F9D1EDE}"/>
              </a:ext>
            </a:extLst>
          </p:cNvPr>
          <p:cNvSpPr/>
          <p:nvPr/>
        </p:nvSpPr>
        <p:spPr>
          <a:xfrm>
            <a:off x="1487637" y="6810862"/>
            <a:ext cx="7443216" cy="731520"/>
          </a:xfrm>
          <a:prstGeom prst="roundRect">
            <a:avLst>
              <a:gd name="adj" fmla="val 20000"/>
            </a:avLst>
          </a:prstGeom>
          <a:solidFill>
            <a:srgbClr val="161D48"/>
          </a:solidFill>
          <a:ln w="12700">
            <a:solidFill>
              <a:srgbClr val="2EF2C2"/>
            </a:solidFill>
          </a:ln>
        </p:spPr>
        <p:txBody>
          <a:bodyPr rtlCol="0" anchor="ctr"/>
          <a:lstStyle/>
          <a:p>
            <a:endParaRPr/>
          </a:p>
        </p:txBody>
      </p:sp>
      <p:sp>
        <p:nvSpPr>
          <p:cNvPr id="559" name="TextBox 558">
            <a:extLst>
              <a:ext uri="{FF2B5EF4-FFF2-40B4-BE49-F238E27FC236}">
                <a16:creationId xmlns:a16="http://schemas.microsoft.com/office/drawing/2014/main" id="{EB4D75BF-9301-DC05-93A5-44EDA53EDE06}"/>
              </a:ext>
            </a:extLst>
          </p:cNvPr>
          <p:cNvSpPr txBox="1"/>
          <p:nvPr/>
        </p:nvSpPr>
        <p:spPr>
          <a:xfrm>
            <a:off x="1761957" y="6810862"/>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سجل المصادر للوالدين</a:t>
            </a:r>
          </a:p>
        </p:txBody>
      </p:sp>
      <p:sp>
        <p:nvSpPr>
          <p:cNvPr id="560" name="Rounded Rectangle 559">
            <a:extLst>
              <a:ext uri="{FF2B5EF4-FFF2-40B4-BE49-F238E27FC236}">
                <a16:creationId xmlns:a16="http://schemas.microsoft.com/office/drawing/2014/main" id="{31D7DBDC-1636-732C-7A91-C2107CF7FA46}"/>
              </a:ext>
            </a:extLst>
          </p:cNvPr>
          <p:cNvSpPr/>
          <p:nvPr/>
        </p:nvSpPr>
        <p:spPr>
          <a:xfrm>
            <a:off x="1487637" y="7725262"/>
            <a:ext cx="7443216" cy="731520"/>
          </a:xfrm>
          <a:prstGeom prst="roundRect">
            <a:avLst>
              <a:gd name="adj" fmla="val 20000"/>
            </a:avLst>
          </a:prstGeom>
          <a:solidFill>
            <a:srgbClr val="161D48"/>
          </a:solidFill>
          <a:ln w="12700">
            <a:solidFill>
              <a:srgbClr val="2EF2C2"/>
            </a:solidFill>
          </a:ln>
        </p:spPr>
        <p:txBody>
          <a:bodyPr rtlCol="0" anchor="ctr"/>
          <a:lstStyle/>
          <a:p>
            <a:endParaRPr/>
          </a:p>
        </p:txBody>
      </p:sp>
      <p:sp>
        <p:nvSpPr>
          <p:cNvPr id="561" name="TextBox 560">
            <a:extLst>
              <a:ext uri="{FF2B5EF4-FFF2-40B4-BE49-F238E27FC236}">
                <a16:creationId xmlns:a16="http://schemas.microsoft.com/office/drawing/2014/main" id="{F1215AE7-7B66-F084-455F-22B09F7CA660}"/>
              </a:ext>
            </a:extLst>
          </p:cNvPr>
          <p:cNvSpPr txBox="1"/>
          <p:nvPr/>
        </p:nvSpPr>
        <p:spPr>
          <a:xfrm>
            <a:off x="1761957" y="7725262"/>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تقييم آلي: 216 تشغيلا</a:t>
            </a:r>
          </a:p>
        </p:txBody>
      </p:sp>
      <p:sp>
        <p:nvSpPr>
          <p:cNvPr id="3" name="TextBox 2">
            <a:extLst>
              <a:ext uri="{FF2B5EF4-FFF2-40B4-BE49-F238E27FC236}">
                <a16:creationId xmlns:a16="http://schemas.microsoft.com/office/drawing/2014/main" id="{9D2C9EE2-0E2D-7823-4459-116749D81D53}"/>
              </a:ext>
            </a:extLst>
          </p:cNvPr>
          <p:cNvSpPr txBox="1"/>
          <p:nvPr/>
        </p:nvSpPr>
        <p:spPr>
          <a:xfrm>
            <a:off x="9914223" y="3306726"/>
            <a:ext cx="7443216" cy="640080"/>
          </a:xfrm>
          <a:prstGeom prst="rect">
            <a:avLst/>
          </a:prstGeom>
          <a:noFill/>
        </p:spPr>
        <p:txBody>
          <a:bodyPr wrap="square" lIns="0" tIns="0" rIns="0" bIns="0" anchor="t">
            <a:spAutoFit/>
          </a:bodyPr>
          <a:lstStyle/>
          <a:p>
            <a:pPr algn="r" rtl="1"/>
            <a:r>
              <a:rPr lang="ar-SA" sz="2600" b="1">
                <a:solidFill>
                  <a:srgbClr val="8E99CC"/>
                </a:solidFill>
                <a:latin typeface="Readex Pro"/>
                <a:ea typeface="Readex Pro"/>
                <a:cs typeface="Readex Pro"/>
                <a:sym typeface="Readex Pro"/>
              </a:rPr>
              <a:t>ما استخدمناه</a:t>
            </a:r>
          </a:p>
        </p:txBody>
      </p:sp>
      <p:sp>
        <p:nvSpPr>
          <p:cNvPr id="5" name="Rounded Rectangle 562">
            <a:extLst>
              <a:ext uri="{FF2B5EF4-FFF2-40B4-BE49-F238E27FC236}">
                <a16:creationId xmlns:a16="http://schemas.microsoft.com/office/drawing/2014/main" id="{22296DB8-3C70-2D54-1061-4AFF0BF0FB9D}"/>
              </a:ext>
            </a:extLst>
          </p:cNvPr>
          <p:cNvSpPr/>
          <p:nvPr/>
        </p:nvSpPr>
        <p:spPr>
          <a:xfrm>
            <a:off x="9914223" y="4129686"/>
            <a:ext cx="7443216" cy="731520"/>
          </a:xfrm>
          <a:prstGeom prst="roundRect">
            <a:avLst>
              <a:gd name="adj" fmla="val 20000"/>
            </a:avLst>
          </a:prstGeom>
          <a:solidFill>
            <a:srgbClr val="161D48"/>
          </a:solidFill>
          <a:ln w="12700">
            <a:solidFill>
              <a:srgbClr val="4A5590"/>
            </a:solidFill>
          </a:ln>
        </p:spPr>
        <p:txBody>
          <a:bodyPr rtlCol="0" anchor="ctr"/>
          <a:lstStyle/>
          <a:p>
            <a:endParaRPr/>
          </a:p>
        </p:txBody>
      </p:sp>
      <p:sp>
        <p:nvSpPr>
          <p:cNvPr id="7" name="TextBox 6">
            <a:extLst>
              <a:ext uri="{FF2B5EF4-FFF2-40B4-BE49-F238E27FC236}">
                <a16:creationId xmlns:a16="http://schemas.microsoft.com/office/drawing/2014/main" id="{07E202D7-2851-04F4-DBB0-6D74F04026A8}"/>
              </a:ext>
            </a:extLst>
          </p:cNvPr>
          <p:cNvSpPr txBox="1"/>
          <p:nvPr/>
        </p:nvSpPr>
        <p:spPr>
          <a:xfrm>
            <a:off x="10188543" y="4129686"/>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LiveKit Agents للصوت</a:t>
            </a:r>
          </a:p>
        </p:txBody>
      </p:sp>
      <p:sp>
        <p:nvSpPr>
          <p:cNvPr id="9" name="Rounded Rectangle 564">
            <a:extLst>
              <a:ext uri="{FF2B5EF4-FFF2-40B4-BE49-F238E27FC236}">
                <a16:creationId xmlns:a16="http://schemas.microsoft.com/office/drawing/2014/main" id="{4EFA0BD7-CB01-22F6-E7A9-E38032423007}"/>
              </a:ext>
            </a:extLst>
          </p:cNvPr>
          <p:cNvSpPr/>
          <p:nvPr/>
        </p:nvSpPr>
        <p:spPr>
          <a:xfrm>
            <a:off x="9914223" y="5044086"/>
            <a:ext cx="7443216" cy="731520"/>
          </a:xfrm>
          <a:prstGeom prst="roundRect">
            <a:avLst>
              <a:gd name="adj" fmla="val 20000"/>
            </a:avLst>
          </a:prstGeom>
          <a:solidFill>
            <a:srgbClr val="161D48"/>
          </a:solidFill>
          <a:ln w="12700">
            <a:solidFill>
              <a:srgbClr val="4A5590"/>
            </a:solidFill>
          </a:ln>
        </p:spPr>
        <p:txBody>
          <a:bodyPr rtlCol="0" anchor="ctr"/>
          <a:lstStyle/>
          <a:p>
            <a:endParaRPr/>
          </a:p>
        </p:txBody>
      </p:sp>
      <p:sp>
        <p:nvSpPr>
          <p:cNvPr id="11" name="TextBox 10">
            <a:extLst>
              <a:ext uri="{FF2B5EF4-FFF2-40B4-BE49-F238E27FC236}">
                <a16:creationId xmlns:a16="http://schemas.microsoft.com/office/drawing/2014/main" id="{DD41C1DE-5001-6FDD-9DF3-79D535308CD9}"/>
              </a:ext>
            </a:extLst>
          </p:cNvPr>
          <p:cNvSpPr txBox="1"/>
          <p:nvPr/>
        </p:nvSpPr>
        <p:spPr>
          <a:xfrm>
            <a:off x="10188543" y="5044086"/>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gpt-5.4-mini للحوار</a:t>
            </a:r>
          </a:p>
        </p:txBody>
      </p:sp>
      <p:sp>
        <p:nvSpPr>
          <p:cNvPr id="13" name="Rounded Rectangle 566">
            <a:extLst>
              <a:ext uri="{FF2B5EF4-FFF2-40B4-BE49-F238E27FC236}">
                <a16:creationId xmlns:a16="http://schemas.microsoft.com/office/drawing/2014/main" id="{5101AE54-2FA6-3250-545A-4FF93EB1FD74}"/>
              </a:ext>
            </a:extLst>
          </p:cNvPr>
          <p:cNvSpPr/>
          <p:nvPr/>
        </p:nvSpPr>
        <p:spPr>
          <a:xfrm>
            <a:off x="9914223" y="5958486"/>
            <a:ext cx="7443216" cy="731520"/>
          </a:xfrm>
          <a:prstGeom prst="roundRect">
            <a:avLst>
              <a:gd name="adj" fmla="val 20000"/>
            </a:avLst>
          </a:prstGeom>
          <a:solidFill>
            <a:srgbClr val="161D48"/>
          </a:solidFill>
          <a:ln w="12700">
            <a:solidFill>
              <a:srgbClr val="4A5590"/>
            </a:solidFill>
          </a:ln>
        </p:spPr>
        <p:txBody>
          <a:bodyPr rtlCol="0" anchor="ctr"/>
          <a:lstStyle/>
          <a:p>
            <a:endParaRPr/>
          </a:p>
        </p:txBody>
      </p:sp>
      <p:sp>
        <p:nvSpPr>
          <p:cNvPr id="15" name="TextBox 14">
            <a:extLst>
              <a:ext uri="{FF2B5EF4-FFF2-40B4-BE49-F238E27FC236}">
                <a16:creationId xmlns:a16="http://schemas.microsoft.com/office/drawing/2014/main" id="{5DB951C9-8EB8-A13E-4314-6B378D64D020}"/>
              </a:ext>
            </a:extLst>
          </p:cNvPr>
          <p:cNvSpPr txBox="1"/>
          <p:nvPr/>
        </p:nvSpPr>
        <p:spPr>
          <a:xfrm>
            <a:off x="10188543" y="5958486"/>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OpenAI لتحويل الكلام إلى نص</a:t>
            </a:r>
          </a:p>
        </p:txBody>
      </p:sp>
      <p:sp>
        <p:nvSpPr>
          <p:cNvPr id="17" name="Rounded Rectangle 568">
            <a:extLst>
              <a:ext uri="{FF2B5EF4-FFF2-40B4-BE49-F238E27FC236}">
                <a16:creationId xmlns:a16="http://schemas.microsoft.com/office/drawing/2014/main" id="{4E223FD8-A8D9-02EB-06C5-C121339D07A4}"/>
              </a:ext>
            </a:extLst>
          </p:cNvPr>
          <p:cNvSpPr/>
          <p:nvPr/>
        </p:nvSpPr>
        <p:spPr>
          <a:xfrm>
            <a:off x="9914223" y="6872886"/>
            <a:ext cx="7443216" cy="731520"/>
          </a:xfrm>
          <a:prstGeom prst="roundRect">
            <a:avLst>
              <a:gd name="adj" fmla="val 20000"/>
            </a:avLst>
          </a:prstGeom>
          <a:solidFill>
            <a:srgbClr val="161D48"/>
          </a:solidFill>
          <a:ln w="12700">
            <a:solidFill>
              <a:srgbClr val="4A5590"/>
            </a:solidFill>
          </a:ln>
        </p:spPr>
        <p:txBody>
          <a:bodyPr rtlCol="0" anchor="ctr"/>
          <a:lstStyle/>
          <a:p>
            <a:endParaRPr/>
          </a:p>
        </p:txBody>
      </p:sp>
      <p:sp>
        <p:nvSpPr>
          <p:cNvPr id="19" name="TextBox 18">
            <a:extLst>
              <a:ext uri="{FF2B5EF4-FFF2-40B4-BE49-F238E27FC236}">
                <a16:creationId xmlns:a16="http://schemas.microsoft.com/office/drawing/2014/main" id="{6A111585-91E5-8318-2655-31E7BA36702E}"/>
              </a:ext>
            </a:extLst>
          </p:cNvPr>
          <p:cNvSpPr txBox="1"/>
          <p:nvPr/>
        </p:nvSpPr>
        <p:spPr>
          <a:xfrm>
            <a:off x="10188543" y="6872886"/>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ElevenLabs Flash v2.5 للصوت</a:t>
            </a:r>
          </a:p>
        </p:txBody>
      </p:sp>
      <p:sp>
        <p:nvSpPr>
          <p:cNvPr id="21" name="Rounded Rectangle 570">
            <a:extLst>
              <a:ext uri="{FF2B5EF4-FFF2-40B4-BE49-F238E27FC236}">
                <a16:creationId xmlns:a16="http://schemas.microsoft.com/office/drawing/2014/main" id="{A8AD148C-4133-4309-F9C0-B23F12B46F8B}"/>
              </a:ext>
            </a:extLst>
          </p:cNvPr>
          <p:cNvSpPr/>
          <p:nvPr/>
        </p:nvSpPr>
        <p:spPr>
          <a:xfrm>
            <a:off x="9914223" y="7787286"/>
            <a:ext cx="7443216" cy="731520"/>
          </a:xfrm>
          <a:prstGeom prst="roundRect">
            <a:avLst>
              <a:gd name="adj" fmla="val 20000"/>
            </a:avLst>
          </a:prstGeom>
          <a:solidFill>
            <a:srgbClr val="161D48"/>
          </a:solidFill>
          <a:ln w="12700">
            <a:solidFill>
              <a:srgbClr val="4A5590"/>
            </a:solidFill>
          </a:ln>
        </p:spPr>
        <p:txBody>
          <a:bodyPr rtlCol="0" anchor="ctr"/>
          <a:lstStyle/>
          <a:p>
            <a:endParaRPr/>
          </a:p>
        </p:txBody>
      </p:sp>
      <p:sp>
        <p:nvSpPr>
          <p:cNvPr id="23" name="TextBox 22">
            <a:extLst>
              <a:ext uri="{FF2B5EF4-FFF2-40B4-BE49-F238E27FC236}">
                <a16:creationId xmlns:a16="http://schemas.microsoft.com/office/drawing/2014/main" id="{C6723F20-4AEA-B503-CF87-5E8BCD4C2485}"/>
              </a:ext>
            </a:extLst>
          </p:cNvPr>
          <p:cNvSpPr txBox="1"/>
          <p:nvPr/>
        </p:nvSpPr>
        <p:spPr>
          <a:xfrm>
            <a:off x="10188543" y="7787286"/>
            <a:ext cx="6894576" cy="731520"/>
          </a:xfrm>
          <a:prstGeom prst="rect">
            <a:avLst/>
          </a:prstGeom>
          <a:noFill/>
        </p:spPr>
        <p:txBody>
          <a:bodyPr wrap="square" lIns="0" tIns="0" rIns="0" bIns="0" anchor="ctr">
            <a:spAutoFit/>
          </a:bodyPr>
          <a:lstStyle/>
          <a:p>
            <a:pPr algn="r" rtl="1"/>
            <a:r>
              <a:rPr lang="ar-SA" sz="2200" b="0">
                <a:solidFill>
                  <a:srgbClr val="F2F4FF"/>
                </a:solidFill>
                <a:latin typeface="Readex Pro"/>
                <a:ea typeface="Readex Pro"/>
                <a:cs typeface="Readex Pro"/>
                <a:sym typeface="Readex Pro"/>
              </a:rPr>
              <a:t>Django وPostgres وReact Three Fiber</a:t>
            </a:r>
          </a:p>
        </p:txBody>
      </p:sp>
    </p:spTree>
    <p:extLst>
      <p:ext uri="{BB962C8B-B14F-4D97-AF65-F5344CB8AC3E}">
        <p14:creationId xmlns:p14="http://schemas.microsoft.com/office/powerpoint/2010/main" val="2495993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08 · السلامة · معيار الموثوقية</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السلامة: كيف يحمي الصديق الطفل؟</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15</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Oval 550"/>
          <p:cNvSpPr/>
          <p:nvPr/>
        </p:nvSpPr>
        <p:spPr>
          <a:xfrm>
            <a:off x="15837408" y="3538728"/>
            <a:ext cx="1005840" cy="1005840"/>
          </a:xfrm>
          <a:prstGeom prst="ellipse">
            <a:avLst/>
          </a:prstGeom>
          <a:solidFill>
            <a:srgbClr val="2EF2C2">
              <a:alpha val="14000"/>
            </a:srgbClr>
          </a:solidFill>
          <a:ln w="12700">
            <a:noFill/>
          </a:ln>
        </p:spPr>
        <p:txBody>
          <a:bodyPr rtlCol="0" anchor="ctr"/>
          <a:lstStyle/>
          <a:p>
            <a:endParaRPr/>
          </a:p>
        </p:txBody>
      </p:sp>
      <p:pic>
        <p:nvPicPr>
          <p:cNvPr id="552" name="Picture 551" descr="FaBan-turq.png"/>
          <p:cNvPicPr>
            <a:picLocks noChangeAspect="1"/>
          </p:cNvPicPr>
          <p:nvPr/>
        </p:nvPicPr>
        <p:blipFill>
          <a:blip r:embed="rId5"/>
          <a:stretch>
            <a:fillRect/>
          </a:stretch>
        </p:blipFill>
        <p:spPr>
          <a:xfrm>
            <a:off x="16108985" y="3810305"/>
            <a:ext cx="462686" cy="462686"/>
          </a:xfrm>
          <a:prstGeom prst="rect">
            <a:avLst/>
          </a:prstGeom>
        </p:spPr>
      </p:pic>
      <p:sp>
        <p:nvSpPr>
          <p:cNvPr id="553" name="TextBox 552"/>
          <p:cNvSpPr txBox="1"/>
          <p:nvPr/>
        </p:nvSpPr>
        <p:spPr>
          <a:xfrm>
            <a:off x="8065008" y="3493008"/>
            <a:ext cx="7498080" cy="548640"/>
          </a:xfrm>
          <a:prstGeom prst="rect">
            <a:avLst/>
          </a:prstGeom>
          <a:noFill/>
        </p:spPr>
        <p:txBody>
          <a:bodyPr wrap="square" lIns="0" tIns="0" rIns="0" bIns="0" anchor="t">
            <a:spAutoFit/>
          </a:bodyPr>
          <a:lstStyle/>
          <a:p>
            <a:pPr algn="r" rtl="1"/>
            <a:r>
              <a:rPr lang="ar-SA" sz="2400" b="1">
                <a:solidFill>
                  <a:srgbClr val="F2F4FF"/>
                </a:solidFill>
                <a:latin typeface="Readex Pro"/>
                <a:ea typeface="Readex Pro"/>
                <a:cs typeface="Readex Pro"/>
                <a:sym typeface="Readex Pro"/>
              </a:rPr>
              <a:t>لا فتوى</a:t>
            </a:r>
          </a:p>
        </p:txBody>
      </p:sp>
      <p:sp>
        <p:nvSpPr>
          <p:cNvPr id="554" name="TextBox 553"/>
          <p:cNvSpPr txBox="1"/>
          <p:nvPr/>
        </p:nvSpPr>
        <p:spPr>
          <a:xfrm>
            <a:off x="8065008" y="4041648"/>
            <a:ext cx="7498080" cy="54864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يحيل إلى الوالدين أو عالم</a:t>
            </a:r>
          </a:p>
        </p:txBody>
      </p:sp>
      <p:sp>
        <p:nvSpPr>
          <p:cNvPr id="555" name="Oval 554"/>
          <p:cNvSpPr/>
          <p:nvPr/>
        </p:nvSpPr>
        <p:spPr>
          <a:xfrm>
            <a:off x="15837408" y="4910328"/>
            <a:ext cx="1005840" cy="1005840"/>
          </a:xfrm>
          <a:prstGeom prst="ellipse">
            <a:avLst/>
          </a:prstGeom>
          <a:solidFill>
            <a:srgbClr val="2EF2C2">
              <a:alpha val="14000"/>
            </a:srgbClr>
          </a:solidFill>
          <a:ln w="12700">
            <a:noFill/>
          </a:ln>
        </p:spPr>
        <p:txBody>
          <a:bodyPr rtlCol="0" anchor="ctr"/>
          <a:lstStyle/>
          <a:p>
            <a:endParaRPr/>
          </a:p>
        </p:txBody>
      </p:sp>
      <p:pic>
        <p:nvPicPr>
          <p:cNvPr id="556" name="Picture 555" descr="FaBell-turq.png"/>
          <p:cNvPicPr>
            <a:picLocks noChangeAspect="1"/>
          </p:cNvPicPr>
          <p:nvPr/>
        </p:nvPicPr>
        <p:blipFill>
          <a:blip r:embed="rId6"/>
          <a:stretch>
            <a:fillRect/>
          </a:stretch>
        </p:blipFill>
        <p:spPr>
          <a:xfrm>
            <a:off x="16108985" y="5181905"/>
            <a:ext cx="462686" cy="462686"/>
          </a:xfrm>
          <a:prstGeom prst="rect">
            <a:avLst/>
          </a:prstGeom>
        </p:spPr>
      </p:pic>
      <p:sp>
        <p:nvSpPr>
          <p:cNvPr id="557" name="TextBox 556"/>
          <p:cNvSpPr txBox="1"/>
          <p:nvPr/>
        </p:nvSpPr>
        <p:spPr>
          <a:xfrm>
            <a:off x="8065008" y="4864608"/>
            <a:ext cx="7498080" cy="369332"/>
          </a:xfrm>
          <a:prstGeom prst="rect">
            <a:avLst/>
          </a:prstGeom>
          <a:noFill/>
        </p:spPr>
        <p:txBody>
          <a:bodyPr wrap="square" lIns="0" tIns="0" rIns="0" bIns="0" anchor="t">
            <a:spAutoFit/>
          </a:bodyPr>
          <a:lstStyle/>
          <a:p>
            <a:pPr algn="r" rtl="1"/>
            <a:r>
              <a:rPr lang="ar-SA" sz="2400" b="1" dirty="0">
                <a:solidFill>
                  <a:srgbClr val="F2F4FF"/>
                </a:solidFill>
                <a:latin typeface="Readex Pro"/>
                <a:ea typeface="Readex Pro"/>
                <a:cs typeface="Readex Pro"/>
                <a:sym typeface="Readex Pro"/>
              </a:rPr>
              <a:t>تنبيه الوالدين في حالات </a:t>
            </a:r>
          </a:p>
        </p:txBody>
      </p:sp>
      <p:sp>
        <p:nvSpPr>
          <p:cNvPr id="558" name="TextBox 557"/>
          <p:cNvSpPr txBox="1"/>
          <p:nvPr/>
        </p:nvSpPr>
        <p:spPr>
          <a:xfrm>
            <a:off x="8065008" y="5413248"/>
            <a:ext cx="7498080" cy="307777"/>
          </a:xfrm>
          <a:prstGeom prst="rect">
            <a:avLst/>
          </a:prstGeom>
          <a:noFill/>
        </p:spPr>
        <p:txBody>
          <a:bodyPr wrap="square" lIns="0" tIns="0" rIns="0" bIns="0" anchor="t">
            <a:spAutoFit/>
          </a:bodyPr>
          <a:lstStyle/>
          <a:p>
            <a:pPr algn="r" rtl="1"/>
            <a:r>
              <a:rPr lang="ar-SA" sz="2000" b="0" dirty="0">
                <a:solidFill>
                  <a:srgbClr val="CBCFE6"/>
                </a:solidFill>
                <a:latin typeface="Readex Pro"/>
                <a:ea typeface="Readex Pro"/>
                <a:cs typeface="Readex Pro"/>
                <a:sym typeface="Readex Pro"/>
              </a:rPr>
              <a:t>في 48 من 60 </a:t>
            </a:r>
            <a:r>
              <a:rPr lang="ar-SA" sz="2000" dirty="0">
                <a:solidFill>
                  <a:srgbClr val="CBCFE6"/>
                </a:solidFill>
                <a:latin typeface="Readex Pro"/>
                <a:ea typeface="Readex Pro"/>
                <a:cs typeface="Readex Pro"/>
                <a:sym typeface="Readex Pro"/>
              </a:rPr>
              <a:t>مشكلة حقيقية (حسب تجربتنا)</a:t>
            </a:r>
            <a:endParaRPr lang="ar-SA" sz="2000" b="0" dirty="0">
              <a:solidFill>
                <a:srgbClr val="CBCFE6"/>
              </a:solidFill>
              <a:latin typeface="Readex Pro"/>
              <a:ea typeface="Readex Pro"/>
              <a:cs typeface="Readex Pro"/>
              <a:sym typeface="Readex Pro"/>
            </a:endParaRPr>
          </a:p>
        </p:txBody>
      </p:sp>
      <p:sp>
        <p:nvSpPr>
          <p:cNvPr id="559" name="Oval 558"/>
          <p:cNvSpPr/>
          <p:nvPr/>
        </p:nvSpPr>
        <p:spPr>
          <a:xfrm>
            <a:off x="15837408" y="6281928"/>
            <a:ext cx="1005840" cy="1005840"/>
          </a:xfrm>
          <a:prstGeom prst="ellipse">
            <a:avLst/>
          </a:prstGeom>
          <a:solidFill>
            <a:srgbClr val="2EF2C2">
              <a:alpha val="14000"/>
            </a:srgbClr>
          </a:solidFill>
          <a:ln w="12700">
            <a:noFill/>
          </a:ln>
        </p:spPr>
        <p:txBody>
          <a:bodyPr rtlCol="0" anchor="ctr"/>
          <a:lstStyle/>
          <a:p>
            <a:endParaRPr/>
          </a:p>
        </p:txBody>
      </p:sp>
      <p:pic>
        <p:nvPicPr>
          <p:cNvPr id="560" name="Picture 559" descr="FaHeart-turq.png"/>
          <p:cNvPicPr>
            <a:picLocks noChangeAspect="1"/>
          </p:cNvPicPr>
          <p:nvPr/>
        </p:nvPicPr>
        <p:blipFill>
          <a:blip r:embed="rId7"/>
          <a:stretch>
            <a:fillRect/>
          </a:stretch>
        </p:blipFill>
        <p:spPr>
          <a:xfrm>
            <a:off x="16108985" y="6553505"/>
            <a:ext cx="462686" cy="462686"/>
          </a:xfrm>
          <a:prstGeom prst="rect">
            <a:avLst/>
          </a:prstGeom>
        </p:spPr>
      </p:pic>
      <p:sp>
        <p:nvSpPr>
          <p:cNvPr id="561" name="TextBox 560"/>
          <p:cNvSpPr txBox="1"/>
          <p:nvPr/>
        </p:nvSpPr>
        <p:spPr>
          <a:xfrm>
            <a:off x="8065008" y="6236208"/>
            <a:ext cx="7498080" cy="548640"/>
          </a:xfrm>
          <a:prstGeom prst="rect">
            <a:avLst/>
          </a:prstGeom>
          <a:noFill/>
        </p:spPr>
        <p:txBody>
          <a:bodyPr wrap="square" lIns="0" tIns="0" rIns="0" bIns="0" anchor="t">
            <a:spAutoFit/>
          </a:bodyPr>
          <a:lstStyle/>
          <a:p>
            <a:pPr algn="r" rtl="1"/>
            <a:r>
              <a:rPr lang="ar-SA" sz="2400" b="1">
                <a:solidFill>
                  <a:srgbClr val="F2F4FF"/>
                </a:solidFill>
                <a:latin typeface="Readex Pro"/>
                <a:ea typeface="Readex Pro"/>
                <a:cs typeface="Readex Pro"/>
                <a:sym typeface="Readex Pro"/>
              </a:rPr>
              <a:t>طمأنة</a:t>
            </a:r>
          </a:p>
        </p:txBody>
      </p:sp>
      <p:sp>
        <p:nvSpPr>
          <p:cNvPr id="562" name="TextBox 561"/>
          <p:cNvSpPr txBox="1"/>
          <p:nvPr/>
        </p:nvSpPr>
        <p:spPr>
          <a:xfrm>
            <a:off x="8065008" y="6784848"/>
            <a:ext cx="7498080" cy="54864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للحزن والقلق</a:t>
            </a:r>
          </a:p>
        </p:txBody>
      </p:sp>
      <p:sp>
        <p:nvSpPr>
          <p:cNvPr id="563" name="Oval 562"/>
          <p:cNvSpPr/>
          <p:nvPr/>
        </p:nvSpPr>
        <p:spPr>
          <a:xfrm>
            <a:off x="15837408" y="7653528"/>
            <a:ext cx="1005840" cy="1005840"/>
          </a:xfrm>
          <a:prstGeom prst="ellipse">
            <a:avLst/>
          </a:prstGeom>
          <a:solidFill>
            <a:srgbClr val="2EF2C2">
              <a:alpha val="14000"/>
            </a:srgbClr>
          </a:solidFill>
          <a:ln w="12700">
            <a:noFill/>
          </a:ln>
        </p:spPr>
        <p:txBody>
          <a:bodyPr rtlCol="0" anchor="ctr"/>
          <a:lstStyle/>
          <a:p>
            <a:endParaRPr/>
          </a:p>
        </p:txBody>
      </p:sp>
      <p:pic>
        <p:nvPicPr>
          <p:cNvPr id="564" name="Picture 563" descr="FaUserShield-turq.png"/>
          <p:cNvPicPr>
            <a:picLocks noChangeAspect="1"/>
          </p:cNvPicPr>
          <p:nvPr/>
        </p:nvPicPr>
        <p:blipFill>
          <a:blip r:embed="rId8"/>
          <a:stretch>
            <a:fillRect/>
          </a:stretch>
        </p:blipFill>
        <p:spPr>
          <a:xfrm>
            <a:off x="16108985" y="7925105"/>
            <a:ext cx="462686" cy="462686"/>
          </a:xfrm>
          <a:prstGeom prst="rect">
            <a:avLst/>
          </a:prstGeom>
        </p:spPr>
      </p:pic>
      <p:sp>
        <p:nvSpPr>
          <p:cNvPr id="565" name="TextBox 564"/>
          <p:cNvSpPr txBox="1"/>
          <p:nvPr/>
        </p:nvSpPr>
        <p:spPr>
          <a:xfrm>
            <a:off x="8065008" y="7607808"/>
            <a:ext cx="7498080" cy="548640"/>
          </a:xfrm>
          <a:prstGeom prst="rect">
            <a:avLst/>
          </a:prstGeom>
          <a:noFill/>
        </p:spPr>
        <p:txBody>
          <a:bodyPr wrap="square" lIns="0" tIns="0" rIns="0" bIns="0" anchor="t">
            <a:spAutoFit/>
          </a:bodyPr>
          <a:lstStyle/>
          <a:p>
            <a:pPr algn="r" rtl="1"/>
            <a:r>
              <a:rPr lang="ar-SA" sz="2400" b="1">
                <a:solidFill>
                  <a:srgbClr val="F2F4FF"/>
                </a:solidFill>
                <a:latin typeface="Readex Pro"/>
                <a:ea typeface="Readex Pro"/>
                <a:cs typeface="Readex Pro"/>
                <a:sym typeface="Readex Pro"/>
              </a:rPr>
              <a:t>صادق عن نفسه</a:t>
            </a:r>
          </a:p>
        </p:txBody>
      </p:sp>
      <p:sp>
        <p:nvSpPr>
          <p:cNvPr id="566" name="TextBox 565"/>
          <p:cNvSpPr txBox="1"/>
          <p:nvPr/>
        </p:nvSpPr>
        <p:spPr>
          <a:xfrm>
            <a:off x="8065008" y="8156448"/>
            <a:ext cx="7498080" cy="54864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يقول إنه ذكاء اصطناعي</a:t>
            </a:r>
          </a:p>
        </p:txBody>
      </p:sp>
      <p:sp>
        <p:nvSpPr>
          <p:cNvPr id="567" name="Rounded Rectangle 566"/>
          <p:cNvSpPr/>
          <p:nvPr/>
        </p:nvSpPr>
        <p:spPr>
          <a:xfrm>
            <a:off x="1408176" y="3538728"/>
            <a:ext cx="5852160" cy="224028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68" name="TextBox 567"/>
          <p:cNvSpPr txBox="1"/>
          <p:nvPr/>
        </p:nvSpPr>
        <p:spPr>
          <a:xfrm>
            <a:off x="1682496" y="3767328"/>
            <a:ext cx="5303520" cy="1005840"/>
          </a:xfrm>
          <a:prstGeom prst="rect">
            <a:avLst/>
          </a:prstGeom>
          <a:noFill/>
        </p:spPr>
        <p:txBody>
          <a:bodyPr wrap="square" lIns="0" tIns="0" rIns="0" bIns="0" anchor="t">
            <a:spAutoFit/>
          </a:bodyPr>
          <a:lstStyle/>
          <a:p>
            <a:pPr algn="ctr" rtl="1"/>
            <a:r>
              <a:rPr lang="ar-SA" sz="4400" b="1">
                <a:solidFill>
                  <a:srgbClr val="2EF2C2"/>
                </a:solidFill>
                <a:latin typeface="Readex Pro"/>
                <a:ea typeface="Readex Pro"/>
                <a:cs typeface="Readex Pro"/>
                <a:sym typeface="Readex Pro"/>
              </a:rPr>
              <a:t>60/60</a:t>
            </a:r>
          </a:p>
        </p:txBody>
      </p:sp>
      <p:sp>
        <p:nvSpPr>
          <p:cNvPr id="569" name="TextBox 568"/>
          <p:cNvSpPr txBox="1"/>
          <p:nvPr/>
        </p:nvSpPr>
        <p:spPr>
          <a:xfrm>
            <a:off x="1682496" y="4864608"/>
            <a:ext cx="5303520" cy="777240"/>
          </a:xfrm>
          <a:prstGeom prst="rect">
            <a:avLst/>
          </a:prstGeom>
          <a:noFill/>
        </p:spPr>
        <p:txBody>
          <a:bodyPr wrap="square" lIns="0" tIns="0" rIns="0" bIns="0" anchor="t">
            <a:spAutoFit/>
          </a:bodyPr>
          <a:lstStyle/>
          <a:p>
            <a:pPr algn="ctr" rtl="1"/>
            <a:r>
              <a:rPr lang="ar-SA" sz="2000" b="1" dirty="0">
                <a:solidFill>
                  <a:srgbClr val="F2F4FF"/>
                </a:solidFill>
                <a:latin typeface="Readex Pro"/>
                <a:ea typeface="Readex Pro"/>
                <a:cs typeface="Readex Pro"/>
                <a:sym typeface="Readex Pro"/>
              </a:rPr>
              <a:t>مشكلة حقيقية اكتشفها</a:t>
            </a:r>
          </a:p>
          <a:p>
            <a:pPr algn="ctr" rtl="1"/>
            <a:r>
              <a:rPr lang="ar-SA" sz="1800" b="0" dirty="0">
                <a:solidFill>
                  <a:srgbClr val="F2F4FF"/>
                </a:solidFill>
                <a:latin typeface="Readex Pro"/>
                <a:ea typeface="Readex Pro"/>
                <a:cs typeface="Readex Pro"/>
                <a:sym typeface="Readex Pro"/>
              </a:rPr>
              <a:t>مثل تنمّر أو خوف من شخص</a:t>
            </a:r>
          </a:p>
        </p:txBody>
      </p:sp>
      <p:sp>
        <p:nvSpPr>
          <p:cNvPr id="570" name="Rounded Rectangle 569"/>
          <p:cNvSpPr/>
          <p:nvPr/>
        </p:nvSpPr>
        <p:spPr>
          <a:xfrm>
            <a:off x="1408176" y="6053328"/>
            <a:ext cx="5852160" cy="2240280"/>
          </a:xfrm>
          <a:prstGeom prst="roundRect">
            <a:avLst>
              <a:gd name="adj" fmla="val 7000"/>
            </a:avLst>
          </a:prstGeom>
          <a:solidFill>
            <a:srgbClr val="161D48"/>
          </a:solidFill>
          <a:ln w="12700">
            <a:solidFill>
              <a:srgbClr val="4A5590"/>
            </a:solidFill>
          </a:ln>
        </p:spPr>
        <p:txBody>
          <a:bodyPr rtlCol="0" anchor="ctr"/>
          <a:lstStyle/>
          <a:p>
            <a:endParaRPr/>
          </a:p>
        </p:txBody>
      </p:sp>
      <p:sp>
        <p:nvSpPr>
          <p:cNvPr id="571" name="TextBox 570"/>
          <p:cNvSpPr txBox="1"/>
          <p:nvPr/>
        </p:nvSpPr>
        <p:spPr>
          <a:xfrm>
            <a:off x="1682496" y="6281928"/>
            <a:ext cx="5303520" cy="1005840"/>
          </a:xfrm>
          <a:prstGeom prst="rect">
            <a:avLst/>
          </a:prstGeom>
          <a:noFill/>
        </p:spPr>
        <p:txBody>
          <a:bodyPr wrap="square" lIns="0" tIns="0" rIns="0" bIns="0" anchor="t">
            <a:spAutoFit/>
          </a:bodyPr>
          <a:lstStyle/>
          <a:p>
            <a:pPr algn="ctr" rtl="1"/>
            <a:r>
              <a:rPr lang="ar-SA" sz="4400" b="1">
                <a:solidFill>
                  <a:srgbClr val="2EF2C2"/>
                </a:solidFill>
                <a:latin typeface="Readex Pro"/>
                <a:ea typeface="Readex Pro"/>
                <a:cs typeface="Readex Pro"/>
                <a:sym typeface="Readex Pro"/>
              </a:rPr>
              <a:t>3/66</a:t>
            </a:r>
          </a:p>
        </p:txBody>
      </p:sp>
      <p:sp>
        <p:nvSpPr>
          <p:cNvPr id="572" name="TextBox 571"/>
          <p:cNvSpPr txBox="1"/>
          <p:nvPr/>
        </p:nvSpPr>
        <p:spPr>
          <a:xfrm>
            <a:off x="1682496" y="7379208"/>
            <a:ext cx="5303520" cy="777240"/>
          </a:xfrm>
          <a:prstGeom prst="rect">
            <a:avLst/>
          </a:prstGeom>
          <a:noFill/>
        </p:spPr>
        <p:txBody>
          <a:bodyPr wrap="square" lIns="0" tIns="0" rIns="0" bIns="0" anchor="t">
            <a:spAutoFit/>
          </a:bodyPr>
          <a:lstStyle/>
          <a:p>
            <a:pPr algn="ctr" rtl="1"/>
            <a:r>
              <a:rPr lang="ar-SA" sz="2000" b="1">
                <a:solidFill>
                  <a:srgbClr val="F2F4FF"/>
                </a:solidFill>
                <a:latin typeface="Readex Pro"/>
                <a:ea typeface="Readex Pro"/>
                <a:cs typeface="Readex Pro"/>
                <a:sym typeface="Readex Pro"/>
              </a:rPr>
              <a:t>تنبيه خاطئ فقط للوالدين</a:t>
            </a:r>
          </a:p>
          <a:p>
            <a:pPr algn="ctr" rtl="1"/>
            <a:r>
              <a:rPr lang="ar-SA" sz="1800" b="0">
                <a:solidFill>
                  <a:srgbClr val="F2F4FF"/>
                </a:solidFill>
                <a:latin typeface="Readex Pro"/>
                <a:ea typeface="Readex Pro"/>
                <a:cs typeface="Readex Pro"/>
                <a:sym typeface="Readex Pro"/>
              </a:rPr>
              <a:t>عند مشاعر عادية كالإحراج</a:t>
            </a:r>
          </a:p>
        </p:txBody>
      </p:sp>
      <p:sp>
        <p:nvSpPr>
          <p:cNvPr id="573" name="TextBox 572"/>
          <p:cNvSpPr txBox="1"/>
          <p:nvPr/>
        </p:nvSpPr>
        <p:spPr>
          <a:xfrm>
            <a:off x="1408176" y="9070848"/>
            <a:ext cx="15435072" cy="276999"/>
          </a:xfrm>
          <a:prstGeom prst="rect">
            <a:avLst/>
          </a:prstGeom>
          <a:noFill/>
        </p:spPr>
        <p:txBody>
          <a:bodyPr wrap="square" lIns="0" tIns="0" rIns="0" bIns="0" anchor="t">
            <a:spAutoFit/>
          </a:bodyPr>
          <a:lstStyle/>
          <a:p>
            <a:pPr algn="r" rtl="1"/>
            <a:r>
              <a:rPr lang="ar-SA" sz="1800" b="0" dirty="0">
                <a:solidFill>
                  <a:srgbClr val="8E99CC"/>
                </a:solidFill>
                <a:latin typeface="Readex Pro"/>
                <a:ea typeface="Readex Pro"/>
                <a:cs typeface="Readex Pro"/>
                <a:sym typeface="Readex Pro"/>
              </a:rPr>
              <a:t>اختبار آلي · 6 أكتوبر </a:t>
            </a:r>
          </a:p>
        </p:txBody>
      </p:sp>
      <p:sp>
        <p:nvSpPr>
          <p:cNvPr id="574" name="TextBox 573"/>
          <p:cNvSpPr txBox="1"/>
          <p:nvPr/>
        </p:nvSpPr>
        <p:spPr>
          <a:xfrm>
            <a:off x="1408176" y="2816352"/>
            <a:ext cx="15435072" cy="411480"/>
          </a:xfrm>
          <a:prstGeom prst="rect">
            <a:avLst/>
          </a:prstGeom>
          <a:noFill/>
        </p:spPr>
        <p:txBody>
          <a:bodyPr wrap="square" lIns="0" rIns="0" tIns="0" bIns="0" anchor="t">
            <a:spAutoFit/>
          </a:bodyPr>
          <a:lstStyle/>
          <a:p>
            <a:pPr algn="r" rtl="1"/>
            <a:r>
              <a:rPr lang="ar-SA" sz="1800" b="0">
                <a:solidFill>
                  <a:srgbClr val="CBCFE6"/>
                </a:solidFill>
                <a:latin typeface="Readex Pro"/>
                <a:ea typeface="Readex Pro"/>
                <a:cs typeface="Readex Pro"/>
                <a:sym typeface="Readex Pro"/>
              </a:rPr>
              <a:t>قواعد ثابتة في كل محادثة، اختبرناها بـ42 عبارة بلسان أطفال، كل منها 3 مرات</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601" name="Google Shape;601;p15"/>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604" name="Google Shape;604;p15"/>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09 · النتائج · معيار تحقيق النفع</a:t>
            </a:r>
          </a:p>
        </p:txBody>
      </p:sp>
      <p:sp>
        <p:nvSpPr>
          <p:cNvPr id="605" name="Google Shape;605;p15"/>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النتائج: مصدر حين يُطلب، وصدق حين لا يوجد</a:t>
            </a:r>
          </a:p>
        </p:txBody>
      </p:sp>
      <p:sp>
        <p:nvSpPr>
          <p:cNvPr id="607" name="Google Shape;607;p1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16</a:t>
            </a:fld>
            <a:endParaRPr/>
          </a:p>
        </p:txBody>
      </p:sp>
      <p:sp>
        <p:nvSpPr>
          <p:cNvPr id="608" name="Google Shape;608;p15"/>
          <p:cNvSpPr txBox="1">
            <a:spLocks noGrp="1"/>
          </p:cNvSpPr>
          <p:nvPr>
            <p:ph type="body" idx="3"/>
          </p:nvPr>
        </p:nvSpPr>
        <p:spPr>
          <a:xfrm>
            <a:off x="13716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98%</a:t>
            </a:r>
          </a:p>
        </p:txBody>
      </p:sp>
      <p:sp>
        <p:nvSpPr>
          <p:cNvPr id="609" name="Google Shape;609;p15"/>
          <p:cNvSpPr txBox="1">
            <a:spLocks noGrp="1"/>
          </p:cNvSpPr>
          <p:nvPr>
            <p:ph type="body" idx="4"/>
          </p:nvPr>
        </p:nvSpPr>
        <p:spPr>
          <a:xfrm>
            <a:off x="13716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طلب مصدرا فوجده</a:t>
            </a:r>
          </a:p>
        </p:txBody>
      </p:sp>
      <p:sp>
        <p:nvSpPr>
          <p:cNvPr id="610" name="Google Shape;610;p15"/>
          <p:cNvSpPr txBox="1">
            <a:spLocks noGrp="1"/>
          </p:cNvSpPr>
          <p:nvPr>
            <p:ph type="body" idx="5"/>
          </p:nvPr>
        </p:nvSpPr>
        <p:spPr>
          <a:xfrm>
            <a:off x="13716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59 من 60</a:t>
            </a:r>
          </a:p>
        </p:txBody>
      </p:sp>
      <p:sp>
        <p:nvSpPr>
          <p:cNvPr id="611" name="Google Shape;611;p15"/>
          <p:cNvSpPr txBox="1">
            <a:spLocks noGrp="1"/>
          </p:cNvSpPr>
          <p:nvPr>
            <p:ph type="body" idx="6"/>
          </p:nvPr>
        </p:nvSpPr>
        <p:spPr>
          <a:xfrm>
            <a:off x="9715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97%</a:t>
            </a:r>
          </a:p>
        </p:txBody>
      </p:sp>
      <p:sp>
        <p:nvSpPr>
          <p:cNvPr id="612" name="Google Shape;612;p15"/>
          <p:cNvSpPr txBox="1">
            <a:spLocks noGrp="1"/>
          </p:cNvSpPr>
          <p:nvPr>
            <p:ph type="body" idx="7"/>
          </p:nvPr>
        </p:nvSpPr>
        <p:spPr>
          <a:xfrm>
            <a:off x="97155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خارج البنك: قال لا أجد</a:t>
            </a:r>
          </a:p>
        </p:txBody>
      </p:sp>
      <p:sp>
        <p:nvSpPr>
          <p:cNvPr id="613" name="Google Shape;613;p15"/>
          <p:cNvSpPr txBox="1">
            <a:spLocks noGrp="1"/>
          </p:cNvSpPr>
          <p:nvPr>
            <p:ph type="body" idx="8"/>
          </p:nvPr>
        </p:nvSpPr>
        <p:spPr>
          <a:xfrm>
            <a:off x="97155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67 من 69</a:t>
            </a:r>
          </a:p>
        </p:txBody>
      </p:sp>
      <p:sp>
        <p:nvSpPr>
          <p:cNvPr id="614" name="Google Shape;614;p15"/>
          <p:cNvSpPr txBox="1">
            <a:spLocks noGrp="1"/>
          </p:cNvSpPr>
          <p:nvPr>
            <p:ph type="body" idx="9"/>
          </p:nvPr>
        </p:nvSpPr>
        <p:spPr>
          <a:xfrm>
            <a:off x="5715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2/462</a:t>
            </a:r>
          </a:p>
        </p:txBody>
      </p:sp>
      <p:sp>
        <p:nvSpPr>
          <p:cNvPr id="615" name="Google Shape;615;p15"/>
          <p:cNvSpPr txBox="1">
            <a:spLocks noGrp="1"/>
          </p:cNvSpPr>
          <p:nvPr>
            <p:ph type="body" idx="13"/>
          </p:nvPr>
        </p:nvSpPr>
        <p:spPr>
          <a:xfrm>
            <a:off x="5715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نسب كلاما بلا رخصة</a:t>
            </a:r>
          </a:p>
        </p:txBody>
      </p:sp>
      <p:sp>
        <p:nvSpPr>
          <p:cNvPr id="616" name="Google Shape;616;p15"/>
          <p:cNvSpPr txBox="1">
            <a:spLocks noGrp="1"/>
          </p:cNvSpPr>
          <p:nvPr>
            <p:ph type="body" idx="14"/>
          </p:nvPr>
        </p:nvSpPr>
        <p:spPr>
          <a:xfrm>
            <a:off x="5715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ردان رصدهما التقييم</a:t>
            </a:r>
          </a:p>
        </p:txBody>
      </p:sp>
      <p:sp>
        <p:nvSpPr>
          <p:cNvPr id="617" name="Google Shape;617;p15"/>
          <p:cNvSpPr txBox="1">
            <a:spLocks noGrp="1"/>
          </p:cNvSpPr>
          <p:nvPr>
            <p:ph type="body" idx="15"/>
          </p:nvPr>
        </p:nvSpPr>
        <p:spPr>
          <a:xfrm>
            <a:off x="1714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0/216</a:t>
            </a:r>
          </a:p>
        </p:txBody>
      </p:sp>
      <p:sp>
        <p:nvSpPr>
          <p:cNvPr id="618" name="Google Shape;618;p15"/>
          <p:cNvSpPr txBox="1">
            <a:spLocks noGrp="1"/>
          </p:cNvSpPr>
          <p:nvPr>
            <p:ph type="body" idx="16"/>
          </p:nvPr>
        </p:nvSpPr>
        <p:spPr>
          <a:xfrm>
            <a:off x="1485900" y="6048375"/>
            <a:ext cx="38862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تشغيل انتهى بخطأ</a:t>
            </a:r>
          </a:p>
        </p:txBody>
      </p:sp>
      <p:sp>
        <p:nvSpPr>
          <p:cNvPr id="619" name="Google Shape;619;p15"/>
          <p:cNvSpPr txBox="1">
            <a:spLocks noGrp="1"/>
          </p:cNvSpPr>
          <p:nvPr>
            <p:ph type="body" idx="17"/>
          </p:nvPr>
        </p:nvSpPr>
        <p:spPr>
          <a:xfrm>
            <a:off x="1485900" y="7000875"/>
            <a:ext cx="38862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استقرار الوكيل</a:t>
            </a:r>
          </a:p>
        </p:txBody>
      </p:sp>
      <p:sp>
        <p:nvSpPr>
          <p:cNvPr id="620" name="Google Shape;620;p15"/>
          <p:cNvSpPr txBox="1">
            <a:spLocks noGrp="1"/>
          </p:cNvSpPr>
          <p:nvPr>
            <p:ph type="body" idx="18"/>
          </p:nvPr>
        </p:nvSpPr>
        <p:spPr>
          <a:xfrm>
            <a:off x="1408176" y="8183880"/>
            <a:ext cx="15435072" cy="1188720"/>
          </a:xfrm>
          <a:prstGeom prst="rect">
            <a:avLst/>
          </a:prstGeom>
          <a:noFill/>
          <a:ln>
            <a:noFill/>
          </a:ln>
        </p:spPr>
        <p:txBody>
          <a:bodyPr spcFirstLastPara="1" wrap="square" lIns="0" tIns="0" rIns="0" bIns="0" anchor="t" anchorCtr="0">
            <a:noAutofit/>
          </a:bodyPr>
          <a:lstStyle/>
          <a:p>
            <a:pPr marL="0" indent="0">
              <a:buSzPts val="1800"/>
            </a:pPr>
            <a:r>
              <a:rPr lang="ar-SA" sz="1800" b="0" dirty="0">
                <a:solidFill>
                  <a:srgbClr val="CBCFE6"/>
                </a:solidFill>
                <a:latin typeface="Readex Pro"/>
                <a:ea typeface="Readex Pro"/>
                <a:cs typeface="Readex Pro"/>
                <a:sym typeface="Readex Pro"/>
              </a:rPr>
              <a:t>تقييم آلي · 6 أكتوبر </a:t>
            </a:r>
            <a:r>
              <a:rPr lang="ar-SA" sz="1800" dirty="0">
                <a:solidFill>
                  <a:srgbClr val="CBCFE6"/>
                </a:solidFill>
              </a:rPr>
              <a:t> </a:t>
            </a:r>
            <a:r>
              <a:rPr lang="ar-SA" sz="1800" b="0" dirty="0">
                <a:solidFill>
                  <a:srgbClr val="CBCFE6"/>
                </a:solidFill>
                <a:latin typeface="Readex Pro"/>
                <a:ea typeface="Readex Pro"/>
                <a:cs typeface="Readex Pro"/>
                <a:sym typeface="Readex Pro"/>
              </a:rPr>
              <a:t>· الجدول في الملحق</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10 · ما بنيناه · معيار تحقيق النفع</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ما بنيناه في 3 أيام</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17</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TextBox 550"/>
          <p:cNvSpPr txBox="1"/>
          <p:nvPr/>
        </p:nvSpPr>
        <p:spPr>
          <a:xfrm>
            <a:off x="10168128" y="3154680"/>
            <a:ext cx="6675120" cy="548640"/>
          </a:xfrm>
          <a:prstGeom prst="rect">
            <a:avLst/>
          </a:prstGeom>
          <a:noFill/>
        </p:spPr>
        <p:txBody>
          <a:bodyPr wrap="square" lIns="0" tIns="0" rIns="0" bIns="0" anchor="t">
            <a:spAutoFit/>
          </a:bodyPr>
          <a:lstStyle/>
          <a:p>
            <a:pPr algn="ctr" rtl="1"/>
            <a:r>
              <a:rPr lang="ar-SA" sz="2400" b="1">
                <a:solidFill>
                  <a:srgbClr val="8E99CC"/>
                </a:solidFill>
                <a:latin typeface="Readex Pro"/>
                <a:ea typeface="Readex Pro"/>
                <a:cs typeface="Readex Pro"/>
                <a:sym typeface="Readex Pro"/>
              </a:rPr>
              <a:t>قبل 4 أكتوبر</a:t>
            </a:r>
          </a:p>
        </p:txBody>
      </p:sp>
      <p:sp>
        <p:nvSpPr>
          <p:cNvPr id="552" name="TextBox 551"/>
          <p:cNvSpPr txBox="1"/>
          <p:nvPr/>
        </p:nvSpPr>
        <p:spPr>
          <a:xfrm>
            <a:off x="1408176" y="3154680"/>
            <a:ext cx="6675120" cy="548640"/>
          </a:xfrm>
          <a:prstGeom prst="rect">
            <a:avLst/>
          </a:prstGeom>
          <a:noFill/>
        </p:spPr>
        <p:txBody>
          <a:bodyPr wrap="square" lIns="0" tIns="0" rIns="0" bIns="0" anchor="t">
            <a:spAutoFit/>
          </a:bodyPr>
          <a:lstStyle/>
          <a:p>
            <a:pPr algn="ctr" rtl="1"/>
            <a:r>
              <a:rPr lang="ar-SA" sz="2400" b="1">
                <a:solidFill>
                  <a:srgbClr val="2EF2C2"/>
                </a:solidFill>
                <a:latin typeface="Readex Pro"/>
                <a:ea typeface="Readex Pro"/>
                <a:cs typeface="Readex Pro"/>
                <a:sym typeface="Readex Pro"/>
              </a:rPr>
              <a:t>بعد 6 أكتوبر</a:t>
            </a:r>
          </a:p>
        </p:txBody>
      </p:sp>
      <p:sp>
        <p:nvSpPr>
          <p:cNvPr id="553" name="Rounded Rectangle 552"/>
          <p:cNvSpPr/>
          <p:nvPr/>
        </p:nvSpPr>
        <p:spPr>
          <a:xfrm>
            <a:off x="10168128" y="3886200"/>
            <a:ext cx="6675120" cy="960120"/>
          </a:xfrm>
          <a:prstGeom prst="roundRect">
            <a:avLst>
              <a:gd name="adj" fmla="val 15000"/>
            </a:avLst>
          </a:prstGeom>
          <a:solidFill>
            <a:srgbClr val="161D48"/>
          </a:solidFill>
          <a:ln w="12700">
            <a:solidFill>
              <a:srgbClr val="4A5590"/>
            </a:solidFill>
          </a:ln>
        </p:spPr>
        <p:txBody>
          <a:bodyPr rtlCol="0" anchor="ctr"/>
          <a:lstStyle/>
          <a:p>
            <a:endParaRPr/>
          </a:p>
        </p:txBody>
      </p:sp>
      <p:sp>
        <p:nvSpPr>
          <p:cNvPr id="554" name="TextBox 553"/>
          <p:cNvSpPr txBox="1"/>
          <p:nvPr/>
        </p:nvSpPr>
        <p:spPr>
          <a:xfrm>
            <a:off x="10442448" y="3886200"/>
            <a:ext cx="6126480" cy="960120"/>
          </a:xfrm>
          <a:prstGeom prst="rect">
            <a:avLst/>
          </a:prstGeom>
          <a:noFill/>
        </p:spPr>
        <p:txBody>
          <a:bodyPr wrap="square" lIns="0" tIns="0" rIns="0" bIns="0" anchor="ctr">
            <a:spAutoFit/>
          </a:bodyPr>
          <a:lstStyle/>
          <a:p>
            <a:pPr algn="ctr" rtl="1"/>
            <a:r>
              <a:rPr lang="ar-SA" sz="2200" b="0">
                <a:solidFill>
                  <a:srgbClr val="CBCFE6"/>
                </a:solidFill>
                <a:latin typeface="Readex Pro"/>
                <a:ea typeface="Readex Pro"/>
                <a:cs typeface="Readex Pro"/>
                <a:sym typeface="Readex Pro"/>
              </a:rPr>
              <a:t>6 موضوعات و19 مرجعا بلا رابط</a:t>
            </a:r>
          </a:p>
        </p:txBody>
      </p:sp>
      <p:sp>
        <p:nvSpPr>
          <p:cNvPr id="555" name="Left Arrow 554"/>
          <p:cNvSpPr/>
          <p:nvPr/>
        </p:nvSpPr>
        <p:spPr>
          <a:xfrm>
            <a:off x="8311896" y="4187952"/>
            <a:ext cx="1627632" cy="365760"/>
          </a:xfrm>
          <a:prstGeom prst="leftArrow">
            <a:avLst/>
          </a:prstGeom>
          <a:solidFill>
            <a:srgbClr val="2EF2C2">
              <a:alpha val="80000"/>
            </a:srgbClr>
          </a:solidFill>
          <a:ln w="12700">
            <a:noFill/>
          </a:ln>
        </p:spPr>
        <p:txBody>
          <a:bodyPr rtlCol="0" anchor="ctr"/>
          <a:lstStyle/>
          <a:p>
            <a:pPr algn="ctr"/>
            <a:endParaRPr/>
          </a:p>
        </p:txBody>
      </p:sp>
      <p:sp>
        <p:nvSpPr>
          <p:cNvPr id="556" name="Rounded Rectangle 555"/>
          <p:cNvSpPr/>
          <p:nvPr/>
        </p:nvSpPr>
        <p:spPr>
          <a:xfrm>
            <a:off x="1408176" y="3886200"/>
            <a:ext cx="6675120" cy="960120"/>
          </a:xfrm>
          <a:prstGeom prst="roundRect">
            <a:avLst>
              <a:gd name="adj" fmla="val 15000"/>
            </a:avLst>
          </a:prstGeom>
          <a:solidFill>
            <a:srgbClr val="2EF2C2">
              <a:alpha val="14000"/>
            </a:srgbClr>
          </a:solidFill>
          <a:ln w="12700">
            <a:solidFill>
              <a:srgbClr val="2EF2C2"/>
            </a:solidFill>
          </a:ln>
        </p:spPr>
        <p:txBody>
          <a:bodyPr rtlCol="0" anchor="ctr"/>
          <a:lstStyle/>
          <a:p>
            <a:endParaRPr/>
          </a:p>
        </p:txBody>
      </p:sp>
      <p:sp>
        <p:nvSpPr>
          <p:cNvPr id="557" name="TextBox 556"/>
          <p:cNvSpPr txBox="1"/>
          <p:nvPr/>
        </p:nvSpPr>
        <p:spPr>
          <a:xfrm>
            <a:off x="1682496" y="4196983"/>
            <a:ext cx="6126480" cy="338554"/>
          </a:xfrm>
          <a:prstGeom prst="rect">
            <a:avLst/>
          </a:prstGeom>
          <a:noFill/>
        </p:spPr>
        <p:txBody>
          <a:bodyPr wrap="square" lIns="0" tIns="0" rIns="0" bIns="0" anchor="ctr">
            <a:spAutoFit/>
          </a:bodyPr>
          <a:lstStyle/>
          <a:p>
            <a:pPr algn="ctr" rtl="1"/>
            <a:r>
              <a:rPr lang="ar-SA" sz="2200" b="1" dirty="0">
                <a:solidFill>
                  <a:srgbClr val="F2F4FF"/>
                </a:solidFill>
                <a:latin typeface="Readex Pro"/>
                <a:ea typeface="Readex Pro"/>
                <a:cs typeface="Readex Pro"/>
                <a:sym typeface="Readex Pro"/>
              </a:rPr>
              <a:t>273 عنصرا مراجعا و38 قيمة أخلاقية</a:t>
            </a:r>
          </a:p>
        </p:txBody>
      </p:sp>
      <p:sp>
        <p:nvSpPr>
          <p:cNvPr id="558" name="Rounded Rectangle 557"/>
          <p:cNvSpPr/>
          <p:nvPr/>
        </p:nvSpPr>
        <p:spPr>
          <a:xfrm>
            <a:off x="10168128" y="5074920"/>
            <a:ext cx="6675120" cy="960120"/>
          </a:xfrm>
          <a:prstGeom prst="roundRect">
            <a:avLst>
              <a:gd name="adj" fmla="val 15000"/>
            </a:avLst>
          </a:prstGeom>
          <a:solidFill>
            <a:srgbClr val="161D48"/>
          </a:solidFill>
          <a:ln w="12700">
            <a:solidFill>
              <a:srgbClr val="4A5590"/>
            </a:solidFill>
          </a:ln>
        </p:spPr>
        <p:txBody>
          <a:bodyPr rtlCol="0" anchor="ctr"/>
          <a:lstStyle/>
          <a:p>
            <a:endParaRPr/>
          </a:p>
        </p:txBody>
      </p:sp>
      <p:sp>
        <p:nvSpPr>
          <p:cNvPr id="559" name="TextBox 558"/>
          <p:cNvSpPr txBox="1"/>
          <p:nvPr/>
        </p:nvSpPr>
        <p:spPr>
          <a:xfrm>
            <a:off x="10442448" y="5074920"/>
            <a:ext cx="6126480" cy="960120"/>
          </a:xfrm>
          <a:prstGeom prst="rect">
            <a:avLst/>
          </a:prstGeom>
          <a:noFill/>
        </p:spPr>
        <p:txBody>
          <a:bodyPr wrap="square" lIns="0" tIns="0" rIns="0" bIns="0" anchor="ctr">
            <a:spAutoFit/>
          </a:bodyPr>
          <a:lstStyle/>
          <a:p>
            <a:pPr algn="ctr" rtl="1"/>
            <a:r>
              <a:rPr lang="ar-SA" sz="2200" b="0">
                <a:solidFill>
                  <a:srgbClr val="CBCFE6"/>
                </a:solidFill>
                <a:latin typeface="Readex Pro"/>
                <a:ea typeface="Readex Pro"/>
                <a:cs typeface="Readex Pro"/>
                <a:sym typeface="Readex Pro"/>
              </a:rPr>
              <a:t>لا بطاقة مصدر</a:t>
            </a:r>
          </a:p>
        </p:txBody>
      </p:sp>
      <p:sp>
        <p:nvSpPr>
          <p:cNvPr id="560" name="Left Arrow 559"/>
          <p:cNvSpPr/>
          <p:nvPr/>
        </p:nvSpPr>
        <p:spPr>
          <a:xfrm>
            <a:off x="8311896" y="5376672"/>
            <a:ext cx="1627632" cy="365760"/>
          </a:xfrm>
          <a:prstGeom prst="leftArrow">
            <a:avLst/>
          </a:prstGeom>
          <a:solidFill>
            <a:srgbClr val="2EF2C2">
              <a:alpha val="80000"/>
            </a:srgbClr>
          </a:solidFill>
          <a:ln w="12700">
            <a:noFill/>
          </a:ln>
        </p:spPr>
        <p:txBody>
          <a:bodyPr rtlCol="0" anchor="ctr"/>
          <a:lstStyle/>
          <a:p>
            <a:pPr algn="ctr"/>
            <a:endParaRPr/>
          </a:p>
        </p:txBody>
      </p:sp>
      <p:sp>
        <p:nvSpPr>
          <p:cNvPr id="561" name="Rounded Rectangle 560"/>
          <p:cNvSpPr/>
          <p:nvPr/>
        </p:nvSpPr>
        <p:spPr>
          <a:xfrm>
            <a:off x="1408176" y="5074920"/>
            <a:ext cx="6675120" cy="960120"/>
          </a:xfrm>
          <a:prstGeom prst="roundRect">
            <a:avLst>
              <a:gd name="adj" fmla="val 15000"/>
            </a:avLst>
          </a:prstGeom>
          <a:solidFill>
            <a:srgbClr val="2EF2C2">
              <a:alpha val="14000"/>
            </a:srgbClr>
          </a:solidFill>
          <a:ln w="12700">
            <a:solidFill>
              <a:srgbClr val="2EF2C2"/>
            </a:solidFill>
          </a:ln>
        </p:spPr>
        <p:txBody>
          <a:bodyPr rtlCol="0" anchor="ctr"/>
          <a:lstStyle/>
          <a:p>
            <a:endParaRPr/>
          </a:p>
        </p:txBody>
      </p:sp>
      <p:sp>
        <p:nvSpPr>
          <p:cNvPr id="562" name="TextBox 561"/>
          <p:cNvSpPr txBox="1"/>
          <p:nvPr/>
        </p:nvSpPr>
        <p:spPr>
          <a:xfrm>
            <a:off x="1682496" y="5074920"/>
            <a:ext cx="6126480" cy="960120"/>
          </a:xfrm>
          <a:prstGeom prst="rect">
            <a:avLst/>
          </a:prstGeom>
          <a:noFill/>
        </p:spPr>
        <p:txBody>
          <a:bodyPr wrap="square" lIns="0" tIns="0" rIns="0" bIns="0" anchor="ctr">
            <a:spAutoFit/>
          </a:bodyPr>
          <a:lstStyle/>
          <a:p>
            <a:pPr algn="ctr" rtl="1"/>
            <a:r>
              <a:rPr lang="ar-SA" sz="2200" b="1">
                <a:solidFill>
                  <a:srgbClr val="F2F4FF"/>
                </a:solidFill>
                <a:latin typeface="Readex Pro"/>
                <a:ea typeface="Readex Pro"/>
                <a:cs typeface="Readex Pro"/>
                <a:sym typeface="Readex Pro"/>
              </a:rPr>
              <a:t>بطاقة بمصدرها، وصفحة للوالدين</a:t>
            </a:r>
          </a:p>
        </p:txBody>
      </p:sp>
      <p:sp>
        <p:nvSpPr>
          <p:cNvPr id="563" name="Rounded Rectangle 562"/>
          <p:cNvSpPr/>
          <p:nvPr/>
        </p:nvSpPr>
        <p:spPr>
          <a:xfrm>
            <a:off x="10168128" y="6263640"/>
            <a:ext cx="6675120" cy="960120"/>
          </a:xfrm>
          <a:prstGeom prst="roundRect">
            <a:avLst>
              <a:gd name="adj" fmla="val 15000"/>
            </a:avLst>
          </a:prstGeom>
          <a:solidFill>
            <a:srgbClr val="161D48"/>
          </a:solidFill>
          <a:ln w="12700">
            <a:solidFill>
              <a:srgbClr val="4A5590"/>
            </a:solidFill>
          </a:ln>
        </p:spPr>
        <p:txBody>
          <a:bodyPr rtlCol="0" anchor="ctr"/>
          <a:lstStyle/>
          <a:p>
            <a:endParaRPr/>
          </a:p>
        </p:txBody>
      </p:sp>
      <p:sp>
        <p:nvSpPr>
          <p:cNvPr id="564" name="TextBox 563"/>
          <p:cNvSpPr txBox="1"/>
          <p:nvPr/>
        </p:nvSpPr>
        <p:spPr>
          <a:xfrm>
            <a:off x="10442448" y="6263640"/>
            <a:ext cx="6126480" cy="960120"/>
          </a:xfrm>
          <a:prstGeom prst="rect">
            <a:avLst/>
          </a:prstGeom>
          <a:noFill/>
        </p:spPr>
        <p:txBody>
          <a:bodyPr wrap="square" lIns="0" tIns="0" rIns="0" bIns="0" anchor="ctr">
            <a:spAutoFit/>
          </a:bodyPr>
          <a:lstStyle/>
          <a:p>
            <a:pPr algn="ctr" rtl="1"/>
            <a:r>
              <a:rPr lang="ar-SA" sz="2200" b="0">
                <a:solidFill>
                  <a:srgbClr val="CBCFE6"/>
                </a:solidFill>
                <a:latin typeface="Readex Pro"/>
                <a:ea typeface="Readex Pro"/>
                <a:cs typeface="Readex Pro"/>
                <a:sym typeface="Readex Pro"/>
              </a:rPr>
              <a:t>صوت xAI، والفك وحده يتحرك</a:t>
            </a:r>
          </a:p>
        </p:txBody>
      </p:sp>
      <p:sp>
        <p:nvSpPr>
          <p:cNvPr id="565" name="Left Arrow 564"/>
          <p:cNvSpPr/>
          <p:nvPr/>
        </p:nvSpPr>
        <p:spPr>
          <a:xfrm>
            <a:off x="8311896" y="6565392"/>
            <a:ext cx="1627632" cy="365760"/>
          </a:xfrm>
          <a:prstGeom prst="leftArrow">
            <a:avLst/>
          </a:prstGeom>
          <a:solidFill>
            <a:srgbClr val="2EF2C2">
              <a:alpha val="80000"/>
            </a:srgbClr>
          </a:solidFill>
          <a:ln w="12700">
            <a:noFill/>
          </a:ln>
        </p:spPr>
        <p:txBody>
          <a:bodyPr rtlCol="0" anchor="ctr"/>
          <a:lstStyle/>
          <a:p>
            <a:pPr algn="ctr"/>
            <a:endParaRPr/>
          </a:p>
        </p:txBody>
      </p:sp>
      <p:sp>
        <p:nvSpPr>
          <p:cNvPr id="566" name="Rounded Rectangle 565"/>
          <p:cNvSpPr/>
          <p:nvPr/>
        </p:nvSpPr>
        <p:spPr>
          <a:xfrm>
            <a:off x="1408176" y="6263640"/>
            <a:ext cx="6675120" cy="960120"/>
          </a:xfrm>
          <a:prstGeom prst="roundRect">
            <a:avLst>
              <a:gd name="adj" fmla="val 15000"/>
            </a:avLst>
          </a:prstGeom>
          <a:solidFill>
            <a:srgbClr val="2EF2C2">
              <a:alpha val="14000"/>
            </a:srgbClr>
          </a:solidFill>
          <a:ln w="12700">
            <a:solidFill>
              <a:srgbClr val="2EF2C2"/>
            </a:solidFill>
          </a:ln>
        </p:spPr>
        <p:txBody>
          <a:bodyPr rtlCol="0" anchor="ctr"/>
          <a:lstStyle/>
          <a:p>
            <a:endParaRPr/>
          </a:p>
        </p:txBody>
      </p:sp>
      <p:sp>
        <p:nvSpPr>
          <p:cNvPr id="567" name="TextBox 566"/>
          <p:cNvSpPr txBox="1"/>
          <p:nvPr/>
        </p:nvSpPr>
        <p:spPr>
          <a:xfrm>
            <a:off x="1682496" y="6574423"/>
            <a:ext cx="6126480" cy="338554"/>
          </a:xfrm>
          <a:prstGeom prst="rect">
            <a:avLst/>
          </a:prstGeom>
          <a:noFill/>
        </p:spPr>
        <p:txBody>
          <a:bodyPr wrap="square" lIns="0" tIns="0" rIns="0" bIns="0" anchor="ctr">
            <a:spAutoFit/>
          </a:bodyPr>
          <a:lstStyle/>
          <a:p>
            <a:pPr algn="ctr" rtl="1"/>
            <a:r>
              <a:rPr lang="ar-SA" sz="2200" b="1" dirty="0">
                <a:solidFill>
                  <a:srgbClr val="F2F4FF"/>
                </a:solidFill>
                <a:latin typeface="Readex Pro"/>
                <a:ea typeface="Readex Pro"/>
                <a:cs typeface="Readex Pro"/>
                <a:sym typeface="Readex Pro"/>
              </a:rPr>
              <a:t>صوت </a:t>
            </a:r>
            <a:r>
              <a:rPr lang="ar-SA" sz="2200" b="1" dirty="0" err="1">
                <a:solidFill>
                  <a:srgbClr val="F2F4FF"/>
                </a:solidFill>
                <a:latin typeface="Readex Pro"/>
                <a:ea typeface="Readex Pro"/>
                <a:cs typeface="Readex Pro"/>
                <a:sym typeface="Readex Pro"/>
              </a:rPr>
              <a:t>ElevenLabs</a:t>
            </a:r>
            <a:r>
              <a:rPr lang="ar-SA" sz="2200" b="1" dirty="0">
                <a:solidFill>
                  <a:srgbClr val="F2F4FF"/>
                </a:solidFill>
                <a:latin typeface="Readex Pro"/>
                <a:ea typeface="Readex Pro"/>
                <a:cs typeface="Readex Pro"/>
                <a:sym typeface="Readex Pro"/>
              </a:rPr>
              <a:t>، وشفاه و30 حركة جسد</a:t>
            </a:r>
          </a:p>
        </p:txBody>
      </p:sp>
      <p:sp>
        <p:nvSpPr>
          <p:cNvPr id="568" name="Rounded Rectangle 567"/>
          <p:cNvSpPr/>
          <p:nvPr/>
        </p:nvSpPr>
        <p:spPr>
          <a:xfrm>
            <a:off x="10168128" y="7452360"/>
            <a:ext cx="6675120" cy="960120"/>
          </a:xfrm>
          <a:prstGeom prst="roundRect">
            <a:avLst>
              <a:gd name="adj" fmla="val 15000"/>
            </a:avLst>
          </a:prstGeom>
          <a:solidFill>
            <a:srgbClr val="161D48"/>
          </a:solidFill>
          <a:ln w="12700">
            <a:solidFill>
              <a:srgbClr val="4A5590"/>
            </a:solidFill>
          </a:ln>
        </p:spPr>
        <p:txBody>
          <a:bodyPr rtlCol="0" anchor="ctr"/>
          <a:lstStyle/>
          <a:p>
            <a:endParaRPr/>
          </a:p>
        </p:txBody>
      </p:sp>
      <p:sp>
        <p:nvSpPr>
          <p:cNvPr id="569" name="TextBox 568"/>
          <p:cNvSpPr txBox="1"/>
          <p:nvPr/>
        </p:nvSpPr>
        <p:spPr>
          <a:xfrm>
            <a:off x="10442448" y="7452360"/>
            <a:ext cx="6126480" cy="960120"/>
          </a:xfrm>
          <a:prstGeom prst="rect">
            <a:avLst/>
          </a:prstGeom>
          <a:noFill/>
        </p:spPr>
        <p:txBody>
          <a:bodyPr wrap="square" lIns="0" tIns="0" rIns="0" bIns="0" anchor="ctr">
            <a:spAutoFit/>
          </a:bodyPr>
          <a:lstStyle/>
          <a:p>
            <a:pPr algn="ctr" rtl="1"/>
            <a:r>
              <a:rPr lang="ar-SA" sz="2200" b="0">
                <a:solidFill>
                  <a:srgbClr val="CBCFE6"/>
                </a:solidFill>
                <a:latin typeface="Readex Pro"/>
                <a:ea typeface="Readex Pro"/>
                <a:cs typeface="Readex Pro"/>
                <a:sym typeface="Readex Pro"/>
              </a:rPr>
              <a:t>بلا تقييم آلي</a:t>
            </a:r>
          </a:p>
        </p:txBody>
      </p:sp>
      <p:sp>
        <p:nvSpPr>
          <p:cNvPr id="570" name="Left Arrow 569"/>
          <p:cNvSpPr/>
          <p:nvPr/>
        </p:nvSpPr>
        <p:spPr>
          <a:xfrm>
            <a:off x="8311896" y="7754112"/>
            <a:ext cx="1627632" cy="365760"/>
          </a:xfrm>
          <a:prstGeom prst="leftArrow">
            <a:avLst/>
          </a:prstGeom>
          <a:solidFill>
            <a:srgbClr val="2EF2C2">
              <a:alpha val="80000"/>
            </a:srgbClr>
          </a:solidFill>
          <a:ln w="12700">
            <a:noFill/>
          </a:ln>
        </p:spPr>
        <p:txBody>
          <a:bodyPr rtlCol="0" anchor="ctr"/>
          <a:lstStyle/>
          <a:p>
            <a:pPr algn="ctr"/>
            <a:endParaRPr/>
          </a:p>
        </p:txBody>
      </p:sp>
      <p:sp>
        <p:nvSpPr>
          <p:cNvPr id="571" name="Rounded Rectangle 570"/>
          <p:cNvSpPr/>
          <p:nvPr/>
        </p:nvSpPr>
        <p:spPr>
          <a:xfrm>
            <a:off x="1408176" y="7452360"/>
            <a:ext cx="6675120" cy="960120"/>
          </a:xfrm>
          <a:prstGeom prst="roundRect">
            <a:avLst>
              <a:gd name="adj" fmla="val 15000"/>
            </a:avLst>
          </a:prstGeom>
          <a:solidFill>
            <a:srgbClr val="2EF2C2">
              <a:alpha val="14000"/>
            </a:srgbClr>
          </a:solidFill>
          <a:ln w="12700">
            <a:solidFill>
              <a:srgbClr val="2EF2C2"/>
            </a:solidFill>
          </a:ln>
        </p:spPr>
        <p:txBody>
          <a:bodyPr rtlCol="0" anchor="ctr"/>
          <a:lstStyle/>
          <a:p>
            <a:endParaRPr/>
          </a:p>
        </p:txBody>
      </p:sp>
      <p:sp>
        <p:nvSpPr>
          <p:cNvPr id="572" name="TextBox 571"/>
          <p:cNvSpPr txBox="1"/>
          <p:nvPr/>
        </p:nvSpPr>
        <p:spPr>
          <a:xfrm>
            <a:off x="1682496" y="7452360"/>
            <a:ext cx="6126480" cy="960120"/>
          </a:xfrm>
          <a:prstGeom prst="rect">
            <a:avLst/>
          </a:prstGeom>
          <a:noFill/>
        </p:spPr>
        <p:txBody>
          <a:bodyPr wrap="square" lIns="0" tIns="0" rIns="0" bIns="0" anchor="ctr">
            <a:spAutoFit/>
          </a:bodyPr>
          <a:lstStyle/>
          <a:p>
            <a:pPr algn="ctr" rtl="1"/>
            <a:r>
              <a:rPr lang="ar-SA" sz="2200" b="1">
                <a:solidFill>
                  <a:srgbClr val="F2F4FF"/>
                </a:solidFill>
                <a:latin typeface="Readex Pro"/>
                <a:ea typeface="Readex Pro"/>
                <a:cs typeface="Readex Pro"/>
                <a:sym typeface="Readex Pro"/>
              </a:rPr>
              <a:t>حراس وتقييم آلي: 216 تشغيلا</a:t>
            </a:r>
          </a:p>
        </p:txBody>
      </p:sp>
      <p:sp>
        <p:nvSpPr>
          <p:cNvPr id="573" name="TextBox 572"/>
          <p:cNvSpPr txBox="1"/>
          <p:nvPr/>
        </p:nvSpPr>
        <p:spPr>
          <a:xfrm>
            <a:off x="1408176" y="8778240"/>
            <a:ext cx="15435072" cy="54864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الإفصاح الكامل: DISCLOSURE.md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601" name="Google Shape;601;p15"/>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604" name="Google Shape;604;p15"/>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11 · التشغيل · معيار واقعية التشغيل</a:t>
            </a:r>
          </a:p>
        </p:txBody>
      </p:sp>
      <p:sp>
        <p:nvSpPr>
          <p:cNvPr id="605" name="Google Shape;605;p15"/>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جاهز للتشغيل، بتكلفة معروفة</a:t>
            </a:r>
          </a:p>
        </p:txBody>
      </p:sp>
      <p:sp>
        <p:nvSpPr>
          <p:cNvPr id="607" name="Google Shape;607;p1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18</a:t>
            </a:fld>
            <a:endParaRPr/>
          </a:p>
        </p:txBody>
      </p:sp>
      <p:sp>
        <p:nvSpPr>
          <p:cNvPr id="608" name="Google Shape;608;p15"/>
          <p:cNvSpPr txBox="1">
            <a:spLocks noGrp="1"/>
          </p:cNvSpPr>
          <p:nvPr>
            <p:ph type="body" idx="3"/>
          </p:nvPr>
        </p:nvSpPr>
        <p:spPr>
          <a:xfrm>
            <a:off x="13716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0.29$</a:t>
            </a:r>
          </a:p>
        </p:txBody>
      </p:sp>
      <p:sp>
        <p:nvSpPr>
          <p:cNvPr id="609" name="Google Shape;609;p15"/>
          <p:cNvSpPr txBox="1">
            <a:spLocks noGrp="1"/>
          </p:cNvSpPr>
          <p:nvPr>
            <p:ph type="body" idx="4"/>
          </p:nvPr>
        </p:nvSpPr>
        <p:spPr>
          <a:xfrm>
            <a:off x="13716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للجلسة، حدا أعلى</a:t>
            </a:r>
          </a:p>
        </p:txBody>
      </p:sp>
      <p:sp>
        <p:nvSpPr>
          <p:cNvPr id="610" name="Google Shape;610;p15"/>
          <p:cNvSpPr txBox="1">
            <a:spLocks noGrp="1"/>
          </p:cNvSpPr>
          <p:nvPr>
            <p:ph type="body" idx="5"/>
          </p:nvPr>
        </p:nvSpPr>
        <p:spPr>
          <a:xfrm>
            <a:off x="13716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تقدير: 0.05 إلى 0.29 دولار</a:t>
            </a:r>
          </a:p>
        </p:txBody>
      </p:sp>
      <p:sp>
        <p:nvSpPr>
          <p:cNvPr id="611" name="Google Shape;611;p15"/>
          <p:cNvSpPr txBox="1">
            <a:spLocks noGrp="1"/>
          </p:cNvSpPr>
          <p:nvPr>
            <p:ph type="body" idx="6"/>
          </p:nvPr>
        </p:nvSpPr>
        <p:spPr>
          <a:xfrm>
            <a:off x="9715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10</a:t>
            </a:r>
          </a:p>
        </p:txBody>
      </p:sp>
      <p:sp>
        <p:nvSpPr>
          <p:cNvPr id="612" name="Google Shape;612;p15"/>
          <p:cNvSpPr txBox="1">
            <a:spLocks noGrp="1"/>
          </p:cNvSpPr>
          <p:nvPr>
            <p:ph type="body" idx="7"/>
          </p:nvPr>
        </p:nvSpPr>
        <p:spPr>
          <a:xfrm>
            <a:off x="97155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جلسات متزامنة</a:t>
            </a:r>
          </a:p>
        </p:txBody>
      </p:sp>
      <p:sp>
        <p:nvSpPr>
          <p:cNvPr id="613" name="Google Shape;613;p15"/>
          <p:cNvSpPr txBox="1">
            <a:spLocks noGrp="1"/>
          </p:cNvSpPr>
          <p:nvPr>
            <p:ph type="body" idx="8"/>
          </p:nvPr>
        </p:nvSpPr>
        <p:spPr>
          <a:xfrm>
            <a:off x="9715500" y="7000875"/>
            <a:ext cx="3429000" cy="1000125"/>
          </a:xfrm>
          <a:prstGeom prst="rect">
            <a:avLst/>
          </a:prstGeom>
          <a:noFill/>
          <a:ln>
            <a:noFill/>
          </a:ln>
        </p:spPr>
        <p:txBody>
          <a:bodyPr spcFirstLastPara="1" wrap="square" lIns="0" tIns="0" rIns="0" bIns="0" anchor="t" anchorCtr="0">
            <a:noAutofit/>
          </a:bodyPr>
          <a:lstStyle/>
          <a:p>
            <a:pPr marL="0" indent="0" algn="ctr">
              <a:buSzPts val="2025"/>
            </a:pPr>
            <a:r>
              <a:rPr lang="ar-SA" sz="2000" b="0" dirty="0">
                <a:solidFill>
                  <a:srgbClr val="CBCFE6"/>
                </a:solidFill>
                <a:latin typeface="Readex Pro"/>
                <a:ea typeface="Readex Pro"/>
                <a:cs typeface="Readex Pro"/>
                <a:sym typeface="Readex Pro"/>
              </a:rPr>
              <a:t>لعامل واحد، </a:t>
            </a:r>
            <a:r>
              <a:rPr lang="ar-SA" sz="2000" dirty="0">
                <a:solidFill>
                  <a:srgbClr val="CBCFE6"/>
                </a:solidFill>
              </a:rPr>
              <a:t>قيس</a:t>
            </a:r>
            <a:r>
              <a:rPr lang="ar-SA" sz="2000" b="0" dirty="0">
                <a:solidFill>
                  <a:srgbClr val="CBCFE6"/>
                </a:solidFill>
                <a:latin typeface="Readex Pro"/>
                <a:ea typeface="Readex Pro"/>
                <a:cs typeface="Readex Pro"/>
                <a:sym typeface="Readex Pro"/>
              </a:rPr>
              <a:t> </a:t>
            </a:r>
            <a:r>
              <a:rPr lang="ar-SA" sz="2000" dirty="0">
                <a:solidFill>
                  <a:srgbClr val="CBCFE6"/>
                </a:solidFill>
              </a:rPr>
              <a:t>في </a:t>
            </a:r>
            <a:r>
              <a:rPr lang="ar-SA" sz="2000" b="0" dirty="0">
                <a:solidFill>
                  <a:srgbClr val="CBCFE6"/>
                </a:solidFill>
                <a:latin typeface="Readex Pro"/>
                <a:ea typeface="Readex Pro"/>
                <a:cs typeface="Readex Pro"/>
                <a:sym typeface="Readex Pro"/>
              </a:rPr>
              <a:t>5 أكتوبر</a:t>
            </a:r>
          </a:p>
        </p:txBody>
      </p:sp>
      <p:sp>
        <p:nvSpPr>
          <p:cNvPr id="614" name="Google Shape;614;p15"/>
          <p:cNvSpPr txBox="1">
            <a:spLocks noGrp="1"/>
          </p:cNvSpPr>
          <p:nvPr>
            <p:ph type="body" idx="9"/>
          </p:nvPr>
        </p:nvSpPr>
        <p:spPr>
          <a:xfrm>
            <a:off x="5715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165MB</a:t>
            </a:r>
          </a:p>
        </p:txBody>
      </p:sp>
      <p:sp>
        <p:nvSpPr>
          <p:cNvPr id="615" name="Google Shape;615;p15"/>
          <p:cNvSpPr txBox="1">
            <a:spLocks noGrp="1"/>
          </p:cNvSpPr>
          <p:nvPr>
            <p:ph type="body" idx="13"/>
          </p:nvPr>
        </p:nvSpPr>
        <p:spPr>
          <a:xfrm>
            <a:off x="5715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ذاكرة لكل جلسة</a:t>
            </a:r>
          </a:p>
        </p:txBody>
      </p:sp>
      <p:sp>
        <p:nvSpPr>
          <p:cNvPr id="616" name="Google Shape;616;p15"/>
          <p:cNvSpPr txBox="1">
            <a:spLocks noGrp="1"/>
          </p:cNvSpPr>
          <p:nvPr>
            <p:ph type="body" idx="14"/>
          </p:nvPr>
        </p:nvSpPr>
        <p:spPr>
          <a:xfrm>
            <a:off x="5715000" y="7000875"/>
            <a:ext cx="3429000" cy="1000125"/>
          </a:xfrm>
          <a:prstGeom prst="rect">
            <a:avLst/>
          </a:prstGeom>
          <a:noFill/>
          <a:ln>
            <a:noFill/>
          </a:ln>
        </p:spPr>
        <p:txBody>
          <a:bodyPr spcFirstLastPara="1" wrap="square" lIns="0" tIns="0" rIns="0" bIns="0" anchor="t" anchorCtr="0">
            <a:noAutofit/>
          </a:bodyPr>
          <a:lstStyle/>
          <a:p>
            <a:pPr marL="0" indent="0" algn="ctr">
              <a:buSzPts val="2025"/>
            </a:pPr>
            <a:r>
              <a:rPr lang="ar-SA" sz="2000" b="0" dirty="0">
                <a:solidFill>
                  <a:srgbClr val="CBCFE6"/>
                </a:solidFill>
                <a:latin typeface="Readex Pro"/>
                <a:ea typeface="Readex Pro"/>
                <a:cs typeface="Readex Pro"/>
                <a:sym typeface="Readex Pro"/>
              </a:rPr>
              <a:t>و0.1 نواة، </a:t>
            </a:r>
            <a:r>
              <a:rPr lang="ar-SA" sz="2000" dirty="0">
                <a:solidFill>
                  <a:srgbClr val="CBCFE6"/>
                </a:solidFill>
              </a:rPr>
              <a:t>قيس</a:t>
            </a:r>
            <a:r>
              <a:rPr lang="ar-SA" sz="2000" b="0" dirty="0">
                <a:solidFill>
                  <a:srgbClr val="CBCFE6"/>
                </a:solidFill>
                <a:latin typeface="Readex Pro"/>
                <a:ea typeface="Readex Pro"/>
                <a:cs typeface="Readex Pro"/>
                <a:sym typeface="Readex Pro"/>
              </a:rPr>
              <a:t> </a:t>
            </a:r>
            <a:r>
              <a:rPr lang="ar-SA" sz="2000" dirty="0">
                <a:solidFill>
                  <a:srgbClr val="CBCFE6"/>
                </a:solidFill>
              </a:rPr>
              <a:t>في 5</a:t>
            </a:r>
            <a:r>
              <a:rPr lang="ar-SA" sz="2000" b="0" dirty="0">
                <a:solidFill>
                  <a:srgbClr val="CBCFE6"/>
                </a:solidFill>
                <a:latin typeface="Readex Pro"/>
                <a:ea typeface="Readex Pro"/>
                <a:cs typeface="Readex Pro"/>
                <a:sym typeface="Readex Pro"/>
              </a:rPr>
              <a:t> أكتوبر</a:t>
            </a:r>
          </a:p>
        </p:txBody>
      </p:sp>
      <p:sp>
        <p:nvSpPr>
          <p:cNvPr id="617" name="Google Shape;617;p15"/>
          <p:cNvSpPr txBox="1">
            <a:spLocks noGrp="1"/>
          </p:cNvSpPr>
          <p:nvPr>
            <p:ph type="body" idx="15"/>
          </p:nvPr>
        </p:nvSpPr>
        <p:spPr>
          <a:xfrm>
            <a:off x="1714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4800" b="1">
                <a:solidFill>
                  <a:srgbClr val="2EF2C2"/>
                </a:solidFill>
                <a:latin typeface="Readex Pro"/>
                <a:ea typeface="Readex Pro"/>
                <a:cs typeface="Readex Pro"/>
                <a:sym typeface="Readex Pro"/>
              </a:rPr>
              <a:t>22 أكتوبر</a:t>
            </a:r>
          </a:p>
        </p:txBody>
      </p:sp>
      <p:sp>
        <p:nvSpPr>
          <p:cNvPr id="618" name="Google Shape;618;p15"/>
          <p:cNvSpPr txBox="1">
            <a:spLocks noGrp="1"/>
          </p:cNvSpPr>
          <p:nvPr>
            <p:ph type="body" idx="16"/>
          </p:nvPr>
        </p:nvSpPr>
        <p:spPr>
          <a:xfrm>
            <a:off x="1485900" y="6048375"/>
            <a:ext cx="38862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يعمل طوال التحكيم</a:t>
            </a:r>
          </a:p>
        </p:txBody>
      </p:sp>
      <p:sp>
        <p:nvSpPr>
          <p:cNvPr id="619" name="Google Shape;619;p15"/>
          <p:cNvSpPr txBox="1">
            <a:spLocks noGrp="1"/>
          </p:cNvSpPr>
          <p:nvPr>
            <p:ph type="body" idx="17"/>
          </p:nvPr>
        </p:nvSpPr>
        <p:spPr>
          <a:xfrm>
            <a:off x="1485900" y="7000875"/>
            <a:ext cx="3886200" cy="1000125"/>
          </a:xfrm>
          <a:prstGeom prst="rect">
            <a:avLst/>
          </a:prstGeom>
          <a:noFill/>
          <a:ln>
            <a:noFill/>
          </a:ln>
        </p:spPr>
        <p:txBody>
          <a:bodyPr spcFirstLastPara="1" wrap="square" lIns="0" tIns="0" rIns="0" bIns="0" anchor="t" anchorCtr="0">
            <a:noAutofit/>
          </a:bodyPr>
          <a:lstStyle/>
          <a:p>
            <a:pPr marL="0" indent="0" algn="ctr">
              <a:buSzPts val="2025"/>
            </a:pPr>
            <a:r>
              <a:rPr lang="ar-SA" sz="2000" b="0" dirty="0">
                <a:solidFill>
                  <a:srgbClr val="CBCFE6"/>
                </a:solidFill>
                <a:latin typeface="Readex Pro"/>
                <a:ea typeface="Readex Pro"/>
                <a:cs typeface="Readex Pro"/>
                <a:sym typeface="Readex Pro"/>
              </a:rPr>
              <a:t>نشر آلي وسقف إنفاق</a:t>
            </a:r>
            <a:r>
              <a:rPr lang="ar-SA" sz="2000" dirty="0">
                <a:solidFill>
                  <a:srgbClr val="CBCFE6"/>
                </a:solidFill>
              </a:rPr>
              <a:t> (API </a:t>
            </a:r>
            <a:r>
              <a:rPr lang="ar-SA" sz="2000" dirty="0" err="1">
                <a:solidFill>
                  <a:srgbClr val="CBCFE6"/>
                </a:solidFill>
              </a:rPr>
              <a:t>key</a:t>
            </a:r>
            <a:r>
              <a:rPr lang="ar-SA" sz="2000" dirty="0">
                <a:solidFill>
                  <a:srgbClr val="CBCFE6"/>
                </a:solidFill>
              </a:rPr>
              <a:t> </a:t>
            </a:r>
            <a:r>
              <a:rPr lang="ar-SA" sz="2000" dirty="0" err="1">
                <a:solidFill>
                  <a:srgbClr val="CBCFE6"/>
                </a:solidFill>
              </a:rPr>
              <a:t>Limit</a:t>
            </a:r>
            <a:r>
              <a:rPr lang="ar-SA" sz="2000" dirty="0">
                <a:solidFill>
                  <a:srgbClr val="CBCFE6"/>
                </a:solidFill>
              </a:rPr>
              <a:t>)</a:t>
            </a:r>
            <a:endParaRPr lang="ar-SA" sz="2025" b="0" dirty="0">
              <a:solidFill>
                <a:srgbClr val="CBCFE6"/>
              </a:solidFill>
              <a:latin typeface="Readex Pro"/>
              <a:ea typeface="Readex Pro"/>
              <a:cs typeface="Readex Pro"/>
              <a:sym typeface="Readex Pro"/>
            </a:endParaRPr>
          </a:p>
        </p:txBody>
      </p:sp>
      <p:sp>
        <p:nvSpPr>
          <p:cNvPr id="620" name="Google Shape;620;p15"/>
          <p:cNvSpPr txBox="1">
            <a:spLocks noGrp="1"/>
          </p:cNvSpPr>
          <p:nvPr>
            <p:ph type="body" idx="18"/>
          </p:nvPr>
        </p:nvSpPr>
        <p:spPr>
          <a:xfrm>
            <a:off x="1408176" y="8183880"/>
            <a:ext cx="15435072" cy="118872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تقدير: 3 إلى 34 دولارا لـ30 محكما طوال التحكيم · المنهج في الملحق</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dirty="0">
                <a:solidFill>
                  <a:srgbClr val="2EF2C2"/>
                </a:solidFill>
                <a:latin typeface="Readex Pro"/>
                <a:ea typeface="Readex Pro"/>
                <a:cs typeface="Readex Pro"/>
                <a:sym typeface="Readex Pro"/>
              </a:rPr>
              <a:t>12 · الحدود والخطوة التالية · معيار الوضوح</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dirty="0">
                <a:solidFill>
                  <a:srgbClr val="F2F4FF"/>
                </a:solidFill>
                <a:latin typeface="Readex Pro"/>
                <a:ea typeface="Readex Pro"/>
                <a:cs typeface="Readex Pro"/>
                <a:sym typeface="Readex Pro"/>
              </a:rPr>
              <a:t>ما نعرف أنه ناقص، وما بعده</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19</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dirty="0">
                <a:solidFill>
                  <a:srgbClr val="8E99CC"/>
                </a:solidFill>
                <a:latin typeface="Readex Pro"/>
                <a:ea typeface="Readex Pro"/>
                <a:cs typeface="Readex Pro"/>
                <a:sym typeface="Readex Pro"/>
              </a:rPr>
              <a:t>تحدي الذكاء الاصطناعي في خدمة المحتوى الإسلامي</a:t>
            </a:r>
            <a:endParaRPr dirty="0"/>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51" name="Rounded Rectangle 550"/>
          <p:cNvSpPr/>
          <p:nvPr/>
        </p:nvSpPr>
        <p:spPr>
          <a:xfrm>
            <a:off x="9400032" y="3154680"/>
            <a:ext cx="7443216" cy="5486400"/>
          </a:xfrm>
          <a:prstGeom prst="roundRect">
            <a:avLst>
              <a:gd name="adj" fmla="val 5000"/>
            </a:avLst>
          </a:prstGeom>
          <a:solidFill>
            <a:srgbClr val="161D48"/>
          </a:solidFill>
          <a:ln w="12700">
            <a:solidFill>
              <a:srgbClr val="4A5590"/>
            </a:solidFill>
          </a:ln>
        </p:spPr>
        <p:txBody>
          <a:bodyPr rtlCol="0" anchor="ctr"/>
          <a:lstStyle/>
          <a:p>
            <a:endParaRPr/>
          </a:p>
        </p:txBody>
      </p:sp>
      <p:sp>
        <p:nvSpPr>
          <p:cNvPr id="552" name="Oval 551"/>
          <p:cNvSpPr/>
          <p:nvPr/>
        </p:nvSpPr>
        <p:spPr>
          <a:xfrm>
            <a:off x="15791688" y="3383280"/>
            <a:ext cx="777240" cy="777240"/>
          </a:xfrm>
          <a:prstGeom prst="ellipse">
            <a:avLst/>
          </a:prstGeom>
          <a:solidFill>
            <a:srgbClr val="C00000"/>
          </a:solidFill>
          <a:ln w="12700">
            <a:noFill/>
          </a:ln>
        </p:spPr>
        <p:txBody>
          <a:bodyPr rtlCol="0" anchor="ctr"/>
          <a:lstStyle/>
          <a:p>
            <a:endParaRPr/>
          </a:p>
        </p:txBody>
      </p:sp>
      <p:pic>
        <p:nvPicPr>
          <p:cNvPr id="553" name="Picture 552" descr="FaTriangleExclamation-white.png"/>
          <p:cNvPicPr>
            <a:picLocks noChangeAspect="1"/>
          </p:cNvPicPr>
          <p:nvPr/>
        </p:nvPicPr>
        <p:blipFill>
          <a:blip r:embed="rId5"/>
          <a:stretch>
            <a:fillRect/>
          </a:stretch>
        </p:blipFill>
        <p:spPr>
          <a:xfrm>
            <a:off x="16001543" y="3593135"/>
            <a:ext cx="357530" cy="357530"/>
          </a:xfrm>
          <a:prstGeom prst="rect">
            <a:avLst/>
          </a:prstGeom>
        </p:spPr>
      </p:pic>
      <p:sp>
        <p:nvSpPr>
          <p:cNvPr id="554" name="TextBox 553"/>
          <p:cNvSpPr txBox="1"/>
          <p:nvPr/>
        </p:nvSpPr>
        <p:spPr>
          <a:xfrm>
            <a:off x="9674352" y="3429000"/>
            <a:ext cx="5980176" cy="731520"/>
          </a:xfrm>
          <a:prstGeom prst="rect">
            <a:avLst/>
          </a:prstGeom>
          <a:noFill/>
        </p:spPr>
        <p:txBody>
          <a:bodyPr wrap="square" lIns="0" tIns="0" rIns="0" bIns="0" anchor="ctr">
            <a:spAutoFit/>
          </a:bodyPr>
          <a:lstStyle/>
          <a:p>
            <a:pPr algn="r" rtl="1"/>
            <a:r>
              <a:rPr lang="ar-SA" sz="2600" b="1" dirty="0">
                <a:solidFill>
                  <a:srgbClr val="F2F4FF"/>
                </a:solidFill>
                <a:latin typeface="Readex Pro"/>
                <a:ea typeface="Readex Pro"/>
                <a:cs typeface="Readex Pro"/>
                <a:sym typeface="Readex Pro"/>
              </a:rPr>
              <a:t>حدود نعرفها</a:t>
            </a:r>
          </a:p>
        </p:txBody>
      </p:sp>
      <p:sp>
        <p:nvSpPr>
          <p:cNvPr id="555" name="Oval 554"/>
          <p:cNvSpPr/>
          <p:nvPr/>
        </p:nvSpPr>
        <p:spPr>
          <a:xfrm>
            <a:off x="16276320" y="4617720"/>
            <a:ext cx="201168" cy="201168"/>
          </a:xfrm>
          <a:prstGeom prst="ellipse">
            <a:avLst/>
          </a:prstGeom>
          <a:solidFill>
            <a:srgbClr val="8E99CC"/>
          </a:solidFill>
          <a:ln w="12700">
            <a:noFill/>
          </a:ln>
        </p:spPr>
        <p:txBody>
          <a:bodyPr rtlCol="0" anchor="ctr"/>
          <a:lstStyle/>
          <a:p>
            <a:endParaRPr/>
          </a:p>
        </p:txBody>
      </p:sp>
      <p:sp>
        <p:nvSpPr>
          <p:cNvPr id="556" name="TextBox 555"/>
          <p:cNvSpPr txBox="1"/>
          <p:nvPr/>
        </p:nvSpPr>
        <p:spPr>
          <a:xfrm>
            <a:off x="9674352" y="443484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عرض المصدر تلقائيا أقل مما نريد</a:t>
            </a:r>
          </a:p>
        </p:txBody>
      </p:sp>
      <p:sp>
        <p:nvSpPr>
          <p:cNvPr id="557" name="Oval 556"/>
          <p:cNvSpPr/>
          <p:nvPr/>
        </p:nvSpPr>
        <p:spPr>
          <a:xfrm>
            <a:off x="16276320" y="5440680"/>
            <a:ext cx="201168" cy="201168"/>
          </a:xfrm>
          <a:prstGeom prst="ellipse">
            <a:avLst/>
          </a:prstGeom>
          <a:solidFill>
            <a:srgbClr val="8E99CC"/>
          </a:solidFill>
          <a:ln w="12700">
            <a:noFill/>
          </a:ln>
        </p:spPr>
        <p:txBody>
          <a:bodyPr rtlCol="0" anchor="ctr"/>
          <a:lstStyle/>
          <a:p>
            <a:endParaRPr/>
          </a:p>
        </p:txBody>
      </p:sp>
      <p:sp>
        <p:nvSpPr>
          <p:cNvPr id="558" name="TextBox 557"/>
          <p:cNvSpPr txBox="1"/>
          <p:nvPr/>
        </p:nvSpPr>
        <p:spPr>
          <a:xfrm>
            <a:off x="9674352" y="525780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بعض المخاوف الحساسة لا تصل الوالدين بعد</a:t>
            </a:r>
          </a:p>
        </p:txBody>
      </p:sp>
      <p:sp>
        <p:nvSpPr>
          <p:cNvPr id="559" name="Oval 558"/>
          <p:cNvSpPr/>
          <p:nvPr/>
        </p:nvSpPr>
        <p:spPr>
          <a:xfrm>
            <a:off x="16276320" y="6263640"/>
            <a:ext cx="201168" cy="201168"/>
          </a:xfrm>
          <a:prstGeom prst="ellipse">
            <a:avLst/>
          </a:prstGeom>
          <a:solidFill>
            <a:srgbClr val="8E99CC"/>
          </a:solidFill>
          <a:ln w="12700">
            <a:noFill/>
          </a:ln>
        </p:spPr>
        <p:txBody>
          <a:bodyPr rtlCol="0" anchor="ctr"/>
          <a:lstStyle/>
          <a:p>
            <a:endParaRPr/>
          </a:p>
        </p:txBody>
      </p:sp>
      <p:sp>
        <p:nvSpPr>
          <p:cNvPr id="560" name="TextBox 559"/>
          <p:cNvSpPr txBox="1"/>
          <p:nvPr/>
        </p:nvSpPr>
        <p:spPr>
          <a:xfrm>
            <a:off x="9674352" y="608076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بعض التعبيرات العامية تُفهم خطأ</a:t>
            </a:r>
          </a:p>
        </p:txBody>
      </p:sp>
      <p:sp>
        <p:nvSpPr>
          <p:cNvPr id="561" name="Oval 560"/>
          <p:cNvSpPr/>
          <p:nvPr/>
        </p:nvSpPr>
        <p:spPr>
          <a:xfrm>
            <a:off x="16276320" y="7086600"/>
            <a:ext cx="201168" cy="201168"/>
          </a:xfrm>
          <a:prstGeom prst="ellipse">
            <a:avLst/>
          </a:prstGeom>
          <a:solidFill>
            <a:srgbClr val="8E99CC"/>
          </a:solidFill>
          <a:ln w="12700">
            <a:noFill/>
          </a:ln>
        </p:spPr>
        <p:txBody>
          <a:bodyPr rtlCol="0" anchor="ctr"/>
          <a:lstStyle/>
          <a:p>
            <a:endParaRPr/>
          </a:p>
        </p:txBody>
      </p:sp>
      <p:sp>
        <p:nvSpPr>
          <p:cNvPr id="562" name="TextBox 561"/>
          <p:cNvSpPr txBox="1"/>
          <p:nvPr/>
        </p:nvSpPr>
        <p:spPr>
          <a:xfrm>
            <a:off x="9674352" y="690372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راجعه طالب علم شرعي، لا عالم بعد</a:t>
            </a:r>
          </a:p>
        </p:txBody>
      </p:sp>
      <p:sp>
        <p:nvSpPr>
          <p:cNvPr id="563" name="Oval 562"/>
          <p:cNvSpPr/>
          <p:nvPr/>
        </p:nvSpPr>
        <p:spPr>
          <a:xfrm>
            <a:off x="16276320" y="7909560"/>
            <a:ext cx="201168" cy="201168"/>
          </a:xfrm>
          <a:prstGeom prst="ellipse">
            <a:avLst/>
          </a:prstGeom>
          <a:solidFill>
            <a:srgbClr val="8E99CC"/>
          </a:solidFill>
          <a:ln w="12700">
            <a:noFill/>
          </a:ln>
        </p:spPr>
        <p:txBody>
          <a:bodyPr rtlCol="0" anchor="ctr"/>
          <a:lstStyle/>
          <a:p>
            <a:endParaRPr/>
          </a:p>
        </p:txBody>
      </p:sp>
      <p:sp>
        <p:nvSpPr>
          <p:cNvPr id="564" name="TextBox 563"/>
          <p:cNvSpPr txBox="1"/>
          <p:nvPr/>
        </p:nvSpPr>
        <p:spPr>
          <a:xfrm>
            <a:off x="9674352" y="772668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تطبيق الجوال قيد التطوير</a:t>
            </a:r>
          </a:p>
        </p:txBody>
      </p:sp>
      <p:sp>
        <p:nvSpPr>
          <p:cNvPr id="565" name="Rounded Rectangle 564"/>
          <p:cNvSpPr/>
          <p:nvPr/>
        </p:nvSpPr>
        <p:spPr>
          <a:xfrm>
            <a:off x="1408176" y="3154680"/>
            <a:ext cx="7443216" cy="5486400"/>
          </a:xfrm>
          <a:prstGeom prst="roundRect">
            <a:avLst>
              <a:gd name="adj" fmla="val 5000"/>
            </a:avLst>
          </a:prstGeom>
          <a:solidFill>
            <a:srgbClr val="161D48"/>
          </a:solidFill>
          <a:ln w="12700">
            <a:solidFill>
              <a:srgbClr val="2EF2C2"/>
            </a:solidFill>
          </a:ln>
        </p:spPr>
        <p:txBody>
          <a:bodyPr rtlCol="0" anchor="ctr"/>
          <a:lstStyle/>
          <a:p>
            <a:endParaRPr/>
          </a:p>
        </p:txBody>
      </p:sp>
      <p:sp>
        <p:nvSpPr>
          <p:cNvPr id="566" name="Oval 565"/>
          <p:cNvSpPr/>
          <p:nvPr/>
        </p:nvSpPr>
        <p:spPr>
          <a:xfrm>
            <a:off x="7799832" y="3383280"/>
            <a:ext cx="777240" cy="777240"/>
          </a:xfrm>
          <a:prstGeom prst="ellipse">
            <a:avLst/>
          </a:prstGeom>
          <a:solidFill>
            <a:srgbClr val="2EF2C2">
              <a:alpha val="14000"/>
            </a:srgbClr>
          </a:solidFill>
          <a:ln w="12700">
            <a:noFill/>
          </a:ln>
        </p:spPr>
        <p:txBody>
          <a:bodyPr rtlCol="0" anchor="ctr"/>
          <a:lstStyle/>
          <a:p>
            <a:endParaRPr/>
          </a:p>
        </p:txBody>
      </p:sp>
      <p:pic>
        <p:nvPicPr>
          <p:cNvPr id="567" name="Picture 566" descr="FaRoad-turq.png"/>
          <p:cNvPicPr>
            <a:picLocks noChangeAspect="1"/>
          </p:cNvPicPr>
          <p:nvPr/>
        </p:nvPicPr>
        <p:blipFill>
          <a:blip r:embed="rId6"/>
          <a:stretch>
            <a:fillRect/>
          </a:stretch>
        </p:blipFill>
        <p:spPr>
          <a:xfrm>
            <a:off x="8009687" y="3593135"/>
            <a:ext cx="357530" cy="357530"/>
          </a:xfrm>
          <a:prstGeom prst="rect">
            <a:avLst/>
          </a:prstGeom>
        </p:spPr>
      </p:pic>
      <p:sp>
        <p:nvSpPr>
          <p:cNvPr id="568" name="TextBox 567"/>
          <p:cNvSpPr txBox="1"/>
          <p:nvPr/>
        </p:nvSpPr>
        <p:spPr>
          <a:xfrm>
            <a:off x="1682496" y="3429000"/>
            <a:ext cx="5980176" cy="731520"/>
          </a:xfrm>
          <a:prstGeom prst="rect">
            <a:avLst/>
          </a:prstGeom>
          <a:noFill/>
        </p:spPr>
        <p:txBody>
          <a:bodyPr wrap="square" lIns="0" tIns="0" rIns="0" bIns="0" anchor="ctr">
            <a:spAutoFit/>
          </a:bodyPr>
          <a:lstStyle/>
          <a:p>
            <a:pPr algn="r" rtl="1"/>
            <a:r>
              <a:rPr lang="ar-SA" sz="2600" b="1" dirty="0">
                <a:solidFill>
                  <a:srgbClr val="2EF2C2"/>
                </a:solidFill>
                <a:latin typeface="Readex Pro"/>
                <a:ea typeface="Readex Pro"/>
                <a:cs typeface="Readex Pro"/>
                <a:sym typeface="Readex Pro"/>
              </a:rPr>
              <a:t>الخطوة التالية</a:t>
            </a:r>
          </a:p>
        </p:txBody>
      </p:sp>
      <p:sp>
        <p:nvSpPr>
          <p:cNvPr id="569" name="Oval 568"/>
          <p:cNvSpPr/>
          <p:nvPr/>
        </p:nvSpPr>
        <p:spPr>
          <a:xfrm>
            <a:off x="8284464" y="4617720"/>
            <a:ext cx="201168" cy="201168"/>
          </a:xfrm>
          <a:prstGeom prst="ellipse">
            <a:avLst/>
          </a:prstGeom>
          <a:solidFill>
            <a:srgbClr val="2EF2C2"/>
          </a:solidFill>
          <a:ln w="12700">
            <a:noFill/>
          </a:ln>
        </p:spPr>
        <p:txBody>
          <a:bodyPr rtlCol="0" anchor="ctr"/>
          <a:lstStyle/>
          <a:p>
            <a:endParaRPr/>
          </a:p>
        </p:txBody>
      </p:sp>
      <p:sp>
        <p:nvSpPr>
          <p:cNvPr id="570" name="TextBox 569"/>
          <p:cNvSpPr txBox="1"/>
          <p:nvPr/>
        </p:nvSpPr>
        <p:spPr>
          <a:xfrm>
            <a:off x="1682496" y="443484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تنبيهات أدق للوالدين</a:t>
            </a:r>
          </a:p>
        </p:txBody>
      </p:sp>
      <p:sp>
        <p:nvSpPr>
          <p:cNvPr id="571" name="Oval 570"/>
          <p:cNvSpPr/>
          <p:nvPr/>
        </p:nvSpPr>
        <p:spPr>
          <a:xfrm>
            <a:off x="8284464" y="5440680"/>
            <a:ext cx="201168" cy="201168"/>
          </a:xfrm>
          <a:prstGeom prst="ellipse">
            <a:avLst/>
          </a:prstGeom>
          <a:solidFill>
            <a:srgbClr val="2EF2C2"/>
          </a:solidFill>
          <a:ln w="12700">
            <a:noFill/>
          </a:ln>
        </p:spPr>
        <p:txBody>
          <a:bodyPr rtlCol="0" anchor="ctr"/>
          <a:lstStyle/>
          <a:p>
            <a:endParaRPr/>
          </a:p>
        </p:txBody>
      </p:sp>
      <p:sp>
        <p:nvSpPr>
          <p:cNvPr id="572" name="TextBox 571"/>
          <p:cNvSpPr txBox="1"/>
          <p:nvPr/>
        </p:nvSpPr>
        <p:spPr>
          <a:xfrm>
            <a:off x="1682496" y="525780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مراجعة من عالم أو جهة علمية</a:t>
            </a:r>
          </a:p>
        </p:txBody>
      </p:sp>
      <p:sp>
        <p:nvSpPr>
          <p:cNvPr id="573" name="Oval 572"/>
          <p:cNvSpPr/>
          <p:nvPr/>
        </p:nvSpPr>
        <p:spPr>
          <a:xfrm>
            <a:off x="8284464" y="6263640"/>
            <a:ext cx="201168" cy="201168"/>
          </a:xfrm>
          <a:prstGeom prst="ellipse">
            <a:avLst/>
          </a:prstGeom>
          <a:solidFill>
            <a:srgbClr val="2EF2C2"/>
          </a:solidFill>
          <a:ln w="12700">
            <a:noFill/>
          </a:ln>
        </p:spPr>
        <p:txBody>
          <a:bodyPr rtlCol="0" anchor="ctr"/>
          <a:lstStyle/>
          <a:p>
            <a:endParaRPr/>
          </a:p>
        </p:txBody>
      </p:sp>
      <p:sp>
        <p:nvSpPr>
          <p:cNvPr id="574" name="TextBox 573"/>
          <p:cNvSpPr txBox="1"/>
          <p:nvPr/>
        </p:nvSpPr>
        <p:spPr>
          <a:xfrm>
            <a:off x="1682496" y="608076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فهم أوسع للهجات</a:t>
            </a:r>
          </a:p>
        </p:txBody>
      </p:sp>
      <p:sp>
        <p:nvSpPr>
          <p:cNvPr id="575" name="Oval 574"/>
          <p:cNvSpPr/>
          <p:nvPr/>
        </p:nvSpPr>
        <p:spPr>
          <a:xfrm>
            <a:off x="8284464" y="7086600"/>
            <a:ext cx="201168" cy="201168"/>
          </a:xfrm>
          <a:prstGeom prst="ellipse">
            <a:avLst/>
          </a:prstGeom>
          <a:solidFill>
            <a:srgbClr val="2EF2C2"/>
          </a:solidFill>
          <a:ln w="12700">
            <a:noFill/>
          </a:ln>
        </p:spPr>
        <p:txBody>
          <a:bodyPr rtlCol="0" anchor="ctr"/>
          <a:lstStyle/>
          <a:p>
            <a:endParaRPr/>
          </a:p>
        </p:txBody>
      </p:sp>
      <p:sp>
        <p:nvSpPr>
          <p:cNvPr id="576" name="TextBox 575"/>
          <p:cNvSpPr txBox="1"/>
          <p:nvPr/>
        </p:nvSpPr>
        <p:spPr>
          <a:xfrm>
            <a:off x="1682496" y="690372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تجربة مع أسر حقيقية</a:t>
            </a:r>
          </a:p>
        </p:txBody>
      </p:sp>
      <p:sp>
        <p:nvSpPr>
          <p:cNvPr id="577" name="Oval 576"/>
          <p:cNvSpPr/>
          <p:nvPr/>
        </p:nvSpPr>
        <p:spPr>
          <a:xfrm>
            <a:off x="8284464" y="7909560"/>
            <a:ext cx="201168" cy="201168"/>
          </a:xfrm>
          <a:prstGeom prst="ellipse">
            <a:avLst/>
          </a:prstGeom>
          <a:solidFill>
            <a:srgbClr val="2EF2C2"/>
          </a:solidFill>
          <a:ln w="12700">
            <a:noFill/>
          </a:ln>
        </p:spPr>
        <p:txBody>
          <a:bodyPr rtlCol="0" anchor="ctr"/>
          <a:lstStyle/>
          <a:p>
            <a:endParaRPr/>
          </a:p>
        </p:txBody>
      </p:sp>
      <p:sp>
        <p:nvSpPr>
          <p:cNvPr id="578" name="TextBox 577"/>
          <p:cNvSpPr txBox="1"/>
          <p:nvPr/>
        </p:nvSpPr>
        <p:spPr>
          <a:xfrm>
            <a:off x="1682496" y="7726680"/>
            <a:ext cx="6437376" cy="594360"/>
          </a:xfrm>
          <a:prstGeom prst="rect">
            <a:avLst/>
          </a:prstGeom>
          <a:noFill/>
        </p:spPr>
        <p:txBody>
          <a:bodyPr wrap="square" lIns="0" tIns="0" rIns="0" bIns="0" anchor="ctr">
            <a:spAutoFit/>
          </a:bodyPr>
          <a:lstStyle/>
          <a:p>
            <a:pPr algn="r" rtl="1"/>
            <a:r>
              <a:rPr lang="ar-SA" sz="2100" b="0" dirty="0">
                <a:solidFill>
                  <a:srgbClr val="F2F4FF"/>
                </a:solidFill>
                <a:latin typeface="Readex Pro"/>
                <a:ea typeface="Readex Pro"/>
                <a:cs typeface="Readex Pro"/>
                <a:sym typeface="Readex Pro"/>
              </a:rPr>
              <a:t>قيم وتلاوات أكثر</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13 · الحسابات وتجربة اللجنة · معيار الوضوح وقابلية التحقق</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dirty="0">
                <a:solidFill>
                  <a:srgbClr val="F2F4FF"/>
                </a:solidFill>
                <a:latin typeface="Readex Pro"/>
                <a:ea typeface="Readex Pro"/>
                <a:cs typeface="Readex Pro"/>
                <a:sym typeface="Readex Pro"/>
              </a:rPr>
              <a:t>حسابات الأسرة، وحسابات جاهزة </a:t>
            </a:r>
            <a:r>
              <a:rPr lang="ar-SA" sz="4500" b="1" dirty="0">
                <a:solidFill>
                  <a:srgbClr val="F2F4FF"/>
                </a:solidFill>
              </a:rPr>
              <a:t>للجنة</a:t>
            </a:r>
            <a:endParaRPr lang="ar-SA" sz="4500" b="1" dirty="0" err="1">
              <a:solidFill>
                <a:srgbClr val="F2F4FF"/>
              </a:solidFill>
              <a:latin typeface="Readex Pro"/>
              <a:ea typeface="Readex Pro"/>
              <a:cs typeface="Readex Pro"/>
              <a:sym typeface="Readex Pro"/>
            </a:endParaRP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20</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pic>
        <p:nvPicPr>
          <p:cNvPr id="551" name="Picture 550" descr="1-parent-two-children.jpg"/>
          <p:cNvPicPr>
            <a:picLocks noChangeAspect="1"/>
          </p:cNvPicPr>
          <p:nvPr/>
        </p:nvPicPr>
        <p:blipFill>
          <a:blip r:embed="rId5"/>
          <a:stretch>
            <a:fillRect/>
          </a:stretch>
        </p:blipFill>
        <p:spPr>
          <a:xfrm>
            <a:off x="1408176" y="3383280"/>
            <a:ext cx="6583680" cy="4419295"/>
          </a:xfrm>
          <a:prstGeom prst="roundRect">
            <a:avLst>
              <a:gd name="adj" fmla="val 3000"/>
            </a:avLst>
          </a:prstGeom>
        </p:spPr>
      </p:pic>
      <p:sp>
        <p:nvSpPr>
          <p:cNvPr id="552" name="TextBox 551"/>
          <p:cNvSpPr txBox="1"/>
          <p:nvPr/>
        </p:nvSpPr>
        <p:spPr>
          <a:xfrm>
            <a:off x="1408176" y="7939735"/>
            <a:ext cx="6583680" cy="45720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صفحة الأبناء في حساب والد تجريبي</a:t>
            </a:r>
          </a:p>
        </p:txBody>
      </p:sp>
      <p:sp>
        <p:nvSpPr>
          <p:cNvPr id="553" name="Rounded Rectangle 552"/>
          <p:cNvSpPr/>
          <p:nvPr/>
        </p:nvSpPr>
        <p:spPr>
          <a:xfrm>
            <a:off x="8540496" y="3291840"/>
            <a:ext cx="8302752" cy="155448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54" name="Oval 553"/>
          <p:cNvSpPr/>
          <p:nvPr/>
        </p:nvSpPr>
        <p:spPr>
          <a:xfrm>
            <a:off x="15837408" y="3675888"/>
            <a:ext cx="777240" cy="777240"/>
          </a:xfrm>
          <a:prstGeom prst="ellipse">
            <a:avLst/>
          </a:prstGeom>
          <a:solidFill>
            <a:srgbClr val="2EF2C2">
              <a:alpha val="14000"/>
            </a:srgbClr>
          </a:solidFill>
          <a:ln w="12700">
            <a:noFill/>
          </a:ln>
        </p:spPr>
        <p:txBody>
          <a:bodyPr rtlCol="0" anchor="ctr"/>
          <a:lstStyle/>
          <a:p>
            <a:endParaRPr/>
          </a:p>
        </p:txBody>
      </p:sp>
      <p:pic>
        <p:nvPicPr>
          <p:cNvPr id="555" name="Picture 554" descr="FaUserShield-turq.png"/>
          <p:cNvPicPr>
            <a:picLocks noChangeAspect="1"/>
          </p:cNvPicPr>
          <p:nvPr/>
        </p:nvPicPr>
        <p:blipFill>
          <a:blip r:embed="rId6"/>
          <a:stretch>
            <a:fillRect/>
          </a:stretch>
        </p:blipFill>
        <p:spPr>
          <a:xfrm>
            <a:off x="16047263" y="3885743"/>
            <a:ext cx="357530" cy="357530"/>
          </a:xfrm>
          <a:prstGeom prst="rect">
            <a:avLst/>
          </a:prstGeom>
        </p:spPr>
      </p:pic>
      <p:sp>
        <p:nvSpPr>
          <p:cNvPr id="556" name="TextBox 555"/>
          <p:cNvSpPr txBox="1"/>
          <p:nvPr/>
        </p:nvSpPr>
        <p:spPr>
          <a:xfrm>
            <a:off x="8769096" y="3474720"/>
            <a:ext cx="6931152" cy="548640"/>
          </a:xfrm>
          <a:prstGeom prst="rect">
            <a:avLst/>
          </a:prstGeom>
          <a:noFill/>
        </p:spPr>
        <p:txBody>
          <a:bodyPr wrap="square" lIns="0" tIns="0" rIns="0" bIns="0" anchor="t">
            <a:spAutoFit/>
          </a:bodyPr>
          <a:lstStyle/>
          <a:p>
            <a:pPr algn="r" rtl="1"/>
            <a:r>
              <a:rPr lang="ar-SA" sz="2400" b="1">
                <a:solidFill>
                  <a:srgbClr val="F2F4FF"/>
                </a:solidFill>
                <a:latin typeface="Readex Pro"/>
                <a:ea typeface="Readex Pro"/>
                <a:cs typeface="Readex Pro"/>
                <a:sym typeface="Readex Pro"/>
              </a:rPr>
              <a:t>الوالد أولا</a:t>
            </a:r>
          </a:p>
        </p:txBody>
      </p:sp>
      <p:sp>
        <p:nvSpPr>
          <p:cNvPr id="557" name="TextBox 556"/>
          <p:cNvSpPr txBox="1"/>
          <p:nvPr/>
        </p:nvSpPr>
        <p:spPr>
          <a:xfrm>
            <a:off x="8769096" y="4069080"/>
            <a:ext cx="6931152" cy="68580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يسجّل الوالد ثم ينشئ حسابات أبنائه؛ الطفل لا يسجّل وحده</a:t>
            </a:r>
          </a:p>
        </p:txBody>
      </p:sp>
      <p:sp>
        <p:nvSpPr>
          <p:cNvPr id="558" name="Rounded Rectangle 557"/>
          <p:cNvSpPr/>
          <p:nvPr/>
        </p:nvSpPr>
        <p:spPr>
          <a:xfrm>
            <a:off x="8540496" y="5074920"/>
            <a:ext cx="8302752" cy="1554480"/>
          </a:xfrm>
          <a:prstGeom prst="roundRect">
            <a:avLst>
              <a:gd name="adj" fmla="val 8000"/>
            </a:avLst>
          </a:prstGeom>
          <a:solidFill>
            <a:srgbClr val="161D48"/>
          </a:solidFill>
          <a:ln w="12700">
            <a:solidFill>
              <a:srgbClr val="2EF2C2"/>
            </a:solidFill>
          </a:ln>
        </p:spPr>
        <p:txBody>
          <a:bodyPr rtlCol="0" anchor="ctr"/>
          <a:lstStyle/>
          <a:p>
            <a:endParaRPr/>
          </a:p>
        </p:txBody>
      </p:sp>
      <p:sp>
        <p:nvSpPr>
          <p:cNvPr id="559" name="Oval 558"/>
          <p:cNvSpPr/>
          <p:nvPr/>
        </p:nvSpPr>
        <p:spPr>
          <a:xfrm>
            <a:off x="15837408" y="5458968"/>
            <a:ext cx="777240" cy="777240"/>
          </a:xfrm>
          <a:prstGeom prst="ellipse">
            <a:avLst/>
          </a:prstGeom>
          <a:solidFill>
            <a:srgbClr val="2EF2C2">
              <a:alpha val="14000"/>
            </a:srgbClr>
          </a:solidFill>
          <a:ln w="12700">
            <a:noFill/>
          </a:ln>
        </p:spPr>
        <p:txBody>
          <a:bodyPr rtlCol="0" anchor="ctr"/>
          <a:lstStyle/>
          <a:p>
            <a:endParaRPr/>
          </a:p>
        </p:txBody>
      </p:sp>
      <p:pic>
        <p:nvPicPr>
          <p:cNvPr id="560" name="Picture 559" descr="FaUsers-turq.png"/>
          <p:cNvPicPr>
            <a:picLocks noChangeAspect="1"/>
          </p:cNvPicPr>
          <p:nvPr/>
        </p:nvPicPr>
        <p:blipFill>
          <a:blip r:embed="rId7"/>
          <a:stretch>
            <a:fillRect/>
          </a:stretch>
        </p:blipFill>
        <p:spPr>
          <a:xfrm>
            <a:off x="16047263" y="5668823"/>
            <a:ext cx="357530" cy="357530"/>
          </a:xfrm>
          <a:prstGeom prst="rect">
            <a:avLst/>
          </a:prstGeom>
        </p:spPr>
      </p:pic>
      <p:sp>
        <p:nvSpPr>
          <p:cNvPr id="561" name="TextBox 560"/>
          <p:cNvSpPr txBox="1"/>
          <p:nvPr/>
        </p:nvSpPr>
        <p:spPr>
          <a:xfrm>
            <a:off x="8769096" y="5257800"/>
            <a:ext cx="6931152" cy="548640"/>
          </a:xfrm>
          <a:prstGeom prst="rect">
            <a:avLst/>
          </a:prstGeom>
          <a:noFill/>
        </p:spPr>
        <p:txBody>
          <a:bodyPr wrap="square" lIns="0" tIns="0" rIns="0" bIns="0" anchor="t">
            <a:spAutoFit/>
          </a:bodyPr>
          <a:lstStyle/>
          <a:p>
            <a:pPr algn="r" rtl="1"/>
            <a:r>
              <a:rPr lang="ar-SA" sz="2400" b="1">
                <a:solidFill>
                  <a:srgbClr val="F2F4FF"/>
                </a:solidFill>
                <a:latin typeface="Readex Pro"/>
                <a:ea typeface="Readex Pro"/>
                <a:cs typeface="Readex Pro"/>
                <a:sym typeface="Readex Pro"/>
              </a:rPr>
              <a:t>حسابات جاهزة للجنة</a:t>
            </a:r>
          </a:p>
        </p:txBody>
      </p:sp>
      <p:sp>
        <p:nvSpPr>
          <p:cNvPr id="562" name="TextBox 561"/>
          <p:cNvSpPr txBox="1"/>
          <p:nvPr/>
        </p:nvSpPr>
        <p:spPr>
          <a:xfrm>
            <a:off x="8769096" y="5852160"/>
            <a:ext cx="6931152" cy="307777"/>
          </a:xfrm>
          <a:prstGeom prst="rect">
            <a:avLst/>
          </a:prstGeom>
          <a:noFill/>
        </p:spPr>
        <p:txBody>
          <a:bodyPr wrap="square" lIns="0" tIns="0" rIns="0" bIns="0" anchor="t">
            <a:spAutoFit/>
          </a:bodyPr>
          <a:lstStyle/>
          <a:p>
            <a:pPr algn="r" rtl="1"/>
            <a:r>
              <a:rPr lang="ar-SA" sz="2000" b="0" dirty="0">
                <a:solidFill>
                  <a:srgbClr val="CBCFE6"/>
                </a:solidFill>
                <a:latin typeface="Readex Pro"/>
                <a:ea typeface="Readex Pro"/>
                <a:cs typeface="Readex Pro"/>
                <a:sym typeface="Readex Pro"/>
              </a:rPr>
              <a:t>والد وطفلان، </a:t>
            </a:r>
            <a:r>
              <a:rPr lang="ar-SA" sz="2000" dirty="0">
                <a:solidFill>
                  <a:srgbClr val="CBCFE6"/>
                </a:solidFill>
                <a:latin typeface="Readex Pro"/>
                <a:ea typeface="Readex Pro"/>
                <a:cs typeface="Readex Pro"/>
                <a:sym typeface="Readex Pro"/>
              </a:rPr>
              <a:t> ببيانات</a:t>
            </a:r>
            <a:r>
              <a:rPr lang="ar-SA" sz="2000" b="0" dirty="0">
                <a:solidFill>
                  <a:srgbClr val="CBCFE6"/>
                </a:solidFill>
                <a:latin typeface="Readex Pro"/>
                <a:ea typeface="Readex Pro"/>
                <a:cs typeface="Readex Pro"/>
                <a:sym typeface="Readex Pro"/>
              </a:rPr>
              <a:t> الجلسات والمهام والأوسمة</a:t>
            </a:r>
          </a:p>
        </p:txBody>
      </p:sp>
      <p:sp>
        <p:nvSpPr>
          <p:cNvPr id="563" name="Rounded Rectangle 562"/>
          <p:cNvSpPr/>
          <p:nvPr/>
        </p:nvSpPr>
        <p:spPr>
          <a:xfrm>
            <a:off x="8540496" y="6858000"/>
            <a:ext cx="8302752" cy="1554480"/>
          </a:xfrm>
          <a:prstGeom prst="roundRect">
            <a:avLst>
              <a:gd name="adj" fmla="val 8000"/>
            </a:avLst>
          </a:prstGeom>
          <a:solidFill>
            <a:srgbClr val="161D48"/>
          </a:solidFill>
          <a:ln w="12700">
            <a:solidFill>
              <a:srgbClr val="4A5590"/>
            </a:solidFill>
          </a:ln>
        </p:spPr>
        <p:txBody>
          <a:bodyPr rtlCol="0" anchor="ctr"/>
          <a:lstStyle/>
          <a:p>
            <a:endParaRPr/>
          </a:p>
        </p:txBody>
      </p:sp>
      <p:sp>
        <p:nvSpPr>
          <p:cNvPr id="564" name="Oval 563"/>
          <p:cNvSpPr/>
          <p:nvPr/>
        </p:nvSpPr>
        <p:spPr>
          <a:xfrm>
            <a:off x="15837408" y="7242048"/>
            <a:ext cx="777240" cy="777240"/>
          </a:xfrm>
          <a:prstGeom prst="ellipse">
            <a:avLst/>
          </a:prstGeom>
          <a:solidFill>
            <a:srgbClr val="2EF2C2">
              <a:alpha val="14000"/>
            </a:srgbClr>
          </a:solidFill>
          <a:ln w="12700">
            <a:noFill/>
          </a:ln>
        </p:spPr>
        <p:txBody>
          <a:bodyPr rtlCol="0" anchor="ctr"/>
          <a:lstStyle/>
          <a:p>
            <a:endParaRPr/>
          </a:p>
        </p:txBody>
      </p:sp>
      <p:pic>
        <p:nvPicPr>
          <p:cNvPr id="565" name="Picture 564" descr="FaCircleQuestion-turq.png"/>
          <p:cNvPicPr>
            <a:picLocks noChangeAspect="1"/>
          </p:cNvPicPr>
          <p:nvPr/>
        </p:nvPicPr>
        <p:blipFill>
          <a:blip r:embed="rId8"/>
          <a:stretch>
            <a:fillRect/>
          </a:stretch>
        </p:blipFill>
        <p:spPr>
          <a:xfrm>
            <a:off x="16047263" y="7451903"/>
            <a:ext cx="357530" cy="357530"/>
          </a:xfrm>
          <a:prstGeom prst="rect">
            <a:avLst/>
          </a:prstGeom>
        </p:spPr>
      </p:pic>
      <p:sp>
        <p:nvSpPr>
          <p:cNvPr id="566" name="TextBox 565"/>
          <p:cNvSpPr txBox="1"/>
          <p:nvPr/>
        </p:nvSpPr>
        <p:spPr>
          <a:xfrm>
            <a:off x="8769096" y="7040880"/>
            <a:ext cx="6931152" cy="548640"/>
          </a:xfrm>
          <a:prstGeom prst="rect">
            <a:avLst/>
          </a:prstGeom>
          <a:noFill/>
        </p:spPr>
        <p:txBody>
          <a:bodyPr wrap="square" lIns="0" tIns="0" rIns="0" bIns="0" anchor="t">
            <a:spAutoFit/>
          </a:bodyPr>
          <a:lstStyle/>
          <a:p>
            <a:pPr algn="r" rtl="1"/>
            <a:r>
              <a:rPr lang="ar-SA" sz="2400" b="1">
                <a:solidFill>
                  <a:srgbClr val="F2F4FF"/>
                </a:solidFill>
                <a:latin typeface="Readex Pro"/>
                <a:ea typeface="Readex Pro"/>
                <a:cs typeface="Readex Pro"/>
                <a:sym typeface="Readex Pro"/>
              </a:rPr>
              <a:t>لماذا؟</a:t>
            </a:r>
          </a:p>
        </p:txBody>
      </p:sp>
      <p:sp>
        <p:nvSpPr>
          <p:cNvPr id="567" name="TextBox 566"/>
          <p:cNvSpPr txBox="1"/>
          <p:nvPr/>
        </p:nvSpPr>
        <p:spPr>
          <a:xfrm>
            <a:off x="8769096" y="7635240"/>
            <a:ext cx="6931152" cy="685800"/>
          </a:xfrm>
          <a:prstGeom prst="rect">
            <a:avLst/>
          </a:prstGeom>
          <a:noFill/>
        </p:spPr>
        <p:txBody>
          <a:bodyPr wrap="square" lIns="0" tIns="0" rIns="0" bIns="0" anchor="t">
            <a:spAutoFit/>
          </a:bodyPr>
          <a:lstStyle/>
          <a:p>
            <a:pPr algn="r" rtl="1"/>
            <a:r>
              <a:rPr lang="ar-SA" sz="2000" b="0">
                <a:solidFill>
                  <a:srgbClr val="CBCFE6"/>
                </a:solidFill>
                <a:latin typeface="Readex Pro"/>
                <a:ea typeface="Readex Pro"/>
                <a:cs typeface="Readex Pro"/>
                <a:sym typeface="Readex Pro"/>
              </a:rPr>
              <a:t>الصديق يبني على كل محادثة، فالحساب الجديد لا يُظهر الأثر</a:t>
            </a:r>
          </a:p>
        </p:txBody>
      </p:sp>
      <p:sp>
        <p:nvSpPr>
          <p:cNvPr id="568" name="TextBox 567"/>
          <p:cNvSpPr txBox="1"/>
          <p:nvPr/>
        </p:nvSpPr>
        <p:spPr>
          <a:xfrm>
            <a:off x="1408176" y="8458200"/>
            <a:ext cx="6583680" cy="457200"/>
          </a:xfrm>
          <a:prstGeom prst="rect">
            <a:avLst/>
          </a:prstGeom>
          <a:noFill/>
        </p:spPr>
        <p:txBody>
          <a:bodyPr wrap="square" lIns="0" rIns="0" tIns="0" bIns="0" anchor="t">
            <a:spAutoFit/>
          </a:bodyPr>
          <a:lstStyle/>
          <a:p>
            <a:pPr algn="r" rtl="1"/>
            <a:r>
              <a:rPr lang="ar-SA" sz="1800" b="0">
                <a:solidFill>
                  <a:srgbClr val="F2F4FF"/>
                </a:solidFill>
                <a:latin typeface="Readex Pro"/>
                <a:ea typeface="Readex Pro"/>
                <a:cs typeface="Readex Pro"/>
                <a:sym typeface="Readex Pro"/>
              </a:rPr>
              <a:t>بيانات الدخول: </a:t>
            </a:r>
            <a:r>
              <a:rPr lang="ar-SA" sz="1800" b="1">
                <a:solidFill>
                  <a:srgbClr val="2EF2C2"/>
                </a:solidFill>
                <a:latin typeface="Readex Pro"/>
                <a:ea typeface="Readex Pro"/>
                <a:cs typeface="Readex Pro"/>
                <a:sym typeface="Readex Pro"/>
                <a:hlinkClick r:id="rId9"/>
              </a:rPr>
              <a:t>ملف حسابات اللجنة</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 name="Google Shape;686;p19"/>
          <p:cNvPicPr preferRelativeResize="0"/>
          <p:nvPr/>
        </p:nvPicPr>
        <p:blipFill rotWithShape="1">
          <a:blip r:embed="rId3">
            <a:alphaModFix/>
          </a:blip>
          <a:srcRect/>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688" name="Google Shape;688;p19"/>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14 · الفريق</a:t>
            </a:r>
          </a:p>
        </p:txBody>
      </p:sp>
      <p:sp>
        <p:nvSpPr>
          <p:cNvPr id="689" name="Google Shape;689;p19"/>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فريق العمل</a:t>
            </a:r>
          </a:p>
        </p:txBody>
      </p:sp>
      <p:sp>
        <p:nvSpPr>
          <p:cNvPr id="690" name="Google Shape;690;p19"/>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فريق الصديق الصدوق</a:t>
            </a:r>
          </a:p>
        </p:txBody>
      </p:sp>
      <p:sp>
        <p:nvSpPr>
          <p:cNvPr id="691" name="Google Shape;691;p1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21</a:t>
            </a:fld>
            <a:endParaRPr/>
          </a:p>
        </p:txBody>
      </p:sp>
      <p:sp>
        <p:nvSpPr>
          <p:cNvPr id="692" name="Oval 691"/>
          <p:cNvSpPr/>
          <p:nvPr/>
        </p:nvSpPr>
        <p:spPr>
          <a:xfrm>
            <a:off x="12966192" y="3840480"/>
            <a:ext cx="1920240" cy="1920240"/>
          </a:xfrm>
          <a:prstGeom prst="ellipse">
            <a:avLst/>
          </a:prstGeom>
          <a:solidFill>
            <a:srgbClr val="2EF2C2">
              <a:alpha val="8000"/>
            </a:srgbClr>
          </a:solidFill>
          <a:ln w="25400">
            <a:solidFill>
              <a:srgbClr val="2EF2C2"/>
            </a:solidFill>
          </a:ln>
        </p:spPr>
        <p:txBody>
          <a:bodyPr rtlCol="0" anchor="ctr"/>
          <a:lstStyle/>
          <a:p>
            <a:endParaRPr/>
          </a:p>
        </p:txBody>
      </p:sp>
      <p:sp>
        <p:nvSpPr>
          <p:cNvPr id="694" name="TextBox 693"/>
          <p:cNvSpPr txBox="1"/>
          <p:nvPr/>
        </p:nvSpPr>
        <p:spPr>
          <a:xfrm>
            <a:off x="11686032" y="6035040"/>
            <a:ext cx="4480560" cy="594360"/>
          </a:xfrm>
          <a:prstGeom prst="rect">
            <a:avLst/>
          </a:prstGeom>
          <a:noFill/>
        </p:spPr>
        <p:txBody>
          <a:bodyPr wrap="square" lIns="0" tIns="0" rIns="0" bIns="0" anchor="t">
            <a:spAutoFit/>
          </a:bodyPr>
          <a:lstStyle/>
          <a:p>
            <a:pPr algn="ctr" rtl="1"/>
            <a:r>
              <a:rPr lang="ar-SA" sz="2300" b="1">
                <a:solidFill>
                  <a:srgbClr val="F2F4FF"/>
                </a:solidFill>
                <a:latin typeface="Readex Pro"/>
                <a:ea typeface="Readex Pro"/>
                <a:cs typeface="Readex Pro"/>
                <a:sym typeface="Readex Pro"/>
              </a:rPr>
              <a:t>عبدالرحمن سلامة</a:t>
            </a:r>
          </a:p>
        </p:txBody>
      </p:sp>
      <p:sp>
        <p:nvSpPr>
          <p:cNvPr id="695" name="TextBox 694"/>
          <p:cNvSpPr txBox="1"/>
          <p:nvPr/>
        </p:nvSpPr>
        <p:spPr>
          <a:xfrm>
            <a:off x="11686032" y="6766560"/>
            <a:ext cx="4480560" cy="1097280"/>
          </a:xfrm>
          <a:prstGeom prst="rect">
            <a:avLst/>
          </a:prstGeom>
          <a:noFill/>
        </p:spPr>
        <p:txBody>
          <a:bodyPr wrap="square" lIns="0" tIns="0" rIns="0" bIns="0" anchor="t">
            <a:spAutoFit/>
          </a:bodyPr>
          <a:lstStyle/>
          <a:p>
            <a:pPr algn="ctr" rtl="1"/>
            <a:r>
              <a:rPr lang="ar-SA" sz="1800" b="0" dirty="0">
                <a:solidFill>
                  <a:srgbClr val="2EF2C2"/>
                </a:solidFill>
                <a:latin typeface="Readex Pro"/>
                <a:ea typeface="Readex Pro"/>
                <a:cs typeface="Readex Pro"/>
                <a:sym typeface="Readex Pro"/>
              </a:rPr>
              <a:t>صاحب الفكرة وقائد الفريق</a:t>
            </a:r>
          </a:p>
          <a:p>
            <a:pPr algn="ctr" rtl="1"/>
            <a:r>
              <a:rPr lang="ar-SA" sz="1800" b="0" dirty="0">
                <a:solidFill>
                  <a:srgbClr val="2EF2C2"/>
                </a:solidFill>
                <a:latin typeface="Readex Pro"/>
                <a:ea typeface="Readex Pro"/>
                <a:cs typeface="Readex Pro"/>
                <a:sym typeface="Readex Pro"/>
              </a:rPr>
              <a:t>المنطق الخلفي وبنك المحتوى</a:t>
            </a:r>
            <a:br>
              <a:rPr lang="ar-SA" sz="1800" dirty="0">
                <a:solidFill>
                  <a:srgbClr val="2EF2C2"/>
                </a:solidFill>
                <a:latin typeface="Readex Pro"/>
                <a:ea typeface="Readex Pro"/>
                <a:cs typeface="Readex Pro"/>
                <a:sym typeface="Readex Pro"/>
              </a:rPr>
            </a:br>
            <a:r>
              <a:rPr lang="ar-SA" sz="1800" dirty="0">
                <a:solidFill>
                  <a:srgbClr val="2EF2C2"/>
                </a:solidFill>
                <a:latin typeface="Readex Pro"/>
                <a:ea typeface="Readex Pro"/>
                <a:cs typeface="Readex Pro"/>
              </a:rPr>
              <a:t>مراجعة جميع القرارات في التصميم</a:t>
            </a:r>
            <a:endParaRPr lang="ar-SA" sz="1800" b="0" dirty="0">
              <a:solidFill>
                <a:srgbClr val="2EF2C2"/>
              </a:solidFill>
              <a:latin typeface="Readex Pro"/>
              <a:ea typeface="Readex Pro"/>
              <a:cs typeface="Readex Pro"/>
            </a:endParaRPr>
          </a:p>
          <a:p>
            <a:pPr algn="ctr" rtl="1"/>
            <a:r>
              <a:rPr lang="ar-SA" sz="1800" b="0" dirty="0">
                <a:solidFill>
                  <a:srgbClr val="2EF2C2"/>
                </a:solidFill>
                <a:latin typeface="Readex Pro"/>
                <a:ea typeface="Readex Pro"/>
                <a:cs typeface="Readex Pro"/>
                <a:sym typeface="Readex Pro"/>
              </a:rPr>
              <a:t>طالب علم راجع كل المصادر وشروحها</a:t>
            </a:r>
            <a:endParaRPr lang="ar-SA" sz="1800" b="0" dirty="0">
              <a:solidFill>
                <a:srgbClr val="2EF2C2"/>
              </a:solidFill>
              <a:latin typeface="Readex Pro"/>
              <a:ea typeface="Readex Pro"/>
              <a:cs typeface="Readex Pro"/>
            </a:endParaRPr>
          </a:p>
        </p:txBody>
      </p:sp>
      <p:sp>
        <p:nvSpPr>
          <p:cNvPr id="696" name="Oval 695"/>
          <p:cNvSpPr/>
          <p:nvPr/>
        </p:nvSpPr>
        <p:spPr>
          <a:xfrm>
            <a:off x="8165592" y="3840480"/>
            <a:ext cx="1920240" cy="1920240"/>
          </a:xfrm>
          <a:prstGeom prst="ellipse">
            <a:avLst/>
          </a:prstGeom>
          <a:solidFill>
            <a:srgbClr val="2EF2C2">
              <a:alpha val="8000"/>
            </a:srgbClr>
          </a:solidFill>
          <a:ln w="25400">
            <a:solidFill>
              <a:srgbClr val="2EF2C2"/>
            </a:solidFill>
          </a:ln>
        </p:spPr>
        <p:txBody>
          <a:bodyPr rtlCol="0" anchor="ctr"/>
          <a:lstStyle/>
          <a:p>
            <a:endParaRPr/>
          </a:p>
        </p:txBody>
      </p:sp>
      <p:sp>
        <p:nvSpPr>
          <p:cNvPr id="698" name="TextBox 697"/>
          <p:cNvSpPr txBox="1"/>
          <p:nvPr/>
        </p:nvSpPr>
        <p:spPr>
          <a:xfrm>
            <a:off x="6885432" y="6035040"/>
            <a:ext cx="4480560" cy="594360"/>
          </a:xfrm>
          <a:prstGeom prst="rect">
            <a:avLst/>
          </a:prstGeom>
          <a:noFill/>
        </p:spPr>
        <p:txBody>
          <a:bodyPr wrap="square" lIns="0" tIns="0" rIns="0" bIns="0" anchor="t">
            <a:spAutoFit/>
          </a:bodyPr>
          <a:lstStyle/>
          <a:p>
            <a:pPr algn="ctr" rtl="1"/>
            <a:r>
              <a:rPr lang="ar-SA" sz="2300" b="1">
                <a:solidFill>
                  <a:srgbClr val="F2F4FF"/>
                </a:solidFill>
                <a:latin typeface="Readex Pro"/>
                <a:ea typeface="Readex Pro"/>
                <a:cs typeface="Readex Pro"/>
                <a:sym typeface="Readex Pro"/>
              </a:rPr>
              <a:t>مجد عوض</a:t>
            </a:r>
          </a:p>
        </p:txBody>
      </p:sp>
      <p:sp>
        <p:nvSpPr>
          <p:cNvPr id="699" name="TextBox 698"/>
          <p:cNvSpPr txBox="1"/>
          <p:nvPr/>
        </p:nvSpPr>
        <p:spPr>
          <a:xfrm>
            <a:off x="6885432" y="6766560"/>
            <a:ext cx="4480560" cy="1384995"/>
          </a:xfrm>
          <a:prstGeom prst="rect">
            <a:avLst/>
          </a:prstGeom>
          <a:noFill/>
        </p:spPr>
        <p:txBody>
          <a:bodyPr wrap="square" lIns="0" tIns="0" rIns="0" bIns="0" anchor="t">
            <a:spAutoFit/>
          </a:bodyPr>
          <a:lstStyle/>
          <a:p>
            <a:pPr algn="ctr" rtl="1"/>
            <a:r>
              <a:rPr lang="ar-SA" sz="1800" b="0" dirty="0">
                <a:solidFill>
                  <a:srgbClr val="2EF2C2"/>
                </a:solidFill>
                <a:latin typeface="Readex Pro"/>
                <a:ea typeface="Readex Pro"/>
                <a:cs typeface="Readex Pro"/>
                <a:sym typeface="Readex Pro"/>
              </a:rPr>
              <a:t>تجربة المستخدم والواجهة كاملة</a:t>
            </a:r>
            <a:r>
              <a:rPr lang="ar-SA" sz="1800" dirty="0">
                <a:solidFill>
                  <a:srgbClr val="2EF2C2"/>
                </a:solidFill>
                <a:latin typeface="Readex Pro"/>
                <a:ea typeface="Readex Pro"/>
                <a:cs typeface="Readex Pro"/>
                <a:sym typeface="Readex Pro"/>
              </a:rPr>
              <a:t> (الشخصية وتحركاتها)</a:t>
            </a:r>
            <a:br>
              <a:rPr lang="ar-SA" sz="1800" dirty="0">
                <a:solidFill>
                  <a:srgbClr val="2EF2C2"/>
                </a:solidFill>
                <a:latin typeface="Readex Pro"/>
                <a:ea typeface="Readex Pro"/>
                <a:cs typeface="Readex Pro"/>
              </a:rPr>
            </a:br>
            <a:r>
              <a:rPr lang="ar-SA" sz="1800" dirty="0" err="1">
                <a:solidFill>
                  <a:srgbClr val="2EF2C2"/>
                </a:solidFill>
                <a:latin typeface="Readex Pro"/>
                <a:ea typeface="Readex Pro"/>
                <a:cs typeface="Readex Pro"/>
              </a:rPr>
              <a:t>ElevensLab</a:t>
            </a:r>
          </a:p>
          <a:p>
            <a:pPr algn="ctr" rtl="1"/>
            <a:r>
              <a:rPr lang="ar-SA" sz="1800" dirty="0">
                <a:solidFill>
                  <a:srgbClr val="2EF2C2"/>
                </a:solidFill>
                <a:latin typeface="Readex Pro"/>
                <a:ea typeface="Readex Pro"/>
                <a:cs typeface="Readex Pro"/>
              </a:rPr>
              <a:t>تطوير دماغ مشترك بين وكلاء البرمجة لكل فرد</a:t>
            </a:r>
          </a:p>
        </p:txBody>
      </p:sp>
      <p:sp>
        <p:nvSpPr>
          <p:cNvPr id="700" name="Oval 699"/>
          <p:cNvSpPr/>
          <p:nvPr/>
        </p:nvSpPr>
        <p:spPr>
          <a:xfrm>
            <a:off x="3364992" y="3840480"/>
            <a:ext cx="1920240" cy="1920240"/>
          </a:xfrm>
          <a:prstGeom prst="ellipse">
            <a:avLst/>
          </a:prstGeom>
          <a:solidFill>
            <a:srgbClr val="2EF2C2">
              <a:alpha val="8000"/>
            </a:srgbClr>
          </a:solidFill>
          <a:ln w="25400">
            <a:solidFill>
              <a:srgbClr val="2EF2C2"/>
            </a:solidFill>
          </a:ln>
        </p:spPr>
        <p:txBody>
          <a:bodyPr rtlCol="0" anchor="ctr"/>
          <a:lstStyle/>
          <a:p>
            <a:endParaRPr/>
          </a:p>
        </p:txBody>
      </p:sp>
      <p:sp>
        <p:nvSpPr>
          <p:cNvPr id="702" name="TextBox 701"/>
          <p:cNvSpPr txBox="1"/>
          <p:nvPr/>
        </p:nvSpPr>
        <p:spPr>
          <a:xfrm>
            <a:off x="2084832" y="6035040"/>
            <a:ext cx="4480560" cy="594360"/>
          </a:xfrm>
          <a:prstGeom prst="rect">
            <a:avLst/>
          </a:prstGeom>
          <a:noFill/>
        </p:spPr>
        <p:txBody>
          <a:bodyPr wrap="square" lIns="0" tIns="0" rIns="0" bIns="0" anchor="t">
            <a:spAutoFit/>
          </a:bodyPr>
          <a:lstStyle/>
          <a:p>
            <a:pPr algn="ctr" rtl="1"/>
            <a:r>
              <a:rPr lang="ar-SA" sz="2300" b="1">
                <a:solidFill>
                  <a:srgbClr val="F2F4FF"/>
                </a:solidFill>
                <a:latin typeface="Readex Pro"/>
                <a:ea typeface="Readex Pro"/>
                <a:cs typeface="Readex Pro"/>
                <a:sym typeface="Readex Pro"/>
              </a:rPr>
              <a:t>عبدالرحمن محملجي</a:t>
            </a:r>
          </a:p>
        </p:txBody>
      </p:sp>
      <p:sp>
        <p:nvSpPr>
          <p:cNvPr id="703" name="TextBox 702"/>
          <p:cNvSpPr txBox="1"/>
          <p:nvPr/>
        </p:nvSpPr>
        <p:spPr>
          <a:xfrm>
            <a:off x="2084832" y="6766560"/>
            <a:ext cx="4480560" cy="1097280"/>
          </a:xfrm>
          <a:prstGeom prst="rect">
            <a:avLst/>
          </a:prstGeom>
          <a:noFill/>
        </p:spPr>
        <p:txBody>
          <a:bodyPr wrap="square" lIns="0" tIns="0" rIns="0" bIns="0" anchor="t">
            <a:spAutoFit/>
          </a:bodyPr>
          <a:lstStyle/>
          <a:p>
            <a:pPr algn="ctr" rtl="1"/>
            <a:r>
              <a:rPr lang="ar-SA" sz="1800" b="0">
                <a:solidFill>
                  <a:srgbClr val="2EF2C2"/>
                </a:solidFill>
                <a:latin typeface="Readex Pro"/>
                <a:ea typeface="Readex Pro"/>
                <a:cs typeface="Readex Pro"/>
                <a:sym typeface="Readex Pro"/>
              </a:rPr>
              <a:t>مساعد في مراجعة أقسام الدرر</a:t>
            </a:r>
          </a:p>
          <a:p>
            <a:pPr algn="ctr" rtl="1"/>
            <a:r>
              <a:rPr lang="ar-SA" sz="1800" b="0">
                <a:solidFill>
                  <a:srgbClr val="2EF2C2"/>
                </a:solidFill>
                <a:latin typeface="Readex Pro"/>
                <a:ea typeface="Readex Pro"/>
                <a:cs typeface="Readex Pro"/>
                <a:sym typeface="Readex Pro"/>
              </a:rPr>
              <a:t>وفي تجربة المستخدم والواجهة</a:t>
            </a:r>
          </a:p>
        </p:txBody>
      </p:sp>
      <p:sp>
        <p:nvSpPr>
          <p:cNvPr id="704" name="TextBox 703"/>
          <p:cNvSpPr txBox="1"/>
          <p:nvPr/>
        </p:nvSpPr>
        <p:spPr>
          <a:xfrm>
            <a:off x="1408176" y="8732520"/>
            <a:ext cx="15435072" cy="54864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ملاحظة: كان موسى وطارق في الفريق عند التسجيل، ثم اعتذرا بعد بدء التحدي لظروف العمل والدراسة، فلم يُذكرا هنا لأنهما لم يشاركا في العمل</a:t>
            </a:r>
          </a:p>
        </p:txBody>
      </p:sp>
      <p:pic>
        <p:nvPicPr>
          <p:cNvPr id="2" name="Picture 1">
            <a:extLst>
              <a:ext uri="{FF2B5EF4-FFF2-40B4-BE49-F238E27FC236}">
                <a16:creationId xmlns:a16="http://schemas.microsoft.com/office/drawing/2014/main" id="{AF1B39AA-E5F3-7F29-EAA7-1A80998D0FDB}"/>
              </a:ext>
            </a:extLst>
          </p:cNvPr>
          <p:cNvPicPr>
            <a:picLocks noChangeAspect="1"/>
          </p:cNvPicPr>
          <p:nvPr/>
        </p:nvPicPr>
        <p:blipFill>
          <a:blip r:embed="rId5"/>
          <a:stretch>
            <a:fillRect/>
          </a:stretch>
        </p:blipFill>
        <p:spPr>
          <a:xfrm>
            <a:off x="8195111" y="3857431"/>
            <a:ext cx="1863750" cy="1905074"/>
          </a:xfrm>
          <a:prstGeom prst="ellipse">
            <a:avLst/>
          </a:prstGeom>
          <a:ln>
            <a:noFill/>
          </a:ln>
          <a:effectLst>
            <a:softEdge rad="112500"/>
          </a:effectLst>
        </p:spPr>
      </p:pic>
      <p:pic>
        <p:nvPicPr>
          <p:cNvPr id="3" name="Picture 2">
            <a:extLst>
              <a:ext uri="{FF2B5EF4-FFF2-40B4-BE49-F238E27FC236}">
                <a16:creationId xmlns:a16="http://schemas.microsoft.com/office/drawing/2014/main" id="{70CA84F6-527C-16A5-CFDE-63200805F709}"/>
              </a:ext>
            </a:extLst>
          </p:cNvPr>
          <p:cNvPicPr>
            <a:picLocks noChangeAspect="1"/>
          </p:cNvPicPr>
          <p:nvPr/>
        </p:nvPicPr>
        <p:blipFill>
          <a:blip r:embed="rId6"/>
          <a:stretch>
            <a:fillRect/>
          </a:stretch>
        </p:blipFill>
        <p:spPr>
          <a:xfrm>
            <a:off x="3422596" y="3859626"/>
            <a:ext cx="1856975" cy="1924210"/>
          </a:xfrm>
          <a:prstGeom prst="ellipse">
            <a:avLst/>
          </a:prstGeom>
          <a:ln>
            <a:noFill/>
          </a:ln>
          <a:effectLst>
            <a:softEdge rad="112500"/>
          </a:effectLst>
        </p:spPr>
      </p:pic>
      <p:pic>
        <p:nvPicPr>
          <p:cNvPr id="5" name="Picture 4">
            <a:extLst>
              <a:ext uri="{FF2B5EF4-FFF2-40B4-BE49-F238E27FC236}">
                <a16:creationId xmlns:a16="http://schemas.microsoft.com/office/drawing/2014/main" id="{FADE8609-E8B3-A5CA-05CC-D189F709C5BA}"/>
              </a:ext>
            </a:extLst>
          </p:cNvPr>
          <p:cNvPicPr>
            <a:picLocks noChangeAspect="1"/>
          </p:cNvPicPr>
          <p:nvPr/>
        </p:nvPicPr>
        <p:blipFill>
          <a:blip r:embed="rId7"/>
          <a:stretch>
            <a:fillRect/>
          </a:stretch>
        </p:blipFill>
        <p:spPr>
          <a:xfrm flipH="1">
            <a:off x="13002705" y="3890039"/>
            <a:ext cx="1887634" cy="1892196"/>
          </a:xfrm>
          <a:prstGeom prst="ellipse">
            <a:avLst/>
          </a:prstGeom>
          <a:ln>
            <a:noFill/>
          </a:ln>
          <a:effectLst>
            <a:softEdge rad="112500"/>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15 · التحقق · معيار الوضوح وقابلية التحقق</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تحقق بنفسك</a:t>
            </a:r>
          </a:p>
        </p:txBody>
      </p:sp>
      <p:sp>
        <p:nvSpPr>
          <p:cNvPr id="539" name="Google Shape;539;p1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dirty="0">
                <a:solidFill>
                  <a:srgbClr val="CBCFE6"/>
                </a:solidFill>
                <a:latin typeface="Readex Pro"/>
                <a:ea typeface="Readex Pro"/>
                <a:cs typeface="Readex Pro"/>
                <a:sym typeface="Readex Pro"/>
              </a:rPr>
              <a:t>كل رقم بمصدره وتاريخه، والتفاصيل في الملحق</a:t>
            </a:r>
            <a:endParaRPr lang="ar-SA" sz="2250" b="0" dirty="0">
              <a:solidFill>
                <a:srgbClr val="CBCFE6"/>
              </a:solidFill>
              <a:latin typeface="Readex Pro"/>
              <a:ea typeface="Readex Pro"/>
              <a:cs typeface="Readex Pro"/>
            </a:endParaRP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22</a:t>
            </a:fld>
            <a:endParaRPr/>
          </a:p>
        </p:txBody>
      </p:sp>
      <p:sp>
        <p:nvSpPr>
          <p:cNvPr id="541" name="Google Shape;541;p11"/>
          <p:cNvSpPr txBox="1">
            <a:spLocks noGrp="1"/>
          </p:cNvSpPr>
          <p:nvPr>
            <p:ph type="body" idx="3"/>
          </p:nvPr>
        </p:nvSpPr>
        <p:spPr>
          <a:xfrm>
            <a:off x="9505950" y="3952875"/>
            <a:ext cx="73344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جرب الآن</a:t>
            </a:r>
          </a:p>
        </p:txBody>
      </p:sp>
      <p:sp>
        <p:nvSpPr>
          <p:cNvPr id="542" name="Google Shape;542;p11"/>
          <p:cNvSpPr txBox="1">
            <a:spLocks noGrp="1"/>
          </p:cNvSpPr>
          <p:nvPr>
            <p:ph type="body" idx="4"/>
          </p:nvPr>
        </p:nvSpPr>
        <p:spPr>
          <a:xfrm>
            <a:off x="9505950" y="4657725"/>
            <a:ext cx="73344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1" dirty="0">
                <a:solidFill>
                  <a:srgbClr val="2EF2C2"/>
                </a:solidFill>
                <a:latin typeface="Readex Pro"/>
                <a:ea typeface="Readex Pro"/>
                <a:cs typeface="Readex Pro"/>
                <a:sym typeface="Readex Pro"/>
                <a:hlinkClick r:id="rId4"/>
              </a:rPr>
              <a:t>alsadiqai.com</a:t>
            </a:r>
          </a:p>
          <a:p>
            <a:pPr marL="0" indent="0">
              <a:buSzPts val="2400"/>
            </a:pPr>
            <a:r>
              <a:rPr lang="ar-SA" sz="2400" dirty="0">
                <a:solidFill>
                  <a:srgbClr val="CBCFE6"/>
                </a:solidFill>
              </a:rPr>
              <a:t>حسابات جاهزة (آباء و أبناء) للحكام</a:t>
            </a:r>
            <a:br>
              <a:rPr lang="ar-SA" sz="2400" dirty="0">
                <a:solidFill>
                  <a:srgbClr val="CBCFE6"/>
                </a:solidFill>
              </a:rPr>
            </a:br>
            <a:r>
              <a:rPr lang="ar-SA" sz="2400" dirty="0">
                <a:solidFill>
                  <a:srgbClr val="CBCFE6"/>
                </a:solidFill>
              </a:rPr>
              <a:t>و يمكن ان تضغط «جرب الصديق»: دون حساب، وببيانات تخيلية</a:t>
            </a:r>
          </a:p>
        </p:txBody>
      </p:sp>
      <p:sp>
        <p:nvSpPr>
          <p:cNvPr id="543" name="Google Shape;543;p11"/>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فيديو العرض</a:t>
            </a:r>
          </a:p>
        </p:txBody>
      </p:sp>
      <p:sp>
        <p:nvSpPr>
          <p:cNvPr id="545" name="Google Shape;545;p11"/>
          <p:cNvSpPr txBox="1">
            <a:spLocks noGrp="1"/>
          </p:cNvSpPr>
          <p:nvPr>
            <p:ph type="body" idx="7"/>
          </p:nvPr>
        </p:nvSpPr>
        <p:spPr>
          <a:xfrm>
            <a:off x="9505950" y="6619875"/>
            <a:ext cx="73344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المستودع والدليل README</a:t>
            </a:r>
          </a:p>
        </p:txBody>
      </p:sp>
      <p:sp>
        <p:nvSpPr>
          <p:cNvPr id="547" name="Google Shape;547;p11"/>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الترخيص والإفصاح</a:t>
            </a:r>
          </a:p>
        </p:txBody>
      </p:sp>
      <p:sp>
        <p:nvSpPr>
          <p:cNvPr id="548" name="Google Shape;548;p11"/>
          <p:cNvSpPr txBox="1">
            <a:spLocks noGrp="1"/>
          </p:cNvSpPr>
          <p:nvPr>
            <p:ph type="body" idx="13"/>
          </p:nvPr>
        </p:nvSpPr>
        <p:spPr>
          <a:xfrm>
            <a:off x="1714500" y="7209539"/>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جميع الحقوق محفوظة، والعمل السابق للتحدي معلن في DISCLOSURE.md</a:t>
            </a: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5">
            <a:alphaModFix/>
          </a:blip>
          <a:srcRect/>
          <a:stretch/>
        </p:blipFill>
        <p:spPr>
          <a:xfrm>
            <a:off x="1066800" y="693967"/>
            <a:ext cx="3429002" cy="879015"/>
          </a:xfrm>
          <a:prstGeom prst="rect">
            <a:avLst/>
          </a:prstGeom>
          <a:noFill/>
          <a:ln>
            <a:noFill/>
          </a:ln>
        </p:spPr>
      </p:pic>
      <p:sp>
        <p:nvSpPr>
          <p:cNvPr id="554" name="TextBox 553"/>
          <p:cNvSpPr txBox="1"/>
          <p:nvPr/>
        </p:nvSpPr>
        <p:spPr>
          <a:xfrm>
            <a:off x="12956924" y="7179917"/>
            <a:ext cx="3879173" cy="738664"/>
          </a:xfrm>
          <a:prstGeom prst="rect">
            <a:avLst/>
          </a:prstGeom>
          <a:noFill/>
        </p:spPr>
        <p:txBody>
          <a:bodyPr wrap="square" lIns="0" tIns="0" rIns="0" bIns="0" anchor="ctr">
            <a:spAutoFit/>
          </a:bodyPr>
          <a:lstStyle/>
          <a:p>
            <a:pPr algn="ctr" rtl="1"/>
            <a:r>
              <a:rPr lang="en-US" sz="2400" u="sng" dirty="0">
                <a:solidFill>
                  <a:srgbClr val="2EF2C2"/>
                </a:solidFill>
              </a:rPr>
              <a:t>https://github.com/96as/alsadiq-alsadouq-islamicaich</a:t>
            </a:r>
          </a:p>
        </p:txBody>
      </p:sp>
      <p:sp>
        <p:nvSpPr>
          <p:cNvPr id="555" name="TextBox 554"/>
          <p:cNvSpPr txBox="1"/>
          <p:nvPr/>
        </p:nvSpPr>
        <p:spPr>
          <a:xfrm>
            <a:off x="9509760" y="8412480"/>
            <a:ext cx="7333488" cy="553998"/>
          </a:xfrm>
          <a:prstGeom prst="rect">
            <a:avLst/>
          </a:prstGeom>
          <a:noFill/>
        </p:spPr>
        <p:txBody>
          <a:bodyPr wrap="square" lIns="0" tIns="0" rIns="0" bIns="0" anchor="t">
            <a:spAutoFit/>
          </a:bodyPr>
          <a:lstStyle/>
          <a:p>
            <a:pPr algn="r" rtl="1"/>
            <a:r>
              <a:rPr lang="ar-SA" sz="1800" b="0" dirty="0">
                <a:solidFill>
                  <a:srgbClr val="CBCFE6"/>
                </a:solidFill>
                <a:latin typeface="Readex Pro"/>
                <a:ea typeface="Readex Pro"/>
                <a:cs typeface="Readex Pro"/>
                <a:sym typeface="Readex Pro"/>
              </a:rPr>
              <a:t>بموافقة </a:t>
            </a:r>
            <a:r>
              <a:rPr lang="ar-SA" sz="1800" dirty="0" err="1">
                <a:solidFill>
                  <a:srgbClr val="CBCFE6"/>
                </a:solidFill>
                <a:latin typeface="Readex Pro"/>
                <a:ea typeface="Readex Pro"/>
                <a:cs typeface="Readex Pro"/>
                <a:sym typeface="Readex Pro"/>
              </a:rPr>
              <a:t>أ.رواء</a:t>
            </a:r>
            <a:r>
              <a:rPr lang="ar-SA" sz="1800" b="0" dirty="0">
                <a:solidFill>
                  <a:srgbClr val="CBCFE6"/>
                </a:solidFill>
                <a:latin typeface="Readex Pro"/>
                <a:ea typeface="Readex Pro"/>
                <a:cs typeface="Readex Pro"/>
                <a:sym typeface="Readex Pro"/>
              </a:rPr>
              <a:t> من فريق التنظيم: ننشر من المستودع الخاص لأسباب أمنية، والعام مطابق له. للاطلاع على الخاص تواصلوا مع قائد الفريق</a:t>
            </a:r>
          </a:p>
        </p:txBody>
      </p:sp>
      <p:sp>
        <p:nvSpPr>
          <p:cNvPr id="556" name="TextBox 555"/>
          <p:cNvSpPr txBox="1"/>
          <p:nvPr/>
        </p:nvSpPr>
        <p:spPr>
          <a:xfrm>
            <a:off x="1719072" y="4654296"/>
            <a:ext cx="6949440" cy="548640"/>
          </a:xfrm>
          <a:prstGeom prst="rect">
            <a:avLst/>
          </a:prstGeom>
          <a:noFill/>
        </p:spPr>
        <p:txBody>
          <a:bodyPr wrap="square" lIns="0" rIns="0" tIns="0" bIns="0" anchor="t">
            <a:spAutoFit/>
          </a:bodyPr>
          <a:lstStyle/>
          <a:p>
            <a:pPr algn="r" rtl="0"/>
            <a:r>
              <a:rPr lang="ar-SA" sz="2200" b="1">
                <a:solidFill>
                  <a:srgbClr val="2EF2C2"/>
                </a:solidFill>
                <a:latin typeface="Readex Pro"/>
                <a:ea typeface="Readex Pro"/>
                <a:cs typeface="Readex Pro"/>
                <a:sym typeface="Readex Pro"/>
                <a:hlinkClick r:id="rId6"/>
              </a:rPr>
              <a:t>youtu.be/YYWhZCzcJgg</a:t>
            </a:r>
          </a:p>
        </p:txBody>
      </p:sp>
      <p:sp>
        <p:nvSpPr>
          <p:cNvPr id="557" name="TextBox 556"/>
          <p:cNvSpPr txBox="1"/>
          <p:nvPr/>
        </p:nvSpPr>
        <p:spPr>
          <a:xfrm>
            <a:off x="1719072" y="5212080"/>
            <a:ext cx="6949440" cy="457200"/>
          </a:xfrm>
          <a:prstGeom prst="rect">
            <a:avLst/>
          </a:prstGeom>
          <a:noFill/>
        </p:spPr>
        <p:txBody>
          <a:bodyPr wrap="square" lIns="0" rIns="0" tIns="0" bIns="0" anchor="t">
            <a:spAutoFit/>
          </a:bodyPr>
          <a:lstStyle/>
          <a:p>
            <a:pPr algn="r" rtl="1"/>
            <a:r>
              <a:rPr lang="ar-SA" sz="1800" b="0">
                <a:solidFill>
                  <a:srgbClr val="CBCFE6"/>
                </a:solidFill>
                <a:latin typeface="Readex Pro"/>
                <a:ea typeface="Readex Pro"/>
                <a:cs typeface="Readex Pro"/>
                <a:sym typeface="Readex Pro"/>
              </a:rPr>
              <a:t>عرض المنتج على يوتيوب</a:t>
            </a:r>
          </a:p>
        </p:txBody>
      </p:sp>
      <p:sp>
        <p:nvSpPr>
          <p:cNvPr id="558" name="TextBox 557"/>
          <p:cNvSpPr txBox="1"/>
          <p:nvPr/>
        </p:nvSpPr>
        <p:spPr>
          <a:xfrm>
            <a:off x="1719072" y="5806440"/>
            <a:ext cx="6949440" cy="548640"/>
          </a:xfrm>
          <a:prstGeom prst="rect">
            <a:avLst/>
          </a:prstGeom>
          <a:noFill/>
        </p:spPr>
        <p:txBody>
          <a:bodyPr wrap="square" lIns="0" rIns="0" tIns="0" bIns="0" anchor="t">
            <a:spAutoFit/>
          </a:bodyPr>
          <a:lstStyle/>
          <a:p>
            <a:pPr algn="r" rtl="1"/>
            <a:r>
              <a:rPr lang="ar-SA" sz="2000" b="1">
                <a:solidFill>
                  <a:srgbClr val="F2F4FF"/>
                </a:solidFill>
                <a:latin typeface="Readex Pro"/>
                <a:ea typeface="Readex Pro"/>
                <a:cs typeface="Readex Pro"/>
                <a:sym typeface="Readex Pro"/>
              </a:rPr>
              <a:t>حسابات اللجنة: </a:t>
            </a:r>
            <a:r>
              <a:rPr lang="ar-SA" sz="2000" b="1">
                <a:solidFill>
                  <a:srgbClr val="2EF2C2"/>
                </a:solidFill>
                <a:latin typeface="Readex Pro"/>
                <a:ea typeface="Readex Pro"/>
                <a:cs typeface="Readex Pro"/>
                <a:sym typeface="Readex Pro"/>
                <a:hlinkClick r:id="rId7"/>
              </a:rPr>
              <a:t>ملف الدخول على Google Drive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4" name="Google Shape;914;p31" title="خلفية هكثون3.png"/>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915" name="Google Shape;915;p31"/>
          <p:cNvSpPr txBox="1">
            <a:spLocks noGrp="1"/>
          </p:cNvSpPr>
          <p:nvPr>
            <p:ph type="body" idx="1"/>
          </p:nvPr>
        </p:nvSpPr>
        <p:spPr>
          <a:xfrm>
            <a:off x="3810000" y="5676900"/>
            <a:ext cx="106680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0">
                <a:solidFill>
                  <a:srgbClr val="F2F4FF"/>
                </a:solidFill>
                <a:latin typeface="Readex Pro"/>
                <a:ea typeface="Readex Pro"/>
                <a:cs typeface="Readex Pro"/>
                <a:sym typeface="Readex Pro"/>
              </a:rPr>
              <a:t>فريق الصديق الصدوق · المسار المفتوح</a:t>
            </a:r>
          </a:p>
        </p:txBody>
      </p:sp>
      <p:sp>
        <p:nvSpPr>
          <p:cNvPr id="916" name="Google Shape;916;p31"/>
          <p:cNvSpPr txBox="1">
            <a:spLocks noGrp="1"/>
          </p:cNvSpPr>
          <p:nvPr>
            <p:ph type="body" idx="2"/>
          </p:nvPr>
        </p:nvSpPr>
        <p:spPr>
          <a:xfrm>
            <a:off x="3810000" y="6653200"/>
            <a:ext cx="10668000" cy="6669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100"/>
              <a:buNone/>
            </a:pPr>
            <a:r>
              <a:rPr lang="ar-SA" sz="2100" b="0">
                <a:solidFill>
                  <a:srgbClr val="CBCFE6"/>
                </a:solidFill>
                <a:latin typeface="Readex Pro"/>
                <a:ea typeface="Readex Pro"/>
                <a:cs typeface="Readex Pro"/>
                <a:sym typeface="Readex Pro"/>
                <a:hlinkClick r:id="rId3"/>
              </a:rPr>
              <a:t>alsadiqai.com</a:t>
            </a:r>
          </a:p>
        </p:txBody>
      </p:sp>
      <p:sp>
        <p:nvSpPr>
          <p:cNvPr id="917" name="Google Shape;917;p31"/>
          <p:cNvSpPr txBox="1">
            <a:spLocks noGrp="1"/>
          </p:cNvSpPr>
          <p:nvPr>
            <p:ph type="title"/>
          </p:nvPr>
        </p:nvSpPr>
        <p:spPr>
          <a:xfrm>
            <a:off x="3810000" y="3819525"/>
            <a:ext cx="10668000" cy="14289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200"/>
              <a:buNone/>
            </a:pPr>
            <a:r>
              <a:rPr lang="ar-SA" sz="7200" b="1">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927698" y="8248361"/>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356540" y="8460750"/>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551142" y="8407347"/>
            <a:ext cx="1752806" cy="1028753"/>
          </a:xfrm>
          <a:prstGeom prst="rect">
            <a:avLst/>
          </a:prstGeom>
          <a:noFill/>
          <a:ln>
            <a:noFill/>
          </a:ln>
        </p:spPr>
      </p:pic>
      <p:sp>
        <p:nvSpPr>
          <p:cNvPr id="924" name="Google Shape;924;p31"/>
          <p:cNvSpPr txBox="1"/>
          <p:nvPr/>
        </p:nvSpPr>
        <p:spPr>
          <a:xfrm>
            <a:off x="14223884" y="8786361"/>
            <a:ext cx="1062000" cy="295800"/>
          </a:xfrm>
          <a:prstGeom prst="rect">
            <a:avLst/>
          </a:prstGeom>
          <a:noFill/>
          <a:ln>
            <a:noFill/>
          </a:ln>
        </p:spPr>
        <p:txBody>
          <a:bodyPr spcFirstLastPara="1" wrap="square" lIns="0" tIns="0" rIns="0" bIns="0" anchor="t" anchorCtr="0">
            <a:noAutofit/>
          </a:bodyPr>
          <a:lstStyle/>
          <a:p>
            <a:pPr marL="0" lvl="0" indent="0" algn="r" rtl="1">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633455" y="8674028"/>
            <a:ext cx="0" cy="453600"/>
          </a:xfrm>
          <a:prstGeom prst="straightConnector1">
            <a:avLst/>
          </a:prstGeom>
          <a:noFill/>
          <a:ln w="9525" cap="flat" cmpd="sng">
            <a:solidFill>
              <a:srgbClr val="2EF2C2"/>
            </a:solidFill>
            <a:prstDash val="solid"/>
            <a:round/>
            <a:headEnd type="none" w="med" len="med"/>
            <a:tailEnd type="none" w="med" len="med"/>
          </a:ln>
        </p:spPr>
      </p:cxnSp>
      <p:cxnSp>
        <p:nvCxnSpPr>
          <p:cNvPr id="926" name="Google Shape;926;p31"/>
          <p:cNvCxnSpPr/>
          <p:nvPr/>
        </p:nvCxnSpPr>
        <p:spPr>
          <a:xfrm>
            <a:off x="5252216" y="8674028"/>
            <a:ext cx="0" cy="453600"/>
          </a:xfrm>
          <a:prstGeom prst="straightConnector1">
            <a:avLst/>
          </a:prstGeom>
          <a:noFill/>
          <a:ln w="9525" cap="flat" cmpd="sng">
            <a:solidFill>
              <a:srgbClr val="2EF2C2"/>
            </a:solidFill>
            <a:prstDash val="solid"/>
            <a:round/>
            <a:headEnd type="none" w="med" len="med"/>
            <a:tailEnd type="none" w="med" len="med"/>
          </a:ln>
        </p:spPr>
      </p:cxnSp>
      <p:pic>
        <p:nvPicPr>
          <p:cNvPr id="927" name="Google Shape;927;p31" title="شعار وزارة الاتصالات.png"/>
          <p:cNvPicPr preferRelativeResize="0"/>
          <p:nvPr/>
        </p:nvPicPr>
        <p:blipFill>
          <a:blip r:embed="rId10">
            <a:alphaModFix/>
          </a:blip>
          <a:stretch>
            <a:fillRect/>
          </a:stretch>
        </p:blipFill>
        <p:spPr>
          <a:xfrm>
            <a:off x="10779959" y="8510678"/>
            <a:ext cx="3035650" cy="847150"/>
          </a:xfrm>
          <a:prstGeom prst="rect">
            <a:avLst/>
          </a:prstGeom>
          <a:noFill/>
          <a:ln>
            <a:noFill/>
          </a:ln>
        </p:spPr>
      </p:pic>
      <p:cxnSp>
        <p:nvCxnSpPr>
          <p:cNvPr id="928" name="Google Shape;928;p31"/>
          <p:cNvCxnSpPr/>
          <p:nvPr/>
        </p:nvCxnSpPr>
        <p:spPr>
          <a:xfrm>
            <a:off x="10544113" y="8674028"/>
            <a:ext cx="0" cy="453600"/>
          </a:xfrm>
          <a:prstGeom prst="straightConnector1">
            <a:avLst/>
          </a:prstGeom>
          <a:noFill/>
          <a:ln w="9525" cap="flat" cmpd="sng">
            <a:solidFill>
              <a:srgbClr val="2EF2C2"/>
            </a:solidFill>
            <a:prstDash val="solid"/>
            <a:round/>
            <a:headEnd type="none" w="med" len="med"/>
            <a:tailEnd type="none" w="med" len="med"/>
          </a:ln>
        </p:spPr>
      </p:cxnSp>
      <p:sp>
        <p:nvSpPr>
          <p:cNvPr id="3" name="TextBox 928">
            <a:extLst>
              <a:ext uri="{FF2B5EF4-FFF2-40B4-BE49-F238E27FC236}">
                <a16:creationId xmlns:a16="http://schemas.microsoft.com/office/drawing/2014/main" id="{E87DDD3E-BEA0-9A99-1513-49D9537F15E3}"/>
              </a:ext>
            </a:extLst>
          </p:cNvPr>
          <p:cNvSpPr txBox="1"/>
          <p:nvPr/>
        </p:nvSpPr>
        <p:spPr>
          <a:xfrm>
            <a:off x="3804188" y="7314137"/>
            <a:ext cx="10671048" cy="502920"/>
          </a:xfrm>
          <a:prstGeom prst="rect">
            <a:avLst/>
          </a:prstGeom>
          <a:noFill/>
        </p:spPr>
        <p:txBody>
          <a:bodyPr wrap="square" lIns="0" tIns="0" rIns="0" bIns="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ctr" rtl="1"/>
            <a:r>
              <a:rPr lang="ar-SA" sz="1800" b="0">
                <a:solidFill>
                  <a:srgbClr val="2EF2C2"/>
                </a:solidFill>
                <a:latin typeface="Readex Pro"/>
                <a:ea typeface="Readex Pro"/>
                <a:cs typeface="Readex Pro"/>
                <a:sym typeface="Readex Pro"/>
              </a:rPr>
              <a:t>للمزيد من التفاصيل والأرقام بمصادرها: الملحق في الشرائح التالية</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26" name="Google Shape;526;p10" title="خلفية هكثون3.png"/>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527" name="Google Shape;527;p10"/>
          <p:cNvSpPr txBox="1">
            <a:spLocks noGrp="1"/>
          </p:cNvSpPr>
          <p:nvPr>
            <p:ph type="body" idx="1"/>
          </p:nvPr>
        </p:nvSpPr>
        <p:spPr>
          <a:xfrm>
            <a:off x="13125450" y="3143250"/>
            <a:ext cx="3619500" cy="12384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8400"/>
              <a:buNone/>
            </a:pPr>
            <a:r>
              <a:rPr lang="ar-SA" sz="8400" b="1">
                <a:solidFill>
                  <a:srgbClr val="2EF2C2"/>
                </a:solidFill>
                <a:latin typeface="Readex Pro"/>
                <a:ea typeface="Readex Pro"/>
                <a:cs typeface="Readex Pro"/>
                <a:sym typeface="Readex Pro"/>
              </a:rPr>
              <a:t>ملحق</a:t>
            </a:r>
          </a:p>
        </p:txBody>
      </p:sp>
      <p:sp>
        <p:nvSpPr>
          <p:cNvPr id="528" name="Google Shape;528;p10"/>
          <p:cNvSpPr txBox="1">
            <a:spLocks noGrp="1"/>
          </p:cNvSpPr>
          <p:nvPr>
            <p:ph type="title"/>
          </p:nvPr>
        </p:nvSpPr>
        <p:spPr>
          <a:xfrm>
            <a:off x="9179000" y="4810125"/>
            <a:ext cx="7566000" cy="1238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000"/>
              <a:buNone/>
            </a:pPr>
            <a:r>
              <a:rPr lang="ar-SA" sz="6000" b="1">
                <a:solidFill>
                  <a:srgbClr val="F2F4FF"/>
                </a:solidFill>
                <a:latin typeface="Readex Pro"/>
                <a:ea typeface="Readex Pro"/>
                <a:cs typeface="Readex Pro"/>
                <a:sym typeface="Readex Pro"/>
              </a:rPr>
              <a:t>الأدلة التفصيلية</a:t>
            </a:r>
          </a:p>
        </p:txBody>
      </p:sp>
      <p:sp>
        <p:nvSpPr>
          <p:cNvPr id="529" name="Google Shape;529;p10"/>
          <p:cNvSpPr txBox="1">
            <a:spLocks noGrp="1"/>
          </p:cNvSpPr>
          <p:nvPr>
            <p:ph type="body" idx="2"/>
          </p:nvPr>
        </p:nvSpPr>
        <p:spPr>
          <a:xfrm>
            <a:off x="9729275" y="6572250"/>
            <a:ext cx="7015500" cy="675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0">
                <a:solidFill>
                  <a:srgbClr val="CBCFE6"/>
                </a:solidFill>
                <a:latin typeface="Readex Pro"/>
                <a:ea typeface="Readex Pro"/>
                <a:cs typeface="Readex Pro"/>
                <a:sym typeface="Readex Pro"/>
              </a:rPr>
              <a:t>لأسئلة اللجنة: الأرقام بمصادرها ومنهجها</a:t>
            </a:r>
          </a:p>
        </p:txBody>
      </p:sp>
      <p:pic>
        <p:nvPicPr>
          <p:cNvPr id="530" name="Google Shape;530;p10"/>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531" name="TextBox 530"/>
          <p:cNvSpPr txBox="1"/>
          <p:nvPr/>
        </p:nvSpPr>
        <p:spPr>
          <a:xfrm>
            <a:off x="7772400" y="7589520"/>
            <a:ext cx="8970264" cy="1097280"/>
          </a:xfrm>
          <a:prstGeom prst="rect">
            <a:avLst/>
          </a:prstGeom>
          <a:noFill/>
        </p:spPr>
        <p:txBody>
          <a:bodyPr wrap="square" lIns="0" tIns="0" rIns="0" bIns="0" anchor="t">
            <a:spAutoFit/>
          </a:bodyPr>
          <a:lstStyle/>
          <a:p>
            <a:pPr algn="r" rtl="1">
              <a:spcBef>
                <a:spcPts val="400"/>
              </a:spcBef>
            </a:pPr>
            <a:r>
              <a:rPr lang="ar-SA" sz="2000" b="0">
                <a:solidFill>
                  <a:srgbClr val="CBCFE6"/>
                </a:solidFill>
                <a:latin typeface="Readex Pro"/>
                <a:ea typeface="Readex Pro"/>
                <a:cs typeface="Readex Pro"/>
                <a:sym typeface="Readex Pro"/>
              </a:rPr>
              <a:t>آلية العمل · المحتوى · النتائج كاملة · التكلفة · الإفصاح</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7" name="Google Shape;817;p24" title="خلفية هكثون4.png"/>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818" name="Google Shape;818;p24"/>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آلية العمل</a:t>
            </a:r>
          </a:p>
        </p:txBody>
      </p:sp>
      <p:sp>
        <p:nvSpPr>
          <p:cNvPr id="819" name="Google Shape;819;p24"/>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كيف يعمل الصديق؟</a:t>
            </a:r>
          </a:p>
        </p:txBody>
      </p:sp>
      <p:sp>
        <p:nvSpPr>
          <p:cNvPr id="820" name="Google Shape;820;p24"/>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من سؤال الطفل إلى مصدر يراه الوالدان، في كل دور صوتا أو كتابة</a:t>
            </a:r>
          </a:p>
        </p:txBody>
      </p:sp>
      <p:sp>
        <p:nvSpPr>
          <p:cNvPr id="821" name="Google Shape;821;p2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25</a:t>
            </a:fld>
            <a:endParaRPr/>
          </a:p>
        </p:txBody>
      </p:sp>
      <p:sp>
        <p:nvSpPr>
          <p:cNvPr id="822" name="Google Shape;822;p24"/>
          <p:cNvSpPr/>
          <p:nvPr/>
        </p:nvSpPr>
        <p:spPr>
          <a:xfrm>
            <a:off x="137160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502920" rIns="78400" bIns="78400" anchor="t" anchorCtr="0">
            <a:noAutofit/>
          </a:bodyPr>
          <a:lstStyle/>
          <a:p>
            <a:pPr marL="0" marR="238670" lvl="0" indent="0" algn="r" rtl="0">
              <a:spcBef>
                <a:spcPts val="0"/>
              </a:spcBef>
              <a:spcAft>
                <a:spcPts val="0"/>
              </a:spcAft>
              <a:buNone/>
            </a:pPr>
            <a:r>
              <a:rPr lang="ar-SA" sz="3600" b="1">
                <a:solidFill>
                  <a:srgbClr val="2EF2C2"/>
                </a:solidFill>
                <a:latin typeface="Readex Pro"/>
                <a:ea typeface="Readex Pro"/>
                <a:cs typeface="Readex Pro"/>
                <a:sym typeface="Readex Pro"/>
              </a:rPr>
              <a:t>01</a:t>
            </a: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المدخلات</a:t>
            </a: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صوت الطفل أو كتابته</a:t>
            </a: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بالعربية أو الإنجليزية</a:t>
            </a:r>
          </a:p>
        </p:txBody>
      </p:sp>
      <p:sp>
        <p:nvSpPr>
          <p:cNvPr id="823" name="Google Shape;823;p24"/>
          <p:cNvSpPr/>
          <p:nvPr/>
        </p:nvSpPr>
        <p:spPr>
          <a:xfrm>
            <a:off x="97155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502920" rIns="78400" bIns="78400" anchor="t" anchorCtr="0">
            <a:noAutofit/>
          </a:bodyPr>
          <a:lstStyle/>
          <a:p>
            <a:pPr marL="0" marR="223307" lvl="0" indent="0" algn="r" rtl="0">
              <a:spcBef>
                <a:spcPts val="0"/>
              </a:spcBef>
              <a:spcAft>
                <a:spcPts val="0"/>
              </a:spcAft>
              <a:buNone/>
            </a:pPr>
            <a:r>
              <a:rPr lang="ar-SA" sz="3600" b="1">
                <a:solidFill>
                  <a:srgbClr val="2EF2C2"/>
                </a:solidFill>
                <a:latin typeface="Readex Pro"/>
                <a:ea typeface="Readex Pro"/>
                <a:cs typeface="Readex Pro"/>
                <a:sym typeface="Readex Pro"/>
              </a:rPr>
              <a:t>02</a:t>
            </a: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المعالجة</a:t>
            </a: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سياسة الدور والحراس</a:t>
            </a: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واسترجاع من البنك</a:t>
            </a:r>
          </a:p>
        </p:txBody>
      </p:sp>
      <p:sp>
        <p:nvSpPr>
          <p:cNvPr id="824" name="Google Shape;824;p24"/>
          <p:cNvSpPr/>
          <p:nvPr/>
        </p:nvSpPr>
        <p:spPr>
          <a:xfrm>
            <a:off x="57150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502920" rIns="78400" bIns="78400" anchor="t" anchorCtr="0">
            <a:noAutofit/>
          </a:bodyPr>
          <a:lstStyle/>
          <a:p>
            <a:pPr marL="0" marR="238125" lvl="0" indent="0" algn="r" rtl="0">
              <a:spcBef>
                <a:spcPts val="0"/>
              </a:spcBef>
              <a:spcAft>
                <a:spcPts val="0"/>
              </a:spcAft>
              <a:buNone/>
            </a:pPr>
            <a:r>
              <a:rPr lang="ar-SA" sz="3600" b="1">
                <a:solidFill>
                  <a:srgbClr val="2EF2C2"/>
                </a:solidFill>
                <a:latin typeface="Readex Pro"/>
                <a:ea typeface="Readex Pro"/>
                <a:cs typeface="Readex Pro"/>
                <a:sym typeface="Readex Pro"/>
              </a:rPr>
              <a:t>03</a:t>
            </a: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المخرجات</a:t>
            </a: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رد قصير بصوت دافئ</a:t>
            </a: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وبطاقة حين يسأل</a:t>
            </a:r>
          </a:p>
        </p:txBody>
      </p:sp>
      <p:sp>
        <p:nvSpPr>
          <p:cNvPr id="825" name="Google Shape;825;p24"/>
          <p:cNvSpPr/>
          <p:nvPr/>
        </p:nvSpPr>
        <p:spPr>
          <a:xfrm>
            <a:off x="17145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502920" rIns="78400" bIns="78400" anchor="t" anchorCtr="0">
            <a:noAutofit/>
          </a:bodyPr>
          <a:lstStyle/>
          <a:p>
            <a:pPr marL="0" marR="223307" lvl="0" indent="0" algn="r" rtl="0">
              <a:spcBef>
                <a:spcPts val="0"/>
              </a:spcBef>
              <a:spcAft>
                <a:spcPts val="0"/>
              </a:spcAft>
              <a:buNone/>
            </a:pPr>
            <a:r>
              <a:rPr lang="ar-SA" sz="3600" b="1">
                <a:solidFill>
                  <a:srgbClr val="2EF2C2"/>
                </a:solidFill>
                <a:latin typeface="Readex Pro"/>
                <a:ea typeface="Readex Pro"/>
                <a:cs typeface="Readex Pro"/>
                <a:sym typeface="Readex Pro"/>
              </a:rPr>
              <a:t>04</a:t>
            </a: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الأثر</a:t>
            </a: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قيمة يمارسها الطفل</a:t>
            </a: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ومصدر يراه الوالدان</a:t>
            </a:r>
          </a:p>
        </p:txBody>
      </p:sp>
      <p:pic>
        <p:nvPicPr>
          <p:cNvPr id="826" name="Google Shape;826;p24"/>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827" name="TextBox 826"/>
          <p:cNvSpPr txBox="1"/>
          <p:nvPr/>
        </p:nvSpPr>
        <p:spPr>
          <a:xfrm>
            <a:off x="1408176" y="8412480"/>
            <a:ext cx="15435072" cy="54864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الشيفرة: turn_pipeline.py مسار واحد للصوت والكتابة · retrieval.py · turn_policy.py · فرع hackathon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36" name="Google Shape;536;p11"/>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آلية العمل</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البنية التقنية للوكيل الصوتي</a:t>
            </a:r>
          </a:p>
        </p:txBody>
      </p:sp>
      <p:sp>
        <p:nvSpPr>
          <p:cNvPr id="539" name="Google Shape;539;p1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وكيل LiveKit يقرر قبل أن يتكلم: الأمان أولا، ثم الإحالة، ثم الاسترجاع من البنك</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26</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551" name="Rounded Rectangle 550"/>
          <p:cNvSpPr/>
          <p:nvPr/>
        </p:nvSpPr>
        <p:spPr>
          <a:xfrm>
            <a:off x="14081760" y="3749040"/>
            <a:ext cx="2761488" cy="1828800"/>
          </a:xfrm>
          <a:prstGeom prst="roundRect">
            <a:avLst>
              <a:gd name="adj" fmla="val 8000"/>
            </a:avLst>
          </a:prstGeom>
          <a:solidFill>
            <a:srgbClr val="FFFFFF">
              <a:alpha val="5000"/>
            </a:srgbClr>
          </a:solidFill>
          <a:ln w="12700">
            <a:solidFill>
              <a:srgbClr val="2EF2C2">
                <a:alpha val="25000"/>
              </a:srgbClr>
            </a:solidFill>
          </a:ln>
        </p:spPr>
        <p:txBody>
          <a:bodyPr rtlCol="0" anchor="ctr"/>
          <a:lstStyle/>
          <a:p>
            <a:endParaRPr/>
          </a:p>
        </p:txBody>
      </p:sp>
      <p:sp>
        <p:nvSpPr>
          <p:cNvPr id="552" name="TextBox 551"/>
          <p:cNvSpPr txBox="1"/>
          <p:nvPr/>
        </p:nvSpPr>
        <p:spPr>
          <a:xfrm>
            <a:off x="14191488" y="3840480"/>
            <a:ext cx="2542032" cy="1645920"/>
          </a:xfrm>
          <a:prstGeom prst="rect">
            <a:avLst/>
          </a:prstGeom>
          <a:noFill/>
        </p:spPr>
        <p:txBody>
          <a:bodyPr wrap="square" lIns="0" tIns="0" rIns="0" bIns="0" anchor="ctr">
            <a:spAutoFit/>
          </a:bodyPr>
          <a:lstStyle/>
          <a:p>
            <a:pPr algn="ctr" rtl="1">
              <a:spcBef>
                <a:spcPts val="200"/>
              </a:spcBef>
            </a:pPr>
            <a:r>
              <a:rPr lang="ar-SA" sz="2100" b="1">
                <a:solidFill>
                  <a:srgbClr val="F2F4FF"/>
                </a:solidFill>
                <a:latin typeface="Readex Pro"/>
                <a:ea typeface="Readex Pro"/>
                <a:cs typeface="Readex Pro"/>
                <a:sym typeface="Readex Pro"/>
              </a:rPr>
              <a:t>سؤال الطفل</a:t>
            </a:r>
          </a:p>
          <a:p>
            <a:pPr algn="ctr" rtl="1">
              <a:spcBef>
                <a:spcPts val="200"/>
              </a:spcBef>
            </a:pPr>
            <a:r>
              <a:rPr lang="ar-SA" sz="1800" b="0">
                <a:solidFill>
                  <a:srgbClr val="CBCFE6"/>
                </a:solidFill>
                <a:latin typeface="Readex Pro"/>
                <a:ea typeface="Readex Pro"/>
                <a:cs typeface="Readex Pro"/>
                <a:sym typeface="Readex Pro"/>
              </a:rPr>
              <a:t>صوت أو كتابة</a:t>
            </a:r>
          </a:p>
          <a:p>
            <a:pPr algn="ctr" rtl="1">
              <a:spcBef>
                <a:spcPts val="200"/>
              </a:spcBef>
            </a:pPr>
            <a:r>
              <a:rPr lang="ar-SA" sz="1800" b="0">
                <a:solidFill>
                  <a:srgbClr val="8E99CC"/>
                </a:solidFill>
                <a:latin typeface="Readex Pro"/>
                <a:ea typeface="Readex Pro"/>
                <a:cs typeface="Readex Pro"/>
                <a:sym typeface="Readex Pro"/>
              </a:rPr>
              <a:t>LiveKit WebRTC</a:t>
            </a:r>
          </a:p>
        </p:txBody>
      </p:sp>
      <p:sp>
        <p:nvSpPr>
          <p:cNvPr id="553" name="Left Arrow 552"/>
          <p:cNvSpPr/>
          <p:nvPr/>
        </p:nvSpPr>
        <p:spPr>
          <a:xfrm>
            <a:off x="13729716" y="4517136"/>
            <a:ext cx="297180" cy="292608"/>
          </a:xfrm>
          <a:prstGeom prst="leftArrow">
            <a:avLst/>
          </a:prstGeom>
          <a:solidFill>
            <a:srgbClr val="2EF2C2">
              <a:alpha val="80000"/>
            </a:srgbClr>
          </a:solidFill>
          <a:ln w="12700">
            <a:noFill/>
          </a:ln>
        </p:spPr>
        <p:txBody>
          <a:bodyPr rtlCol="0" anchor="ctr"/>
          <a:lstStyle/>
          <a:p>
            <a:pPr algn="ctr"/>
            <a:endParaRPr/>
          </a:p>
        </p:txBody>
      </p:sp>
      <p:sp>
        <p:nvSpPr>
          <p:cNvPr id="554" name="Rounded Rectangle 553"/>
          <p:cNvSpPr/>
          <p:nvPr/>
        </p:nvSpPr>
        <p:spPr>
          <a:xfrm>
            <a:off x="10913364" y="3749040"/>
            <a:ext cx="2761488" cy="1828800"/>
          </a:xfrm>
          <a:prstGeom prst="roundRect">
            <a:avLst>
              <a:gd name="adj" fmla="val 8000"/>
            </a:avLst>
          </a:prstGeom>
          <a:solidFill>
            <a:srgbClr val="FFFFFF">
              <a:alpha val="5000"/>
            </a:srgbClr>
          </a:solidFill>
          <a:ln w="12700">
            <a:solidFill>
              <a:srgbClr val="2EF2C2">
                <a:alpha val="25000"/>
              </a:srgbClr>
            </a:solidFill>
          </a:ln>
        </p:spPr>
        <p:txBody>
          <a:bodyPr rtlCol="0" anchor="ctr"/>
          <a:lstStyle/>
          <a:p>
            <a:endParaRPr/>
          </a:p>
        </p:txBody>
      </p:sp>
      <p:sp>
        <p:nvSpPr>
          <p:cNvPr id="555" name="TextBox 554"/>
          <p:cNvSpPr txBox="1"/>
          <p:nvPr/>
        </p:nvSpPr>
        <p:spPr>
          <a:xfrm>
            <a:off x="11023092" y="3840480"/>
            <a:ext cx="2542032" cy="1645920"/>
          </a:xfrm>
          <a:prstGeom prst="rect">
            <a:avLst/>
          </a:prstGeom>
          <a:noFill/>
        </p:spPr>
        <p:txBody>
          <a:bodyPr wrap="square" lIns="0" tIns="0" rIns="0" bIns="0" anchor="ctr">
            <a:spAutoFit/>
          </a:bodyPr>
          <a:lstStyle/>
          <a:p>
            <a:pPr algn="ctr" rtl="1">
              <a:spcBef>
                <a:spcPts val="200"/>
              </a:spcBef>
            </a:pPr>
            <a:r>
              <a:rPr lang="ar-SA" sz="2100" b="1">
                <a:solidFill>
                  <a:srgbClr val="F2F4FF"/>
                </a:solidFill>
                <a:latin typeface="Readex Pro"/>
                <a:ea typeface="Readex Pro"/>
                <a:cs typeface="Readex Pro"/>
                <a:sym typeface="Readex Pro"/>
              </a:rPr>
              <a:t>الكلام إلى نص</a:t>
            </a:r>
          </a:p>
          <a:p>
            <a:pPr algn="ctr" rtl="1">
              <a:spcBef>
                <a:spcPts val="200"/>
              </a:spcBef>
            </a:pPr>
            <a:r>
              <a:rPr lang="ar-SA" sz="1800" b="0">
                <a:solidFill>
                  <a:srgbClr val="CBCFE6"/>
                </a:solidFill>
                <a:latin typeface="Readex Pro"/>
                <a:ea typeface="Readex Pro"/>
                <a:cs typeface="Readex Pro"/>
                <a:sym typeface="Readex Pro"/>
              </a:rPr>
              <a:t>تفريغ صوت الطفل</a:t>
            </a:r>
          </a:p>
          <a:p>
            <a:pPr algn="ctr" rtl="1">
              <a:spcBef>
                <a:spcPts val="200"/>
              </a:spcBef>
            </a:pPr>
            <a:r>
              <a:rPr lang="ar-SA" sz="1800" b="0">
                <a:solidFill>
                  <a:srgbClr val="8E99CC"/>
                </a:solidFill>
                <a:latin typeface="Readex Pro"/>
                <a:ea typeface="Readex Pro"/>
                <a:cs typeface="Readex Pro"/>
                <a:sym typeface="Readex Pro"/>
              </a:rPr>
              <a:t>OpenAI</a:t>
            </a:r>
          </a:p>
        </p:txBody>
      </p:sp>
      <p:sp>
        <p:nvSpPr>
          <p:cNvPr id="556" name="Left Arrow 555"/>
          <p:cNvSpPr/>
          <p:nvPr/>
        </p:nvSpPr>
        <p:spPr>
          <a:xfrm>
            <a:off x="10561320" y="4517136"/>
            <a:ext cx="297180" cy="292608"/>
          </a:xfrm>
          <a:prstGeom prst="leftArrow">
            <a:avLst/>
          </a:prstGeom>
          <a:solidFill>
            <a:srgbClr val="2EF2C2">
              <a:alpha val="80000"/>
            </a:srgbClr>
          </a:solidFill>
          <a:ln w="12700">
            <a:noFill/>
          </a:ln>
        </p:spPr>
        <p:txBody>
          <a:bodyPr rtlCol="0" anchor="ctr"/>
          <a:lstStyle/>
          <a:p>
            <a:pPr algn="ctr"/>
            <a:endParaRPr/>
          </a:p>
        </p:txBody>
      </p:sp>
      <p:sp>
        <p:nvSpPr>
          <p:cNvPr id="557" name="Rounded Rectangle 556"/>
          <p:cNvSpPr/>
          <p:nvPr/>
        </p:nvSpPr>
        <p:spPr>
          <a:xfrm>
            <a:off x="7744968" y="3749040"/>
            <a:ext cx="2761488" cy="1828800"/>
          </a:xfrm>
          <a:prstGeom prst="roundRect">
            <a:avLst>
              <a:gd name="adj" fmla="val 8000"/>
            </a:avLst>
          </a:prstGeom>
          <a:solidFill>
            <a:srgbClr val="2EF2C2">
              <a:alpha val="10000"/>
            </a:srgbClr>
          </a:solidFill>
          <a:ln w="25400">
            <a:solidFill>
              <a:srgbClr val="2EF2C2">
                <a:alpha val="100000"/>
              </a:srgbClr>
            </a:solidFill>
          </a:ln>
        </p:spPr>
        <p:txBody>
          <a:bodyPr rtlCol="0" anchor="ctr"/>
          <a:lstStyle/>
          <a:p>
            <a:endParaRPr/>
          </a:p>
        </p:txBody>
      </p:sp>
      <p:sp>
        <p:nvSpPr>
          <p:cNvPr id="558" name="TextBox 557"/>
          <p:cNvSpPr txBox="1"/>
          <p:nvPr/>
        </p:nvSpPr>
        <p:spPr>
          <a:xfrm>
            <a:off x="7854696" y="3840480"/>
            <a:ext cx="2542032" cy="1645920"/>
          </a:xfrm>
          <a:prstGeom prst="rect">
            <a:avLst/>
          </a:prstGeom>
          <a:noFill/>
        </p:spPr>
        <p:txBody>
          <a:bodyPr wrap="square" lIns="0" tIns="0" rIns="0" bIns="0" anchor="ctr">
            <a:spAutoFit/>
          </a:bodyPr>
          <a:lstStyle/>
          <a:p>
            <a:pPr algn="ctr" rtl="1">
              <a:spcBef>
                <a:spcPts val="200"/>
              </a:spcBef>
            </a:pPr>
            <a:r>
              <a:rPr lang="ar-SA" sz="2100" b="1">
                <a:solidFill>
                  <a:srgbClr val="2EF2C2"/>
                </a:solidFill>
                <a:latin typeface="Readex Pro"/>
                <a:ea typeface="Readex Pro"/>
                <a:cs typeface="Readex Pro"/>
                <a:sym typeface="Readex Pro"/>
              </a:rPr>
              <a:t>سياسة الدور</a:t>
            </a:r>
          </a:p>
          <a:p>
            <a:pPr algn="ctr" rtl="1">
              <a:spcBef>
                <a:spcPts val="200"/>
              </a:spcBef>
            </a:pPr>
            <a:r>
              <a:rPr lang="ar-SA" sz="1800" b="0">
                <a:solidFill>
                  <a:srgbClr val="CBCFE6"/>
                </a:solidFill>
                <a:latin typeface="Readex Pro"/>
                <a:ea typeface="Readex Pro"/>
                <a:cs typeface="Readex Pro"/>
                <a:sym typeface="Readex Pro"/>
              </a:rPr>
              <a:t>أمان، إحالة، استرجاع</a:t>
            </a:r>
          </a:p>
          <a:p>
            <a:pPr algn="ctr" rtl="1">
              <a:spcBef>
                <a:spcPts val="200"/>
              </a:spcBef>
            </a:pPr>
            <a:r>
              <a:rPr lang="ar-SA" sz="1800" b="0">
                <a:solidFill>
                  <a:srgbClr val="8E99CC"/>
                </a:solidFill>
                <a:latin typeface="Readex Pro"/>
                <a:ea typeface="Readex Pro"/>
                <a:cs typeface="Readex Pro"/>
                <a:sym typeface="Readex Pro"/>
              </a:rPr>
              <a:t>turn_policy.py</a:t>
            </a:r>
          </a:p>
        </p:txBody>
      </p:sp>
      <p:sp>
        <p:nvSpPr>
          <p:cNvPr id="559" name="Left Arrow 558"/>
          <p:cNvSpPr/>
          <p:nvPr/>
        </p:nvSpPr>
        <p:spPr>
          <a:xfrm>
            <a:off x="7392924" y="4517136"/>
            <a:ext cx="297180" cy="292608"/>
          </a:xfrm>
          <a:prstGeom prst="leftArrow">
            <a:avLst/>
          </a:prstGeom>
          <a:solidFill>
            <a:srgbClr val="2EF2C2">
              <a:alpha val="80000"/>
            </a:srgbClr>
          </a:solidFill>
          <a:ln w="12700">
            <a:noFill/>
          </a:ln>
        </p:spPr>
        <p:txBody>
          <a:bodyPr rtlCol="0" anchor="ctr"/>
          <a:lstStyle/>
          <a:p>
            <a:pPr algn="ctr"/>
            <a:endParaRPr/>
          </a:p>
        </p:txBody>
      </p:sp>
      <p:sp>
        <p:nvSpPr>
          <p:cNvPr id="560" name="Rounded Rectangle 559"/>
          <p:cNvSpPr/>
          <p:nvPr/>
        </p:nvSpPr>
        <p:spPr>
          <a:xfrm>
            <a:off x="4576572" y="3749040"/>
            <a:ext cx="2761488" cy="1828800"/>
          </a:xfrm>
          <a:prstGeom prst="roundRect">
            <a:avLst>
              <a:gd name="adj" fmla="val 8000"/>
            </a:avLst>
          </a:prstGeom>
          <a:solidFill>
            <a:srgbClr val="FFFFFF">
              <a:alpha val="5000"/>
            </a:srgbClr>
          </a:solidFill>
          <a:ln w="12700">
            <a:solidFill>
              <a:srgbClr val="2EF2C2">
                <a:alpha val="25000"/>
              </a:srgbClr>
            </a:solidFill>
          </a:ln>
        </p:spPr>
        <p:txBody>
          <a:bodyPr rtlCol="0" anchor="ctr"/>
          <a:lstStyle/>
          <a:p>
            <a:endParaRPr/>
          </a:p>
        </p:txBody>
      </p:sp>
      <p:sp>
        <p:nvSpPr>
          <p:cNvPr id="561" name="TextBox 560"/>
          <p:cNvSpPr txBox="1"/>
          <p:nvPr/>
        </p:nvSpPr>
        <p:spPr>
          <a:xfrm>
            <a:off x="4686300" y="3840480"/>
            <a:ext cx="2542032" cy="1645920"/>
          </a:xfrm>
          <a:prstGeom prst="rect">
            <a:avLst/>
          </a:prstGeom>
          <a:noFill/>
        </p:spPr>
        <p:txBody>
          <a:bodyPr wrap="square" lIns="0" tIns="0" rIns="0" bIns="0" anchor="ctr">
            <a:spAutoFit/>
          </a:bodyPr>
          <a:lstStyle/>
          <a:p>
            <a:pPr algn="ctr" rtl="1">
              <a:spcBef>
                <a:spcPts val="200"/>
              </a:spcBef>
            </a:pPr>
            <a:r>
              <a:rPr lang="ar-SA" sz="2100" b="1">
                <a:solidFill>
                  <a:srgbClr val="F2F4FF"/>
                </a:solidFill>
                <a:latin typeface="Readex Pro"/>
                <a:ea typeface="Readex Pro"/>
                <a:cs typeface="Readex Pro"/>
                <a:sym typeface="Readex Pro"/>
              </a:rPr>
              <a:t>صياغة الرد</a:t>
            </a:r>
          </a:p>
          <a:p>
            <a:pPr algn="ctr" rtl="1">
              <a:spcBef>
                <a:spcPts val="200"/>
              </a:spcBef>
            </a:pPr>
            <a:r>
              <a:rPr lang="ar-SA" sz="1800" b="0">
                <a:solidFill>
                  <a:srgbClr val="CBCFE6"/>
                </a:solidFill>
                <a:latin typeface="Readex Pro"/>
                <a:ea typeface="Readex Pro"/>
                <a:cs typeface="Readex Pro"/>
                <a:sym typeface="Readex Pro"/>
              </a:rPr>
              <a:t>يقتبس من المصدر فقط</a:t>
            </a:r>
          </a:p>
          <a:p>
            <a:pPr algn="ctr" rtl="1">
              <a:spcBef>
                <a:spcPts val="200"/>
              </a:spcBef>
            </a:pPr>
            <a:r>
              <a:rPr lang="ar-SA" sz="1800" b="0">
                <a:solidFill>
                  <a:srgbClr val="8E99CC"/>
                </a:solidFill>
                <a:latin typeface="Readex Pro"/>
                <a:ea typeface="Readex Pro"/>
                <a:cs typeface="Readex Pro"/>
                <a:sym typeface="Readex Pro"/>
              </a:rPr>
              <a:t>gpt-5.4-mini</a:t>
            </a:r>
          </a:p>
        </p:txBody>
      </p:sp>
      <p:sp>
        <p:nvSpPr>
          <p:cNvPr id="562" name="Left Arrow 561"/>
          <p:cNvSpPr/>
          <p:nvPr/>
        </p:nvSpPr>
        <p:spPr>
          <a:xfrm>
            <a:off x="4224528" y="4517136"/>
            <a:ext cx="297180" cy="292608"/>
          </a:xfrm>
          <a:prstGeom prst="leftArrow">
            <a:avLst/>
          </a:prstGeom>
          <a:solidFill>
            <a:srgbClr val="2EF2C2">
              <a:alpha val="80000"/>
            </a:srgbClr>
          </a:solidFill>
          <a:ln w="12700">
            <a:noFill/>
          </a:ln>
        </p:spPr>
        <p:txBody>
          <a:bodyPr rtlCol="0" anchor="ctr"/>
          <a:lstStyle/>
          <a:p>
            <a:pPr algn="ctr"/>
            <a:endParaRPr/>
          </a:p>
        </p:txBody>
      </p:sp>
      <p:sp>
        <p:nvSpPr>
          <p:cNvPr id="563" name="Rounded Rectangle 562"/>
          <p:cNvSpPr/>
          <p:nvPr/>
        </p:nvSpPr>
        <p:spPr>
          <a:xfrm>
            <a:off x="1408176" y="3749040"/>
            <a:ext cx="2761488" cy="1828800"/>
          </a:xfrm>
          <a:prstGeom prst="roundRect">
            <a:avLst>
              <a:gd name="adj" fmla="val 8000"/>
            </a:avLst>
          </a:prstGeom>
          <a:solidFill>
            <a:srgbClr val="FFFFFF">
              <a:alpha val="5000"/>
            </a:srgbClr>
          </a:solidFill>
          <a:ln w="12700">
            <a:solidFill>
              <a:srgbClr val="2EF2C2">
                <a:alpha val="25000"/>
              </a:srgbClr>
            </a:solidFill>
          </a:ln>
        </p:spPr>
        <p:txBody>
          <a:bodyPr rtlCol="0" anchor="ctr"/>
          <a:lstStyle/>
          <a:p>
            <a:endParaRPr/>
          </a:p>
        </p:txBody>
      </p:sp>
      <p:sp>
        <p:nvSpPr>
          <p:cNvPr id="564" name="TextBox 563"/>
          <p:cNvSpPr txBox="1"/>
          <p:nvPr/>
        </p:nvSpPr>
        <p:spPr>
          <a:xfrm>
            <a:off x="1517904" y="3840480"/>
            <a:ext cx="2542032" cy="1645920"/>
          </a:xfrm>
          <a:prstGeom prst="rect">
            <a:avLst/>
          </a:prstGeom>
          <a:noFill/>
        </p:spPr>
        <p:txBody>
          <a:bodyPr wrap="square" lIns="0" tIns="0" rIns="0" bIns="0" anchor="ctr">
            <a:spAutoFit/>
          </a:bodyPr>
          <a:lstStyle/>
          <a:p>
            <a:pPr algn="ctr" rtl="1">
              <a:spcBef>
                <a:spcPts val="200"/>
              </a:spcBef>
            </a:pPr>
            <a:r>
              <a:rPr lang="ar-SA" sz="2100" b="1">
                <a:solidFill>
                  <a:srgbClr val="F2F4FF"/>
                </a:solidFill>
                <a:latin typeface="Readex Pro"/>
                <a:ea typeface="Readex Pro"/>
                <a:cs typeface="Readex Pro"/>
                <a:sym typeface="Readex Pro"/>
              </a:rPr>
              <a:t>صوت الرد</a:t>
            </a:r>
          </a:p>
          <a:p>
            <a:pPr algn="ctr" rtl="1">
              <a:spcBef>
                <a:spcPts val="200"/>
              </a:spcBef>
            </a:pPr>
            <a:r>
              <a:rPr lang="ar-SA" sz="1800" b="0">
                <a:solidFill>
                  <a:srgbClr val="CBCFE6"/>
                </a:solidFill>
                <a:latin typeface="Readex Pro"/>
                <a:ea typeface="Readex Pro"/>
                <a:cs typeface="Readex Pro"/>
                <a:sym typeface="Readex Pro"/>
              </a:rPr>
              <a:t>لا يقرأ الآيات آليا</a:t>
            </a:r>
          </a:p>
          <a:p>
            <a:pPr algn="ctr" rtl="1">
              <a:spcBef>
                <a:spcPts val="200"/>
              </a:spcBef>
            </a:pPr>
            <a:r>
              <a:rPr lang="ar-SA" sz="1800" b="0">
                <a:solidFill>
                  <a:srgbClr val="8E99CC"/>
                </a:solidFill>
                <a:latin typeface="Readex Pro"/>
                <a:ea typeface="Readex Pro"/>
                <a:cs typeface="Readex Pro"/>
                <a:sym typeface="Readex Pro"/>
              </a:rPr>
              <a:t>ElevenLabs Flash</a:t>
            </a:r>
          </a:p>
        </p:txBody>
      </p:sp>
      <p:sp>
        <p:nvSpPr>
          <p:cNvPr id="565" name="Rounded Rectangle 564"/>
          <p:cNvSpPr/>
          <p:nvPr/>
        </p:nvSpPr>
        <p:spPr>
          <a:xfrm>
            <a:off x="10913364" y="6400800"/>
            <a:ext cx="5929884" cy="1828800"/>
          </a:xfrm>
          <a:prstGeom prst="roundRect">
            <a:avLst>
              <a:gd name="adj" fmla="val 8000"/>
            </a:avLst>
          </a:prstGeom>
          <a:solidFill>
            <a:srgbClr val="FFFFFF">
              <a:alpha val="5000"/>
            </a:srgbClr>
          </a:solidFill>
          <a:ln w="12700">
            <a:solidFill>
              <a:srgbClr val="2EF2C2">
                <a:alpha val="25000"/>
              </a:srgbClr>
            </a:solidFill>
          </a:ln>
        </p:spPr>
        <p:txBody>
          <a:bodyPr rtlCol="0" anchor="ctr"/>
          <a:lstStyle/>
          <a:p>
            <a:endParaRPr/>
          </a:p>
        </p:txBody>
      </p:sp>
      <p:sp>
        <p:nvSpPr>
          <p:cNvPr id="566" name="TextBox 565"/>
          <p:cNvSpPr txBox="1"/>
          <p:nvPr/>
        </p:nvSpPr>
        <p:spPr>
          <a:xfrm>
            <a:off x="11023092" y="6492240"/>
            <a:ext cx="5710428" cy="1645920"/>
          </a:xfrm>
          <a:prstGeom prst="rect">
            <a:avLst/>
          </a:prstGeom>
          <a:noFill/>
        </p:spPr>
        <p:txBody>
          <a:bodyPr wrap="square" lIns="0" tIns="0" rIns="0" bIns="0" anchor="ctr">
            <a:spAutoFit/>
          </a:bodyPr>
          <a:lstStyle/>
          <a:p>
            <a:pPr algn="ctr" rtl="1">
              <a:spcBef>
                <a:spcPts val="200"/>
              </a:spcBef>
            </a:pPr>
            <a:r>
              <a:rPr lang="ar-SA" sz="2100" b="1">
                <a:solidFill>
                  <a:srgbClr val="F2F4FF"/>
                </a:solidFill>
                <a:latin typeface="Readex Pro"/>
                <a:ea typeface="Readex Pro"/>
                <a:cs typeface="Readex Pro"/>
                <a:sym typeface="Readex Pro"/>
              </a:rPr>
              <a:t>تطبيق الطفل</a:t>
            </a:r>
          </a:p>
          <a:p>
            <a:pPr algn="ctr" rtl="1">
              <a:spcBef>
                <a:spcPts val="200"/>
              </a:spcBef>
            </a:pPr>
            <a:r>
              <a:rPr lang="ar-SA" sz="1800" b="0">
                <a:solidFill>
                  <a:srgbClr val="CBCFE6"/>
                </a:solidFill>
                <a:latin typeface="Readex Pro"/>
                <a:ea typeface="Readex Pro"/>
                <a:cs typeface="Readex Pro"/>
                <a:sym typeface="Readex Pro"/>
              </a:rPr>
              <a:t>شخصية بمزامنة الشفاه، وبطاقة المصدر، وتلاوة مسجلة</a:t>
            </a:r>
          </a:p>
          <a:p>
            <a:pPr algn="ctr" rtl="1">
              <a:spcBef>
                <a:spcPts val="200"/>
              </a:spcBef>
            </a:pPr>
            <a:r>
              <a:rPr lang="ar-SA" sz="1800" b="0">
                <a:solidFill>
                  <a:srgbClr val="8E99CC"/>
                </a:solidFill>
                <a:latin typeface="Readex Pro"/>
                <a:ea typeface="Readex Pro"/>
                <a:cs typeface="Readex Pro"/>
                <a:sym typeface="Readex Pro"/>
              </a:rPr>
              <a:t>React Three Fiber · everyayah</a:t>
            </a:r>
          </a:p>
        </p:txBody>
      </p:sp>
      <p:sp>
        <p:nvSpPr>
          <p:cNvPr id="567" name="Rounded Rectangle 566"/>
          <p:cNvSpPr/>
          <p:nvPr/>
        </p:nvSpPr>
        <p:spPr>
          <a:xfrm>
            <a:off x="7744968" y="6400800"/>
            <a:ext cx="2761488" cy="1828800"/>
          </a:xfrm>
          <a:prstGeom prst="roundRect">
            <a:avLst>
              <a:gd name="adj" fmla="val 8000"/>
            </a:avLst>
          </a:prstGeom>
          <a:solidFill>
            <a:srgbClr val="2EF2C2">
              <a:alpha val="10000"/>
            </a:srgbClr>
          </a:solidFill>
          <a:ln w="25400">
            <a:solidFill>
              <a:srgbClr val="2EF2C2">
                <a:alpha val="100000"/>
              </a:srgbClr>
            </a:solidFill>
          </a:ln>
        </p:spPr>
        <p:txBody>
          <a:bodyPr rtlCol="0" anchor="ctr"/>
          <a:lstStyle/>
          <a:p>
            <a:endParaRPr/>
          </a:p>
        </p:txBody>
      </p:sp>
      <p:sp>
        <p:nvSpPr>
          <p:cNvPr id="568" name="TextBox 567"/>
          <p:cNvSpPr txBox="1"/>
          <p:nvPr/>
        </p:nvSpPr>
        <p:spPr>
          <a:xfrm>
            <a:off x="7854696" y="6492240"/>
            <a:ext cx="2542032" cy="1645920"/>
          </a:xfrm>
          <a:prstGeom prst="rect">
            <a:avLst/>
          </a:prstGeom>
          <a:noFill/>
        </p:spPr>
        <p:txBody>
          <a:bodyPr wrap="square" lIns="0" tIns="0" rIns="0" bIns="0" anchor="ctr">
            <a:spAutoFit/>
          </a:bodyPr>
          <a:lstStyle/>
          <a:p>
            <a:pPr algn="ctr" rtl="1">
              <a:spcBef>
                <a:spcPts val="200"/>
              </a:spcBef>
            </a:pPr>
            <a:r>
              <a:rPr lang="ar-SA" sz="2100" b="1">
                <a:solidFill>
                  <a:srgbClr val="2EF2C2"/>
                </a:solidFill>
                <a:latin typeface="Readex Pro"/>
                <a:ea typeface="Readex Pro"/>
                <a:cs typeface="Readex Pro"/>
                <a:sym typeface="Readex Pro"/>
              </a:rPr>
              <a:t>البنك المراجع</a:t>
            </a:r>
          </a:p>
          <a:p>
            <a:pPr algn="ctr" rtl="1">
              <a:spcBef>
                <a:spcPts val="200"/>
              </a:spcBef>
            </a:pPr>
            <a:r>
              <a:rPr lang="ar-SA" sz="1800" b="0">
                <a:solidFill>
                  <a:srgbClr val="CBCFE6"/>
                </a:solidFill>
                <a:latin typeface="Readex Pro"/>
                <a:ea typeface="Readex Pro"/>
                <a:cs typeface="Readex Pro"/>
                <a:sym typeface="Readex Pro"/>
              </a:rPr>
              <a:t>273 عنصرا و38 قيمة</a:t>
            </a:r>
          </a:p>
          <a:p>
            <a:pPr algn="ctr" rtl="1">
              <a:spcBef>
                <a:spcPts val="200"/>
              </a:spcBef>
            </a:pPr>
            <a:r>
              <a:rPr lang="ar-SA" sz="1800" b="0">
                <a:solidFill>
                  <a:srgbClr val="8E99CC"/>
                </a:solidFill>
                <a:latin typeface="Readex Pro"/>
                <a:ea typeface="Readex Pro"/>
                <a:cs typeface="Readex Pro"/>
                <a:sym typeface="Readex Pro"/>
              </a:rPr>
              <a:t>PostgreSQL</a:t>
            </a:r>
          </a:p>
        </p:txBody>
      </p:sp>
      <p:sp>
        <p:nvSpPr>
          <p:cNvPr id="569" name="Up-Down Arrow 568"/>
          <p:cNvSpPr/>
          <p:nvPr/>
        </p:nvSpPr>
        <p:spPr>
          <a:xfrm>
            <a:off x="8942832" y="5650992"/>
            <a:ext cx="365760" cy="676656"/>
          </a:xfrm>
          <a:prstGeom prst="upDownArrow">
            <a:avLst/>
          </a:prstGeom>
          <a:solidFill>
            <a:srgbClr val="2EF2C2">
              <a:alpha val="80000"/>
            </a:srgbClr>
          </a:solidFill>
          <a:ln w="12700">
            <a:noFill/>
          </a:ln>
        </p:spPr>
        <p:txBody>
          <a:bodyPr rtlCol="0" anchor="ctr"/>
          <a:lstStyle/>
          <a:p>
            <a:pPr algn="ctr"/>
            <a:endParaRPr/>
          </a:p>
        </p:txBody>
      </p:sp>
      <p:sp>
        <p:nvSpPr>
          <p:cNvPr id="570" name="TextBox 569"/>
          <p:cNvSpPr txBox="1"/>
          <p:nvPr/>
        </p:nvSpPr>
        <p:spPr>
          <a:xfrm>
            <a:off x="9400032" y="5760720"/>
            <a:ext cx="3291840" cy="45720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استرجاع في نحو ميلي ثانية</a:t>
            </a:r>
          </a:p>
        </p:txBody>
      </p:sp>
      <p:sp>
        <p:nvSpPr>
          <p:cNvPr id="571" name="Rounded Rectangle 570"/>
          <p:cNvSpPr/>
          <p:nvPr/>
        </p:nvSpPr>
        <p:spPr>
          <a:xfrm>
            <a:off x="1408176" y="6400800"/>
            <a:ext cx="5929884" cy="1828800"/>
          </a:xfrm>
          <a:prstGeom prst="roundRect">
            <a:avLst>
              <a:gd name="adj" fmla="val 8000"/>
            </a:avLst>
          </a:prstGeom>
          <a:solidFill>
            <a:srgbClr val="FFFFFF">
              <a:alpha val="5000"/>
            </a:srgbClr>
          </a:solidFill>
          <a:ln w="12700">
            <a:solidFill>
              <a:srgbClr val="2EF2C2">
                <a:alpha val="25000"/>
              </a:srgbClr>
            </a:solidFill>
          </a:ln>
        </p:spPr>
        <p:txBody>
          <a:bodyPr rtlCol="0" anchor="ctr"/>
          <a:lstStyle/>
          <a:p>
            <a:endParaRPr/>
          </a:p>
        </p:txBody>
      </p:sp>
      <p:sp>
        <p:nvSpPr>
          <p:cNvPr id="572" name="TextBox 571"/>
          <p:cNvSpPr txBox="1"/>
          <p:nvPr/>
        </p:nvSpPr>
        <p:spPr>
          <a:xfrm>
            <a:off x="1517904" y="6492240"/>
            <a:ext cx="5710428" cy="1645920"/>
          </a:xfrm>
          <a:prstGeom prst="rect">
            <a:avLst/>
          </a:prstGeom>
          <a:noFill/>
        </p:spPr>
        <p:txBody>
          <a:bodyPr wrap="square" lIns="0" tIns="0" rIns="0" bIns="0" anchor="ctr">
            <a:spAutoFit/>
          </a:bodyPr>
          <a:lstStyle/>
          <a:p>
            <a:pPr algn="ctr" rtl="1">
              <a:spcBef>
                <a:spcPts val="200"/>
              </a:spcBef>
            </a:pPr>
            <a:r>
              <a:rPr lang="ar-SA" sz="2100" b="1">
                <a:solidFill>
                  <a:srgbClr val="F2F4FF"/>
                </a:solidFill>
                <a:latin typeface="Readex Pro"/>
                <a:ea typeface="Readex Pro"/>
                <a:cs typeface="Readex Pro"/>
                <a:sym typeface="Readex Pro"/>
              </a:rPr>
              <a:t>لوحة الوالدين</a:t>
            </a:r>
          </a:p>
          <a:p>
            <a:pPr algn="ctr" rtl="1">
              <a:spcBef>
                <a:spcPts val="200"/>
              </a:spcBef>
            </a:pPr>
            <a:r>
              <a:rPr lang="ar-SA" sz="1800" b="0">
                <a:solidFill>
                  <a:srgbClr val="CBCFE6"/>
                </a:solidFill>
                <a:latin typeface="Readex Pro"/>
                <a:ea typeface="Readex Pro"/>
                <a:cs typeface="Readex Pro"/>
                <a:sym typeface="Readex Pro"/>
              </a:rPr>
              <a:t>سجل المصادر التي خدمها البنك فعلا، لا ما يقوله النموذج</a:t>
            </a:r>
          </a:p>
          <a:p>
            <a:pPr algn="ctr" rtl="1">
              <a:spcBef>
                <a:spcPts val="200"/>
              </a:spcBef>
            </a:pPr>
            <a:r>
              <a:rPr lang="ar-SA" sz="1800" b="0">
                <a:solidFill>
                  <a:srgbClr val="8E99CC"/>
                </a:solidFill>
                <a:latin typeface="Readex Pro"/>
                <a:ea typeface="Readex Pro"/>
                <a:cs typeface="Readex Pro"/>
                <a:sym typeface="Readex Pro"/>
              </a:rPr>
              <a:t>Django · sources_used</a:t>
            </a:r>
          </a:p>
        </p:txBody>
      </p:sp>
      <p:sp>
        <p:nvSpPr>
          <p:cNvPr id="573" name="TextBox 572"/>
          <p:cNvSpPr txBox="1"/>
          <p:nvPr/>
        </p:nvSpPr>
        <p:spPr>
          <a:xfrm>
            <a:off x="1408176" y="8503920"/>
            <a:ext cx="15435072" cy="54864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المصدر: الشيفرة المدمجة في فرع hackathon عند 735c95a · زمن الاسترجاع من build-progress.md في 5 أكتوبر 2026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637" name="Google Shape;637;p1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639" name="Google Shape;639;p17"/>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مصادر موثوقة</a:t>
            </a:r>
          </a:p>
        </p:txBody>
      </p:sp>
      <p:sp>
        <p:nvSpPr>
          <p:cNvPr id="640" name="Google Shape;640;p17"/>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بنك المحتوى: مصدر معتمد لكل عنصر</a:t>
            </a:r>
          </a:p>
        </p:txBody>
      </p:sp>
      <p:sp>
        <p:nvSpPr>
          <p:cNvPr id="641" name="Google Shape;641;p17"/>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273 عنصرا كلها مراجعة ومرتبطة بـ38 قيمة، ولكل عنصر مصدره ورابطه</a:t>
            </a:r>
          </a:p>
        </p:txBody>
      </p:sp>
      <p:sp>
        <p:nvSpPr>
          <p:cNvPr id="642" name="Google Shape;642;p1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27</a:t>
            </a:fld>
            <a:endParaRPr/>
          </a:p>
        </p:txBody>
      </p:sp>
      <p:graphicFrame>
        <p:nvGraphicFramePr>
          <p:cNvPr id="643" name="Google Shape;643;p17"/>
          <p:cNvGraphicFramePr/>
          <p:nvPr/>
        </p:nvGraphicFramePr>
        <p:xfrm>
          <a:off x="1408176" y="3703320"/>
          <a:ext cx="15435072" cy="4279392"/>
        </p:xfrm>
        <a:graphic>
          <a:graphicData uri="http://schemas.openxmlformats.org/drawingml/2006/table">
            <a:tbl>
              <a:tblPr>
                <a:noFill/>
                <a:tableStyleId>{B8ED9858-D163-4338-9E88-1F424354888F}</a:tableStyleId>
              </a:tblPr>
              <a:tblGrid>
                <a:gridCol w="4206240">
                  <a:extLst>
                    <a:ext uri="{9D8B030D-6E8A-4147-A177-3AD203B41FA5}">
                      <a16:colId xmlns:a16="http://schemas.microsoft.com/office/drawing/2014/main" val="20000"/>
                    </a:ext>
                  </a:extLst>
                </a:gridCol>
                <a:gridCol w="6108192">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713232">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التحقق</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المصدر المعتمد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العدد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النوع</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extLst>
                  <a:ext uri="{0D108BD9-81ED-4DB2-BD59-A6C34878D82A}">
                    <a16:rowId xmlns:a16="http://schemas.microsoft.com/office/drawing/2014/main" val="10000"/>
                  </a:ext>
                </a:extLst>
              </a:tr>
              <a:tr h="713232">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نص منسوخ آليا ومثبت ببصمة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مجمع الملك فهد عبر Quranpedia، والتلاوة من everyayah</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74</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آيات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1"/>
                  </a:ext>
                </a:extLst>
              </a:tr>
              <a:tr h="713232">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رابط الدرر، والإنجليزية لـ42 منها من HadeethEnc</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الدرر السنية: البخاري 60 ومسلم 34، كلها صحيحة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94</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أحاديث</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2"/>
                  </a:ext>
                </a:extLst>
              </a:tr>
              <a:tr h="713232">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نسخ من الصفحة مع تحقق ببصمة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معجم الجمهرة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32</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مصطلحات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3"/>
                  </a:ext>
                </a:extLst>
              </a:tr>
              <a:tr h="713232">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رقم السؤال والصفحة والرابط</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كتاب بينات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23</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أسئلة شائعة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713232">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روجعت عنصرا عنصرا</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موسوعات الدرر السنية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50</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تفسير وعقيدة وفقه وسيرة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5"/>
                  </a:ext>
                </a:extLst>
              </a:tr>
            </a:tbl>
          </a:graphicData>
        </a:graphic>
      </p:graphicFrame>
      <p:sp>
        <p:nvSpPr>
          <p:cNvPr id="644" name="Google Shape;644;p17"/>
          <p:cNvSpPr txBox="1">
            <a:spLocks noGrp="1"/>
          </p:cNvSpPr>
          <p:nvPr>
            <p:ph type="body" idx="3"/>
          </p:nvPr>
        </p:nvSpPr>
        <p:spPr>
          <a:xfrm>
            <a:off x="1409700" y="8229600"/>
            <a:ext cx="15430500" cy="82296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المصدر: README القسم 2.3 وbank-counts.md · البنك عند 735c95a لم يتغير منذ 8c2ff0d، وseed_content يطبع: reviewed 273, rejected 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9" name="Google Shape;709;p20" title="خلفية هكثون5.png"/>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710" name="Google Shape;710;p20"/>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6150EA"/>
                </a:solidFill>
                <a:latin typeface="Readex Pro"/>
                <a:ea typeface="Readex Pro"/>
                <a:cs typeface="Readex Pro"/>
                <a:sym typeface="Readex Pro"/>
              </a:rPr>
              <a:t>ملحق · آلية العمل</a:t>
            </a:r>
          </a:p>
        </p:txBody>
      </p:sp>
      <p:sp>
        <p:nvSpPr>
          <p:cNvPr id="711" name="Google Shape;711;p20"/>
          <p:cNvSpPr txBox="1">
            <a:spLocks noGrp="1"/>
          </p:cNvSpPr>
          <p:nvPr>
            <p:ph type="title"/>
          </p:nvPr>
        </p:nvSpPr>
        <p:spPr>
          <a:xfrm>
            <a:off x="6637950" y="1809750"/>
            <a:ext cx="102024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12183F"/>
                </a:solidFill>
                <a:latin typeface="Readex Pro"/>
                <a:ea typeface="Readex Pro"/>
                <a:cs typeface="Readex Pro"/>
                <a:sym typeface="Readex Pro"/>
              </a:rPr>
              <a:t>منهج المحتوى والسلامة</a:t>
            </a:r>
          </a:p>
        </p:txBody>
      </p:sp>
      <p:sp>
        <p:nvSpPr>
          <p:cNvPr id="712" name="Google Shape;712;p20"/>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4A5590"/>
                </a:solidFill>
                <a:latin typeface="Readex Pro"/>
                <a:ea typeface="Readex Pro"/>
                <a:cs typeface="Readex Pro"/>
                <a:sym typeface="Readex Pro"/>
              </a:rPr>
              <a:t>قواعد ثابتة تطبقها سياسة الدور في كل رد، صوتا وكتابة</a:t>
            </a:r>
          </a:p>
        </p:txBody>
      </p:sp>
      <p:sp>
        <p:nvSpPr>
          <p:cNvPr id="713" name="Google Shape;713;p2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28</a:t>
            </a:fld>
            <a:endParaRPr/>
          </a:p>
        </p:txBody>
      </p:sp>
      <p:sp>
        <p:nvSpPr>
          <p:cNvPr id="714" name="Google Shape;714;p20"/>
          <p:cNvSpPr txBox="1">
            <a:spLocks noGrp="1"/>
          </p:cNvSpPr>
          <p:nvPr>
            <p:ph type="body" idx="3"/>
          </p:nvPr>
        </p:nvSpPr>
        <p:spPr>
          <a:xfrm>
            <a:off x="9505950" y="3952875"/>
            <a:ext cx="73344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12183F"/>
                </a:solidFill>
                <a:latin typeface="Readex Pro"/>
                <a:ea typeface="Readex Pro"/>
                <a:cs typeface="Readex Pro"/>
                <a:sym typeface="Readex Pro"/>
              </a:rPr>
              <a:t>الرجاء أولا</a:t>
            </a:r>
          </a:p>
        </p:txBody>
      </p:sp>
      <p:sp>
        <p:nvSpPr>
          <p:cNvPr id="715" name="Google Shape;715;p20"/>
          <p:cNvSpPr txBox="1">
            <a:spLocks noGrp="1"/>
          </p:cNvSpPr>
          <p:nvPr>
            <p:ph type="body" idx="4"/>
          </p:nvPr>
        </p:nvSpPr>
        <p:spPr>
          <a:xfrm>
            <a:off x="9505950" y="4657725"/>
            <a:ext cx="73344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4A5590"/>
                </a:solidFill>
                <a:latin typeface="Readex Pro"/>
                <a:ea typeface="Readex Pro"/>
                <a:cs typeface="Readex Pro"/>
                <a:sym typeface="Readex Pro"/>
              </a:rPr>
              <a:t>نبدأ برحمة الله ومحبته قبل الوعيد، بقرار من القائد بعد استشارة عالم</a:t>
            </a:r>
          </a:p>
        </p:txBody>
      </p:sp>
      <p:sp>
        <p:nvSpPr>
          <p:cNvPr id="716" name="Google Shape;716;p20"/>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12183F"/>
                </a:solidFill>
                <a:latin typeface="Readex Pro"/>
                <a:ea typeface="Readex Pro"/>
                <a:cs typeface="Readex Pro"/>
                <a:sym typeface="Readex Pro"/>
              </a:rPr>
              <a:t>لا فتاوى</a:t>
            </a:r>
          </a:p>
        </p:txBody>
      </p:sp>
      <p:sp>
        <p:nvSpPr>
          <p:cNvPr id="717" name="Google Shape;717;p20"/>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4A5590"/>
                </a:solidFill>
                <a:latin typeface="Readex Pro"/>
                <a:ea typeface="Readex Pro"/>
                <a:cs typeface="Readex Pro"/>
                <a:sym typeface="Readex Pro"/>
              </a:rPr>
              <a:t>المسائل الشخصية في الفقه تحال إلى الوالدين أو عالم، ولا يصدر الصديق حكما</a:t>
            </a:r>
          </a:p>
        </p:txBody>
      </p:sp>
      <p:sp>
        <p:nvSpPr>
          <p:cNvPr id="718" name="Google Shape;718;p20"/>
          <p:cNvSpPr txBox="1">
            <a:spLocks noGrp="1"/>
          </p:cNvSpPr>
          <p:nvPr>
            <p:ph type="body" idx="7"/>
          </p:nvPr>
        </p:nvSpPr>
        <p:spPr>
          <a:xfrm>
            <a:off x="9505950" y="6619875"/>
            <a:ext cx="73344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12183F"/>
                </a:solidFill>
                <a:latin typeface="Readex Pro"/>
                <a:ea typeface="Readex Pro"/>
                <a:cs typeface="Readex Pro"/>
                <a:sym typeface="Readex Pro"/>
              </a:rPr>
              <a:t>العقيدة والخلاف</a:t>
            </a:r>
          </a:p>
        </p:txBody>
      </p:sp>
      <p:sp>
        <p:nvSpPr>
          <p:cNvPr id="719" name="Google Shape;719;p20"/>
          <p:cNvSpPr txBox="1">
            <a:spLocks noGrp="1"/>
          </p:cNvSpPr>
          <p:nvPr>
            <p:ph type="body" idx="8"/>
          </p:nvPr>
        </p:nvSpPr>
        <p:spPr>
          <a:xfrm>
            <a:off x="9505950" y="7324725"/>
            <a:ext cx="73344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4A5590"/>
                </a:solidFill>
                <a:latin typeface="Readex Pro"/>
                <a:ea typeface="Readex Pro"/>
                <a:cs typeface="Readex Pro"/>
                <a:sym typeface="Readex Pro"/>
              </a:rPr>
              <a:t>مسائل العقيدة الحساسة تحال، وفي مسائل الخلاف يذكر المتفق عليه فقط</a:t>
            </a:r>
          </a:p>
        </p:txBody>
      </p:sp>
      <p:sp>
        <p:nvSpPr>
          <p:cNvPr id="720" name="Google Shape;720;p20"/>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12183F"/>
                </a:solidFill>
                <a:latin typeface="Readex Pro"/>
                <a:ea typeface="Readex Pro"/>
                <a:cs typeface="Readex Pro"/>
                <a:sym typeface="Readex Pro"/>
              </a:rPr>
              <a:t>الطمأنة والأمان</a:t>
            </a:r>
          </a:p>
        </p:txBody>
      </p:sp>
      <p:sp>
        <p:nvSpPr>
          <p:cNvPr id="721" name="Google Shape;721;p20"/>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4A5590"/>
                </a:solidFill>
                <a:latin typeface="Readex Pro"/>
                <a:ea typeface="Readex Pro"/>
                <a:cs typeface="Readex Pro"/>
                <a:sym typeface="Readex Pro"/>
              </a:rPr>
              <a:t>الحزن والقلق يقابلهما بالطمأنة، والخطر يحوله إلى بالغ موثوق</a:t>
            </a:r>
          </a:p>
        </p:txBody>
      </p:sp>
      <p:pic>
        <p:nvPicPr>
          <p:cNvPr id="722" name="Google Shape;722;p20" title="شعار تحدي الذكاء.png"/>
          <p:cNvPicPr preferRelativeResize="0"/>
          <p:nvPr/>
        </p:nvPicPr>
        <p:blipFill>
          <a:blip r:embed="rId3">
            <a:alphaModFix/>
          </a:blip>
          <a:stretch>
            <a:fillRect/>
          </a:stretch>
        </p:blipFill>
        <p:spPr>
          <a:xfrm>
            <a:off x="1015225" y="572270"/>
            <a:ext cx="3490299" cy="1109450"/>
          </a:xfrm>
          <a:prstGeom prst="rect">
            <a:avLst/>
          </a:prstGeom>
          <a:noFill/>
          <a:ln>
            <a:noFill/>
          </a:ln>
        </p:spPr>
      </p:pic>
      <p:sp>
        <p:nvSpPr>
          <p:cNvPr id="723" name="TextBox 722"/>
          <p:cNvSpPr txBox="1"/>
          <p:nvPr/>
        </p:nvSpPr>
        <p:spPr>
          <a:xfrm>
            <a:off x="1408176" y="8732520"/>
            <a:ext cx="15435072" cy="548640"/>
          </a:xfrm>
          <a:prstGeom prst="rect">
            <a:avLst/>
          </a:prstGeom>
          <a:noFill/>
        </p:spPr>
        <p:txBody>
          <a:bodyPr wrap="square" lIns="0" tIns="0" rIns="0" bIns="0" anchor="t">
            <a:spAutoFit/>
          </a:bodyPr>
          <a:lstStyle/>
          <a:p>
            <a:pPr algn="r" rtl="1"/>
            <a:r>
              <a:rPr lang="ar-SA" sz="1800" b="0">
                <a:solidFill>
                  <a:srgbClr val="4A5590"/>
                </a:solidFill>
                <a:latin typeface="Readex Pro"/>
                <a:ea typeface="Readex Pro"/>
                <a:cs typeface="Readex Pro"/>
                <a:sym typeface="Readex Pro"/>
              </a:rPr>
              <a:t>المصدر: قرارات القائد في build-progress.md · PR #53 وPR #56 · turn_rules.json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7" name="Google Shape;817;p24" title="خلفية هكثون4.png"/>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818" name="Google Shape;818;p24"/>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التشغيل</a:t>
            </a:r>
          </a:p>
        </p:txBody>
      </p:sp>
      <p:sp>
        <p:nvSpPr>
          <p:cNvPr id="819" name="Google Shape;819;p24"/>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سير مراجعة المحتوى</a:t>
            </a:r>
          </a:p>
        </p:txBody>
      </p:sp>
      <p:sp>
        <p:nvSpPr>
          <p:cNvPr id="820" name="Google Shape;820;p24"/>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لا يصل إلى الطفل إلا عنصر راجعه إنسان، وأي تعديل على نصه يبطل المراجعة</a:t>
            </a:r>
          </a:p>
        </p:txBody>
      </p:sp>
      <p:sp>
        <p:nvSpPr>
          <p:cNvPr id="821" name="Google Shape;821;p2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29</a:t>
            </a:fld>
            <a:endParaRPr/>
          </a:p>
        </p:txBody>
      </p:sp>
      <p:sp>
        <p:nvSpPr>
          <p:cNvPr id="822" name="Google Shape;822;p24"/>
          <p:cNvSpPr/>
          <p:nvPr/>
        </p:nvSpPr>
        <p:spPr>
          <a:xfrm>
            <a:off x="137160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502920" rIns="78400" bIns="78400" anchor="t" anchorCtr="0">
            <a:noAutofit/>
          </a:bodyPr>
          <a:lstStyle/>
          <a:p>
            <a:pPr marL="0" marR="238670" lvl="0" indent="0" algn="r" rtl="0">
              <a:spcBef>
                <a:spcPts val="0"/>
              </a:spcBef>
              <a:spcAft>
                <a:spcPts val="0"/>
              </a:spcAft>
              <a:buNone/>
            </a:pPr>
            <a:r>
              <a:rPr lang="ar-SA" sz="3600" b="1">
                <a:solidFill>
                  <a:srgbClr val="2EF2C2"/>
                </a:solidFill>
                <a:latin typeface="Readex Pro"/>
                <a:ea typeface="Readex Pro"/>
                <a:cs typeface="Readex Pro"/>
                <a:sym typeface="Readex Pro"/>
              </a:rPr>
              <a:t>01</a:t>
            </a: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النسخ من المصدر</a:t>
            </a: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آليا من صفحة المصدر</a:t>
            </a: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مع تحقق بالبصمة</a:t>
            </a:r>
          </a:p>
        </p:txBody>
      </p:sp>
      <p:sp>
        <p:nvSpPr>
          <p:cNvPr id="823" name="Google Shape;823;p24"/>
          <p:cNvSpPr/>
          <p:nvPr/>
        </p:nvSpPr>
        <p:spPr>
          <a:xfrm>
            <a:off x="97155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502920" rIns="78400" bIns="78400" anchor="t" anchorCtr="0">
            <a:noAutofit/>
          </a:bodyPr>
          <a:lstStyle/>
          <a:p>
            <a:pPr marL="0" marR="223307" lvl="0" indent="0" algn="r" rtl="0">
              <a:spcBef>
                <a:spcPts val="0"/>
              </a:spcBef>
              <a:spcAft>
                <a:spcPts val="0"/>
              </a:spcAft>
              <a:buNone/>
            </a:pPr>
            <a:r>
              <a:rPr lang="ar-SA" sz="3600" b="1">
                <a:solidFill>
                  <a:srgbClr val="2EF2C2"/>
                </a:solidFill>
                <a:latin typeface="Readex Pro"/>
                <a:ea typeface="Readex Pro"/>
                <a:cs typeface="Readex Pro"/>
                <a:sym typeface="Readex Pro"/>
              </a:rPr>
              <a:t>02</a:t>
            </a: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مسودة للمراجعة</a:t>
            </a: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شرح للطفل بلغتين</a:t>
            </a: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لعمر 6 إلى 9 و10 إلى 13</a:t>
            </a:r>
          </a:p>
        </p:txBody>
      </p:sp>
      <p:sp>
        <p:nvSpPr>
          <p:cNvPr id="824" name="Google Shape;824;p24"/>
          <p:cNvSpPr/>
          <p:nvPr/>
        </p:nvSpPr>
        <p:spPr>
          <a:xfrm>
            <a:off x="57150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502920" rIns="78400" bIns="78400" anchor="t" anchorCtr="0">
            <a:noAutofit/>
          </a:bodyPr>
          <a:lstStyle/>
          <a:p>
            <a:pPr marL="0" marR="238125" lvl="0" indent="0" algn="r" rtl="0">
              <a:spcBef>
                <a:spcPts val="0"/>
              </a:spcBef>
              <a:spcAft>
                <a:spcPts val="0"/>
              </a:spcAft>
              <a:buNone/>
            </a:pPr>
            <a:r>
              <a:rPr lang="ar-SA" sz="3600" b="1">
                <a:solidFill>
                  <a:srgbClr val="2EF2C2"/>
                </a:solidFill>
                <a:latin typeface="Readex Pro"/>
                <a:ea typeface="Readex Pro"/>
                <a:cs typeface="Readex Pro"/>
                <a:sym typeface="Readex Pro"/>
              </a:rPr>
              <a:t>03</a:t>
            </a: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مراجعة بشرية</a:t>
            </a: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يوقعها مراجع مسمى</a:t>
            </a: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وتسجل ببصمة العنصر</a:t>
            </a:r>
          </a:p>
        </p:txBody>
      </p:sp>
      <p:sp>
        <p:nvSpPr>
          <p:cNvPr id="825" name="Google Shape;825;p24"/>
          <p:cNvSpPr/>
          <p:nvPr/>
        </p:nvSpPr>
        <p:spPr>
          <a:xfrm>
            <a:off x="17145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502920" rIns="78400" bIns="78400" anchor="t" anchorCtr="0">
            <a:noAutofit/>
          </a:bodyPr>
          <a:lstStyle/>
          <a:p>
            <a:pPr marL="0" marR="223307" lvl="0" indent="0" algn="r" rtl="0">
              <a:spcBef>
                <a:spcPts val="0"/>
              </a:spcBef>
              <a:spcAft>
                <a:spcPts val="0"/>
              </a:spcAft>
              <a:buNone/>
            </a:pPr>
            <a:r>
              <a:rPr lang="ar-SA" sz="3600" b="1">
                <a:solidFill>
                  <a:srgbClr val="2EF2C2"/>
                </a:solidFill>
                <a:latin typeface="Readex Pro"/>
                <a:ea typeface="Readex Pro"/>
                <a:cs typeface="Readex Pro"/>
                <a:sym typeface="Readex Pro"/>
              </a:rPr>
              <a:t>04</a:t>
            </a: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الخدمة للطفل</a:t>
            </a: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لا يخدم إلا المراجع</a:t>
            </a: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وتعديل النص يبطلها</a:t>
            </a:r>
          </a:p>
        </p:txBody>
      </p:sp>
      <p:pic>
        <p:nvPicPr>
          <p:cNvPr id="826" name="Google Shape;826;p24"/>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827" name="TextBox 826"/>
          <p:cNvSpPr txBox="1"/>
          <p:nvPr/>
        </p:nvSpPr>
        <p:spPr>
          <a:xfrm>
            <a:off x="1408176" y="8412480"/>
            <a:ext cx="15435072" cy="54864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المراجعون: عبدالرحمن سلامة، وعبدالرحمن محملجي لأقسام الدرر · المصدر: build-progress.md وdeliverables/sources.md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86" name="Google Shape;586;p14"/>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88" name="Google Shape;588;p14"/>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589" name="Google Shape;589;p14"/>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النموذج الأولي</a:t>
            </a:r>
          </a:p>
        </p:txBody>
      </p:sp>
      <p:sp>
        <p:nvSpPr>
          <p:cNvPr id="590" name="Google Shape;590;p14"/>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شخصية تسمع وتفكر وتتكلم</a:t>
            </a:r>
          </a:p>
        </p:txBody>
      </p:sp>
      <p:sp>
        <p:nvSpPr>
          <p:cNvPr id="591" name="Google Shape;591;p1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30</a:t>
            </a:fld>
            <a:endParaRPr/>
          </a:p>
        </p:txBody>
      </p:sp>
      <p:sp>
        <p:nvSpPr>
          <p:cNvPr id="593" name="Google Shape;593;p14"/>
          <p:cNvSpPr txBox="1">
            <a:spLocks noGrp="1"/>
          </p:cNvSpPr>
          <p:nvPr>
            <p:ph type="body" idx="3"/>
          </p:nvPr>
        </p:nvSpPr>
        <p:spPr>
          <a:xfrm>
            <a:off x="9696450" y="3905250"/>
            <a:ext cx="7143900" cy="800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3450"/>
              <a:buNone/>
            </a:pPr>
            <a:r>
              <a:rPr lang="ar-SA" sz="3450" b="1">
                <a:solidFill>
                  <a:srgbClr val="2EF2C2"/>
                </a:solidFill>
                <a:latin typeface="Readex Pro"/>
                <a:ea typeface="Readex Pro"/>
                <a:cs typeface="Readex Pro"/>
                <a:sym typeface="Readex Pro"/>
              </a:rPr>
              <a:t>مزامنة الشفاه مع الصوت الحقيقي</a:t>
            </a:r>
          </a:p>
        </p:txBody>
      </p:sp>
      <p:sp>
        <p:nvSpPr>
          <p:cNvPr id="594" name="Google Shape;594;p14"/>
          <p:cNvSpPr txBox="1">
            <a:spLocks noGrp="1"/>
          </p:cNvSpPr>
          <p:nvPr>
            <p:ph type="body" idx="4"/>
          </p:nvPr>
        </p:nvSpPr>
        <p:spPr>
          <a:xfrm>
            <a:off x="9696450" y="5191125"/>
            <a:ext cx="7143900" cy="2032500"/>
          </a:xfrm>
          <a:prstGeom prst="rect">
            <a:avLst/>
          </a:prstGeom>
          <a:noFill/>
          <a:ln>
            <a:noFill/>
          </a:ln>
        </p:spPr>
        <p:txBody>
          <a:bodyPr spcFirstLastPara="1" wrap="square" lIns="0" tIns="0" rIns="0" bIns="0" anchor="t" anchorCtr="0">
            <a:noAutofit/>
          </a:bodyPr>
          <a:lstStyle/>
          <a:p>
            <a:pPr marL="0" lvl="0" indent="0" algn="r" rtl="1">
              <a:lnSpc>
                <a:spcPct val="115000"/>
              </a:lnSpc>
              <a:spcBef>
                <a:spcPts val="0"/>
              </a:spcBef>
              <a:spcAft>
                <a:spcPts val="0"/>
              </a:spcAft>
              <a:buSzPts val="2850"/>
              <a:buNone/>
            </a:pPr>
            <a:r>
              <a:rPr lang="ar-SA" sz="2850">
                <a:solidFill>
                  <a:srgbClr val="F2F4FF"/>
                </a:solidFill>
                <a:latin typeface="Readex Pro Light"/>
                <a:ea typeface="Readex Pro Light"/>
                <a:cs typeface="Readex Pro Light"/>
                <a:sym typeface="Readex Pro Light"/>
              </a:rPr>
              <a:t>يحلل المتصفح صوت الرد ليحرك الفم بأربعة عشر شكلا بالعربية والإنجليزية، وتتبدل الحالة بين الهدوء والإنصات والكلام</a:t>
            </a:r>
          </a:p>
        </p:txBody>
      </p:sp>
      <p:sp>
        <p:nvSpPr>
          <p:cNvPr id="595" name="Google Shape;595;p14"/>
          <p:cNvSpPr txBox="1">
            <a:spLocks noGrp="1"/>
          </p:cNvSpPr>
          <p:nvPr>
            <p:ph type="body" idx="5"/>
          </p:nvPr>
        </p:nvSpPr>
        <p:spPr>
          <a:xfrm>
            <a:off x="9696450" y="8048625"/>
            <a:ext cx="7143900" cy="743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950"/>
              <a:buNone/>
            </a:pPr>
            <a:r>
              <a:rPr lang="ar-SA" sz="1950" b="0">
                <a:solidFill>
                  <a:srgbClr val="CBCFE6"/>
                </a:solidFill>
                <a:latin typeface="Readex Pro"/>
                <a:ea typeface="Readex Pro"/>
                <a:cs typeface="Readex Pro"/>
                <a:sym typeface="Readex Pro"/>
              </a:rPr>
              <a:t>قبل التحدي كان الفك وحده يتحرك · 80 اختبارا للمزامنة</a:t>
            </a:r>
          </a:p>
          <a:p>
            <a:pPr marL="0" lvl="0" indent="0" algn="r" rtl="1">
              <a:lnSpc>
                <a:spcPct val="100000"/>
              </a:lnSpc>
              <a:spcBef>
                <a:spcPts val="0"/>
              </a:spcBef>
              <a:spcAft>
                <a:spcPts val="0"/>
              </a:spcAft>
              <a:buSzPts val="1950"/>
              <a:buNone/>
            </a:pPr>
            <a:r>
              <a:rPr lang="ar-SA" sz="1950" b="0">
                <a:solidFill>
                  <a:srgbClr val="CBCFE6"/>
                </a:solidFill>
                <a:latin typeface="Readex Pro"/>
                <a:ea typeface="Readex Pro"/>
                <a:cs typeface="Readex Pro"/>
                <a:sym typeface="Readex Pro"/>
              </a:rPr>
              <a:t>المصدر: handoffs/06-lipsync-ar.md وproduct-web.md</a:t>
            </a:r>
          </a:p>
          <a:p>
            <a:pPr marL="0" lvl="0" indent="0" algn="r" rtl="1">
              <a:lnSpc>
                <a:spcPct val="100000"/>
              </a:lnSpc>
              <a:spcBef>
                <a:spcPts val="0"/>
              </a:spcBef>
              <a:spcAft>
                <a:spcPts val="0"/>
              </a:spcAft>
              <a:buSzPts val="1950"/>
              <a:buNone/>
            </a:pPr>
            <a:r>
              <a:rPr lang="ar-SA" sz="1950" b="0">
                <a:solidFill>
                  <a:srgbClr val="CBCFE6"/>
                </a:solidFill>
                <a:latin typeface="Readex Pro"/>
                <a:ea typeface="Readex Pro"/>
                <a:cs typeface="Readex Pro"/>
                <a:sym typeface="Readex Pro"/>
              </a:rPr>
              <a:t>5 أكتوبر 2026</a:t>
            </a:r>
          </a:p>
        </p:txBody>
      </p:sp>
      <p:pic>
        <p:nvPicPr>
          <p:cNvPr id="596" name="Picture 595" descr="after-avatar-states-f000.png"/>
          <p:cNvPicPr>
            <a:picLocks noChangeAspect="1"/>
          </p:cNvPicPr>
          <p:nvPr/>
        </p:nvPicPr>
        <p:blipFill>
          <a:blip r:embed="rId4"/>
          <a:stretch>
            <a:fillRect/>
          </a:stretch>
        </p:blipFill>
        <p:spPr>
          <a:xfrm>
            <a:off x="4864608" y="2926080"/>
            <a:ext cx="2562045" cy="3017520"/>
          </a:xfrm>
          <a:prstGeom prst="roundRect">
            <a:avLst>
              <a:gd name="adj" fmla="val 5000"/>
            </a:avLst>
          </a:prstGeom>
        </p:spPr>
      </p:pic>
      <p:sp>
        <p:nvSpPr>
          <p:cNvPr id="597" name="Rounded Rectangle 596"/>
          <p:cNvSpPr/>
          <p:nvPr/>
        </p:nvSpPr>
        <p:spPr>
          <a:xfrm>
            <a:off x="4912053" y="2973525"/>
            <a:ext cx="1325880" cy="429768"/>
          </a:xfrm>
          <a:prstGeom prst="roundRect">
            <a:avLst>
              <a:gd name="adj" fmla="val 45000"/>
            </a:avLst>
          </a:prstGeom>
          <a:solidFill>
            <a:srgbClr val="143C23"/>
          </a:solidFill>
          <a:ln w="12700">
            <a:noFill/>
          </a:ln>
        </p:spPr>
        <p:txBody>
          <a:bodyPr rtlCol="0" anchor="ctr"/>
          <a:lstStyle/>
          <a:p>
            <a:endParaRPr/>
          </a:p>
        </p:txBody>
      </p:sp>
      <p:sp>
        <p:nvSpPr>
          <p:cNvPr id="598" name="TextBox 597"/>
          <p:cNvSpPr txBox="1"/>
          <p:nvPr/>
        </p:nvSpPr>
        <p:spPr>
          <a:xfrm>
            <a:off x="4912053" y="2973525"/>
            <a:ext cx="1325880" cy="429768"/>
          </a:xfrm>
          <a:prstGeom prst="rect">
            <a:avLst/>
          </a:prstGeom>
          <a:noFill/>
        </p:spPr>
        <p:txBody>
          <a:bodyPr wrap="square" lIns="0" tIns="0" rIns="0" bIns="0" anchor="ctr">
            <a:spAutoFit/>
          </a:bodyPr>
          <a:lstStyle/>
          <a:p>
            <a:pPr algn="ctr" rtl="1"/>
            <a:r>
              <a:rPr lang="ar-SA" sz="1800" b="1">
                <a:solidFill>
                  <a:srgbClr val="FFFFFF"/>
                </a:solidFill>
                <a:latin typeface="Readex Pro"/>
                <a:ea typeface="Readex Pro"/>
                <a:cs typeface="Readex Pro"/>
                <a:sym typeface="Readex Pro"/>
              </a:rPr>
              <a:t>هدوء</a:t>
            </a:r>
          </a:p>
        </p:txBody>
      </p:sp>
      <p:pic>
        <p:nvPicPr>
          <p:cNvPr id="599" name="Picture 598" descr="after-avatar-states-f039.png"/>
          <p:cNvPicPr>
            <a:picLocks noChangeAspect="1"/>
          </p:cNvPicPr>
          <p:nvPr/>
        </p:nvPicPr>
        <p:blipFill>
          <a:blip r:embed="rId5"/>
          <a:stretch>
            <a:fillRect/>
          </a:stretch>
        </p:blipFill>
        <p:spPr>
          <a:xfrm>
            <a:off x="2083107" y="2926080"/>
            <a:ext cx="2562045" cy="3017520"/>
          </a:xfrm>
          <a:prstGeom prst="roundRect">
            <a:avLst>
              <a:gd name="adj" fmla="val 5000"/>
            </a:avLst>
          </a:prstGeom>
        </p:spPr>
      </p:pic>
      <p:sp>
        <p:nvSpPr>
          <p:cNvPr id="600" name="Rounded Rectangle 599"/>
          <p:cNvSpPr/>
          <p:nvPr/>
        </p:nvSpPr>
        <p:spPr>
          <a:xfrm>
            <a:off x="2130552" y="2973525"/>
            <a:ext cx="1325880" cy="429768"/>
          </a:xfrm>
          <a:prstGeom prst="roundRect">
            <a:avLst>
              <a:gd name="adj" fmla="val 45000"/>
            </a:avLst>
          </a:prstGeom>
          <a:solidFill>
            <a:srgbClr val="143C23"/>
          </a:solidFill>
          <a:ln w="12700">
            <a:noFill/>
          </a:ln>
        </p:spPr>
        <p:txBody>
          <a:bodyPr rtlCol="0" anchor="ctr"/>
          <a:lstStyle/>
          <a:p>
            <a:endParaRPr/>
          </a:p>
        </p:txBody>
      </p:sp>
      <p:sp>
        <p:nvSpPr>
          <p:cNvPr id="601" name="TextBox 600"/>
          <p:cNvSpPr txBox="1"/>
          <p:nvPr/>
        </p:nvSpPr>
        <p:spPr>
          <a:xfrm>
            <a:off x="2130552" y="2973525"/>
            <a:ext cx="1325880" cy="429768"/>
          </a:xfrm>
          <a:prstGeom prst="rect">
            <a:avLst/>
          </a:prstGeom>
          <a:noFill/>
        </p:spPr>
        <p:txBody>
          <a:bodyPr wrap="square" lIns="0" tIns="0" rIns="0" bIns="0" anchor="ctr">
            <a:spAutoFit/>
          </a:bodyPr>
          <a:lstStyle/>
          <a:p>
            <a:pPr algn="ctr" rtl="1"/>
            <a:r>
              <a:rPr lang="ar-SA" sz="1800" b="1">
                <a:solidFill>
                  <a:srgbClr val="FFFFFF"/>
                </a:solidFill>
                <a:latin typeface="Readex Pro"/>
                <a:ea typeface="Readex Pro"/>
                <a:cs typeface="Readex Pro"/>
                <a:sym typeface="Readex Pro"/>
              </a:rPr>
              <a:t>إنصات</a:t>
            </a:r>
          </a:p>
        </p:txBody>
      </p:sp>
      <p:pic>
        <p:nvPicPr>
          <p:cNvPr id="602" name="Picture 601" descr="after-avatar-states-f059.png"/>
          <p:cNvPicPr>
            <a:picLocks noChangeAspect="1"/>
          </p:cNvPicPr>
          <p:nvPr/>
        </p:nvPicPr>
        <p:blipFill>
          <a:blip r:embed="rId6"/>
          <a:stretch>
            <a:fillRect/>
          </a:stretch>
        </p:blipFill>
        <p:spPr>
          <a:xfrm>
            <a:off x="4864608" y="6163056"/>
            <a:ext cx="2562045" cy="3017520"/>
          </a:xfrm>
          <a:prstGeom prst="roundRect">
            <a:avLst>
              <a:gd name="adj" fmla="val 5000"/>
            </a:avLst>
          </a:prstGeom>
        </p:spPr>
      </p:pic>
      <p:sp>
        <p:nvSpPr>
          <p:cNvPr id="603" name="Rounded Rectangle 602"/>
          <p:cNvSpPr/>
          <p:nvPr/>
        </p:nvSpPr>
        <p:spPr>
          <a:xfrm>
            <a:off x="4912053" y="6210501"/>
            <a:ext cx="1325880" cy="429768"/>
          </a:xfrm>
          <a:prstGeom prst="roundRect">
            <a:avLst>
              <a:gd name="adj" fmla="val 45000"/>
            </a:avLst>
          </a:prstGeom>
          <a:solidFill>
            <a:srgbClr val="143C23"/>
          </a:solidFill>
          <a:ln w="12700">
            <a:noFill/>
          </a:ln>
        </p:spPr>
        <p:txBody>
          <a:bodyPr rtlCol="0" anchor="ctr"/>
          <a:lstStyle/>
          <a:p>
            <a:endParaRPr/>
          </a:p>
        </p:txBody>
      </p:sp>
      <p:sp>
        <p:nvSpPr>
          <p:cNvPr id="604" name="TextBox 603"/>
          <p:cNvSpPr txBox="1"/>
          <p:nvPr/>
        </p:nvSpPr>
        <p:spPr>
          <a:xfrm>
            <a:off x="4912053" y="6210501"/>
            <a:ext cx="1325880" cy="429768"/>
          </a:xfrm>
          <a:prstGeom prst="rect">
            <a:avLst/>
          </a:prstGeom>
          <a:noFill/>
        </p:spPr>
        <p:txBody>
          <a:bodyPr wrap="square" lIns="0" tIns="0" rIns="0" bIns="0" anchor="ctr">
            <a:spAutoFit/>
          </a:bodyPr>
          <a:lstStyle/>
          <a:p>
            <a:pPr algn="ctr" rtl="1"/>
            <a:r>
              <a:rPr lang="ar-SA" sz="1800" b="1">
                <a:solidFill>
                  <a:srgbClr val="FFFFFF"/>
                </a:solidFill>
                <a:latin typeface="Readex Pro"/>
                <a:ea typeface="Readex Pro"/>
                <a:cs typeface="Readex Pro"/>
                <a:sym typeface="Readex Pro"/>
              </a:rPr>
              <a:t>كلام</a:t>
            </a:r>
          </a:p>
        </p:txBody>
      </p:sp>
      <p:pic>
        <p:nvPicPr>
          <p:cNvPr id="605" name="Picture 604" descr="after-avatar-states-f078.png"/>
          <p:cNvPicPr>
            <a:picLocks noChangeAspect="1"/>
          </p:cNvPicPr>
          <p:nvPr/>
        </p:nvPicPr>
        <p:blipFill>
          <a:blip r:embed="rId7"/>
          <a:stretch>
            <a:fillRect/>
          </a:stretch>
        </p:blipFill>
        <p:spPr>
          <a:xfrm>
            <a:off x="2083107" y="6163056"/>
            <a:ext cx="2562045" cy="3017520"/>
          </a:xfrm>
          <a:prstGeom prst="roundRect">
            <a:avLst>
              <a:gd name="adj" fmla="val 5000"/>
            </a:avLst>
          </a:prstGeom>
        </p:spPr>
      </p:pic>
      <p:sp>
        <p:nvSpPr>
          <p:cNvPr id="606" name="Rounded Rectangle 605"/>
          <p:cNvSpPr/>
          <p:nvPr/>
        </p:nvSpPr>
        <p:spPr>
          <a:xfrm>
            <a:off x="2130552" y="6210501"/>
            <a:ext cx="2345436" cy="429768"/>
          </a:xfrm>
          <a:prstGeom prst="roundRect">
            <a:avLst>
              <a:gd name="adj" fmla="val 45000"/>
            </a:avLst>
          </a:prstGeom>
          <a:solidFill>
            <a:srgbClr val="143C23"/>
          </a:solidFill>
          <a:ln w="12700">
            <a:noFill/>
          </a:ln>
        </p:spPr>
        <p:txBody>
          <a:bodyPr rtlCol="0" anchor="ctr"/>
          <a:lstStyle/>
          <a:p>
            <a:endParaRPr/>
          </a:p>
        </p:txBody>
      </p:sp>
      <p:sp>
        <p:nvSpPr>
          <p:cNvPr id="607" name="TextBox 606"/>
          <p:cNvSpPr txBox="1"/>
          <p:nvPr/>
        </p:nvSpPr>
        <p:spPr>
          <a:xfrm>
            <a:off x="2130552" y="6210501"/>
            <a:ext cx="2345436" cy="429768"/>
          </a:xfrm>
          <a:prstGeom prst="rect">
            <a:avLst/>
          </a:prstGeom>
          <a:noFill/>
        </p:spPr>
        <p:txBody>
          <a:bodyPr wrap="square" lIns="0" tIns="0" rIns="0" bIns="0" anchor="ctr">
            <a:spAutoFit/>
          </a:bodyPr>
          <a:lstStyle/>
          <a:p>
            <a:pPr algn="ctr" rtl="1"/>
            <a:r>
              <a:rPr lang="ar-SA" sz="1800" b="1">
                <a:solidFill>
                  <a:srgbClr val="FFFFFF"/>
                </a:solidFill>
                <a:latin typeface="Readex Pro"/>
                <a:ea typeface="Readex Pro"/>
                <a:cs typeface="Readex Pro"/>
                <a:sym typeface="Readex Pro"/>
              </a:rPr>
              <a:t>كلام مع حركة يد</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570" name="Google Shape;570;p13"/>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573" name="Google Shape;573;p13"/>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النموذج الأولي</a:t>
            </a:r>
          </a:p>
        </p:txBody>
      </p:sp>
      <p:sp>
        <p:nvSpPr>
          <p:cNvPr id="574" name="Google Shape;574;p13"/>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سهل للطفل، ومتاح بلغتين</a:t>
            </a:r>
          </a:p>
        </p:txBody>
      </p:sp>
      <p:sp>
        <p:nvSpPr>
          <p:cNvPr id="575" name="Google Shape;575;p13"/>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31</a:t>
            </a:fld>
            <a:endParaRPr/>
          </a:p>
        </p:txBody>
      </p:sp>
      <p:sp>
        <p:nvSpPr>
          <p:cNvPr id="577" name="Google Shape;577;p13"/>
          <p:cNvSpPr txBox="1">
            <a:spLocks noGrp="1"/>
          </p:cNvSpPr>
          <p:nvPr>
            <p:ph type="body" idx="3"/>
          </p:nvPr>
        </p:nvSpPr>
        <p:spPr>
          <a:xfrm>
            <a:off x="10458450" y="4095750"/>
            <a:ext cx="6381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صوت أولا، وكتابة عند الحاجة</a:t>
            </a:r>
          </a:p>
        </p:txBody>
      </p:sp>
      <p:sp>
        <p:nvSpPr>
          <p:cNvPr id="578" name="Google Shape;578;p13"/>
          <p:cNvSpPr txBox="1">
            <a:spLocks noGrp="1"/>
          </p:cNvSpPr>
          <p:nvPr>
            <p:ph type="body" idx="4"/>
          </p:nvPr>
        </p:nvSpPr>
        <p:spPr>
          <a:xfrm>
            <a:off x="10458450" y="4800600"/>
            <a:ext cx="6381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زر واحد للحديث، ووضع كتابة لمن لا يريد الكلام، وردود قصيرة لعمر 6 إلى 13 سنة</a:t>
            </a:r>
          </a:p>
        </p:txBody>
      </p:sp>
      <p:sp>
        <p:nvSpPr>
          <p:cNvPr id="579" name="Google Shape;579;p13"/>
          <p:cNvSpPr txBox="1">
            <a:spLocks noGrp="1"/>
          </p:cNvSpPr>
          <p:nvPr>
            <p:ph type="body" idx="5"/>
          </p:nvPr>
        </p:nvSpPr>
        <p:spPr>
          <a:xfrm>
            <a:off x="10458450" y="6667500"/>
            <a:ext cx="6381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عربي أولا، ومتاح للجميع</a:t>
            </a:r>
          </a:p>
        </p:txBody>
      </p:sp>
      <p:sp>
        <p:nvSpPr>
          <p:cNvPr id="580" name="Google Shape;580;p13"/>
          <p:cNvSpPr txBox="1">
            <a:spLocks noGrp="1"/>
          </p:cNvSpPr>
          <p:nvPr>
            <p:ph type="body" idx="6"/>
          </p:nvPr>
        </p:nvSpPr>
        <p:spPr>
          <a:xfrm>
            <a:off x="10458450" y="7372350"/>
            <a:ext cx="6381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من اليمين لليسار مع الإنجليزية، وشارة ذكاء اصطناعي دائمة، ووضع تقليل الحركة</a:t>
            </a:r>
          </a:p>
        </p:txBody>
      </p:sp>
      <p:pic>
        <p:nvPicPr>
          <p:cNvPr id="581" name="Picture 580" descr="access-ar-en-grid.png"/>
          <p:cNvPicPr>
            <a:picLocks noChangeAspect="1"/>
          </p:cNvPicPr>
          <p:nvPr/>
        </p:nvPicPr>
        <p:blipFill>
          <a:blip r:embed="rId4"/>
          <a:stretch>
            <a:fillRect/>
          </a:stretch>
        </p:blipFill>
        <p:spPr>
          <a:xfrm>
            <a:off x="1097280" y="3154680"/>
            <a:ext cx="9098280" cy="5119643"/>
          </a:xfrm>
          <a:prstGeom prst="rect">
            <a:avLst/>
          </a:prstGeom>
        </p:spPr>
      </p:pic>
      <p:sp>
        <p:nvSpPr>
          <p:cNvPr id="582" name="TextBox 581"/>
          <p:cNvSpPr txBox="1"/>
          <p:nvPr/>
        </p:nvSpPr>
        <p:spPr>
          <a:xfrm>
            <a:off x="10460736" y="8503920"/>
            <a:ext cx="6382512" cy="822960"/>
          </a:xfrm>
          <a:prstGeom prst="rect">
            <a:avLst/>
          </a:prstGeom>
          <a:noFill/>
        </p:spPr>
        <p:txBody>
          <a:bodyPr wrap="square" lIns="0" tIns="0" rIns="0" bIns="0" anchor="t">
            <a:spAutoFit/>
          </a:bodyPr>
          <a:lstStyle/>
          <a:p>
            <a:pPr algn="r" rtl="1"/>
            <a:r>
              <a:rPr lang="ar-SA" sz="1800" b="0">
                <a:solidFill>
                  <a:srgbClr val="8E99CC"/>
                </a:solidFill>
                <a:latin typeface="Readex Pro"/>
                <a:ea typeface="Readex Pro"/>
                <a:cs typeface="Readex Pro"/>
                <a:sym typeface="Readex Pro"/>
              </a:rPr>
              <a:t>0 مخالفات في فحص axe على 12 صفحة باللغتين</a:t>
            </a:r>
          </a:p>
          <a:p>
            <a:pPr algn="r" rtl="1"/>
            <a:r>
              <a:rPr lang="ar-SA" sz="1800" b="0">
                <a:solidFill>
                  <a:srgbClr val="8E99CC"/>
                </a:solidFill>
                <a:latin typeface="Readex Pro"/>
                <a:ea typeface="Readex Pro"/>
                <a:cs typeface="Readex Pro"/>
                <a:sym typeface="Readex Pro"/>
              </a:rPr>
              <a:t>المصدر: product-web.md القسم 16 · 5 أكتوبر 2026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637" name="Google Shape;637;p1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639" name="Google Shape;639;p17"/>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النتائج</a:t>
            </a:r>
          </a:p>
        </p:txBody>
      </p:sp>
      <p:sp>
        <p:nvSpPr>
          <p:cNvPr id="640" name="Google Shape;640;p17"/>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توقيت المصدر: الجدول الكامل</a:t>
            </a:r>
          </a:p>
        </p:txBody>
      </p:sp>
      <p:sp>
        <p:nvSpPr>
          <p:cNvPr id="641" name="Google Shape;641;p17"/>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72 محادثة × 3 تشغيلات · gpt-5.4-mini · 6 أكتوبر 2026 · 0 من 216 تشغيلا بخطأ</a:t>
            </a:r>
          </a:p>
        </p:txBody>
      </p:sp>
      <p:sp>
        <p:nvSpPr>
          <p:cNvPr id="642" name="Google Shape;642;p1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32</a:t>
            </a:fld>
            <a:endParaRPr/>
          </a:p>
        </p:txBody>
      </p:sp>
      <p:graphicFrame>
        <p:nvGraphicFramePr>
          <p:cNvPr id="643" name="Google Shape;643;p17"/>
          <p:cNvGraphicFramePr/>
          <p:nvPr/>
        </p:nvGraphicFramePr>
        <p:xfrm>
          <a:off x="1408176" y="3703320"/>
          <a:ext cx="15270480" cy="4224528"/>
        </p:xfrm>
        <a:graphic>
          <a:graphicData uri="http://schemas.openxmlformats.org/drawingml/2006/table">
            <a:tbl>
              <a:tblPr>
                <a:noFill/>
                <a:tableStyleId>{B8ED9858-D163-4338-9E88-1F424354888F}</a:tableStyleId>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7589520">
                  <a:extLst>
                    <a:ext uri="{9D8B030D-6E8A-4147-A177-3AD203B41FA5}">
                      <a16:colId xmlns:a16="http://schemas.microsoft.com/office/drawing/2014/main" val="20003"/>
                    </a:ext>
                  </a:extLst>
                </a:gridCol>
              </a:tblGrid>
              <a:tr h="603504">
                <a:tc>
                  <a:txBody>
                    <a:bodyPr/>
                    <a:lstStyle/>
                    <a:p>
                      <a:pPr marL="0" marR="0" lvl="0" indent="0" algn="r" rtl="1">
                        <a:lnSpc>
                          <a:spcPct val="100000"/>
                        </a:lnSpc>
                        <a:spcBef>
                          <a:spcPts val="0"/>
                        </a:spcBef>
                        <a:spcAft>
                          <a:spcPts val="0"/>
                        </a:spcAft>
                        <a:buClr>
                          <a:srgbClr val="000000"/>
                        </a:buClr>
                        <a:buSzPts val="2250"/>
                        <a:buFont typeface="Arial"/>
                        <a:buNone/>
                      </a:pPr>
                      <a:r>
                        <a:rPr lang="ar-SA" sz="2200" b="1" u="none" strike="noStrike" cap="none">
                          <a:solidFill>
                            <a:srgbClr val="2EF2C2"/>
                          </a:solidFill>
                          <a:latin typeface="Readex Pro"/>
                          <a:ea typeface="Readex Pro"/>
                          <a:cs typeface="Readex Pro"/>
                          <a:sym typeface="Readex Pro"/>
                        </a:rPr>
                        <a:t>إنجليزي</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00" b="1" u="none" strike="noStrike" cap="none">
                          <a:solidFill>
                            <a:srgbClr val="2EF2C2"/>
                          </a:solidFill>
                          <a:latin typeface="Readex Pro"/>
                          <a:ea typeface="Readex Pro"/>
                          <a:cs typeface="Readex Pro"/>
                          <a:sym typeface="Readex Pro"/>
                        </a:rPr>
                        <a:t>عربي</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00" b="1" u="none" strike="noStrike" cap="none">
                          <a:solidFill>
                            <a:srgbClr val="2EF2C2"/>
                          </a:solidFill>
                          <a:latin typeface="Readex Pro"/>
                          <a:ea typeface="Readex Pro"/>
                          <a:cs typeface="Readex Pro"/>
                          <a:sym typeface="Readex Pro"/>
                        </a:rPr>
                        <a:t>الكل</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00" b="1" u="none" strike="noStrike" cap="none">
                          <a:solidFill>
                            <a:srgbClr val="2EF2C2"/>
                          </a:solidFill>
                          <a:latin typeface="Readex Pro"/>
                          <a:ea typeface="Readex Pro"/>
                          <a:cs typeface="Readex Pro"/>
                          <a:sym typeface="Readex Pro"/>
                        </a:rPr>
                        <a:t>المقياس</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extLst>
                  <a:ext uri="{0D108BD9-81ED-4DB2-BD59-A6C34878D82A}">
                    <a16:rowId xmlns:a16="http://schemas.microsoft.com/office/drawing/2014/main" val="10000"/>
                  </a:ext>
                </a:extLst>
              </a:tr>
              <a:tr h="603504">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36%</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32%</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34% (43/126)</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عرض المصدر حين يناسب</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1"/>
                  </a:ext>
                </a:extLst>
              </a:tr>
              <a:tr h="603504">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2%</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5%</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 (7/207)</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مصدر في غير موضعه (الأقل أفضل)</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2"/>
                  </a:ext>
                </a:extLst>
              </a:tr>
              <a:tr h="603504">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97%</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100%</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98% (59/60)</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طلب مصدرا فوجده</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3"/>
                  </a:ext>
                </a:extLst>
              </a:tr>
              <a:tr h="603504">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100%</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94%</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97% (67/69)</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خارج البنك: قال لا أجد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603504">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39%</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6%</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23% (16/69)</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خارج البنك: إحالة في غير موضعها (الأقل أفضل)</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5"/>
                  </a:ext>
                </a:extLst>
              </a:tr>
              <a:tr h="603504">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0 من 240</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2 من 222</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2 من 462</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نسب كلاما بلا رخصة (الأقل أفضل)</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6"/>
                  </a:ext>
                </a:extLst>
              </a:tr>
            </a:tbl>
          </a:graphicData>
        </a:graphic>
      </p:graphicFrame>
      <p:sp>
        <p:nvSpPr>
          <p:cNvPr id="644" name="Google Shape;644;p17"/>
          <p:cNvSpPr txBox="1">
            <a:spLocks noGrp="1"/>
          </p:cNvSpPr>
          <p:nvPr>
            <p:ph type="body" idx="3"/>
          </p:nvPr>
        </p:nvSpPr>
        <p:spPr>
          <a:xfrm>
            <a:off x="1409700" y="8229600"/>
            <a:ext cx="15430500" cy="82296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eval-reports/source-timing/final/report.md · PR #76 · commit c8ab33be (dirty) · عرض المصدر حين يناسب: 13% للأعمار 6 إلى 9، و53% للأعمار 10 إلى 13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637" name="Google Shape;637;p1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639" name="Google Shape;639;p17"/>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السلامة</a:t>
            </a:r>
          </a:p>
        </p:txBody>
      </p:sp>
      <p:sp>
        <p:nvSpPr>
          <p:cNvPr id="640" name="Google Shape;640;p17"/>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دقة تنبيه الوالدين</a:t>
            </a:r>
          </a:p>
        </p:txBody>
      </p:sp>
      <p:sp>
        <p:nvSpPr>
          <p:cNvPr id="641" name="Google Shape;641;p17"/>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عبارات اصطناعية، كل منها 3 مرات · gpt-5.4-mini · 6 أكتوبر 2026</a:t>
            </a:r>
          </a:p>
        </p:txBody>
      </p:sp>
      <p:sp>
        <p:nvSpPr>
          <p:cNvPr id="642" name="Google Shape;642;p1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33</a:t>
            </a:fld>
            <a:endParaRPr/>
          </a:p>
        </p:txBody>
      </p:sp>
      <p:graphicFrame>
        <p:nvGraphicFramePr>
          <p:cNvPr id="643" name="Google Shape;643;p17"/>
          <p:cNvGraphicFramePr/>
          <p:nvPr/>
        </p:nvGraphicFramePr>
        <p:xfrm>
          <a:off x="1408176" y="3703320"/>
          <a:ext cx="15270480" cy="3840480"/>
        </p:xfrm>
        <a:graphic>
          <a:graphicData uri="http://schemas.openxmlformats.org/drawingml/2006/table">
            <a:tbl>
              <a:tblPr>
                <a:noFill/>
                <a:tableStyleId>{B8ED9858-D163-4338-9E88-1F424354888F}</a:tableStyleId>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5852160">
                  <a:extLst>
                    <a:ext uri="{9D8B030D-6E8A-4147-A177-3AD203B41FA5}">
                      <a16:colId xmlns:a16="http://schemas.microsoft.com/office/drawing/2014/main" val="20003"/>
                    </a:ext>
                  </a:extLst>
                </a:gridCol>
              </a:tblGrid>
              <a:tr h="640080">
                <a:tc>
                  <a:txBody>
                    <a:bodyPr/>
                    <a:lstStyle/>
                    <a:p>
                      <a:pPr marL="0" marR="0" lvl="0" indent="0" algn="r" rtl="1">
                        <a:lnSpc>
                          <a:spcPct val="100000"/>
                        </a:lnSpc>
                        <a:spcBef>
                          <a:spcPts val="0"/>
                        </a:spcBef>
                        <a:spcAft>
                          <a:spcPts val="0"/>
                        </a:spcAft>
                        <a:buClr>
                          <a:srgbClr val="000000"/>
                        </a:buClr>
                        <a:buSzPts val="2250"/>
                        <a:buFont typeface="Arial"/>
                        <a:buNone/>
                      </a:pPr>
                      <a:r>
                        <a:rPr lang="ar-SA" sz="2200" b="1" u="none" strike="noStrike" cap="none">
                          <a:solidFill>
                            <a:srgbClr val="2EF2C2"/>
                          </a:solidFill>
                          <a:latin typeface="Readex Pro"/>
                          <a:ea typeface="Readex Pro"/>
                          <a:cs typeface="Readex Pro"/>
                          <a:sym typeface="Readex Pro"/>
                        </a:rPr>
                        <a:t>نبّهت الوالدين</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00" b="1" u="none" strike="noStrike" cap="none">
                          <a:solidFill>
                            <a:srgbClr val="2EF2C2"/>
                          </a:solidFill>
                          <a:latin typeface="Readex Pro"/>
                          <a:ea typeface="Readex Pro"/>
                          <a:cs typeface="Readex Pro"/>
                          <a:sym typeface="Readex Pro"/>
                        </a:rPr>
                        <a:t>رُصدت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00" b="1" u="none" strike="noStrike" cap="none">
                          <a:solidFill>
                            <a:srgbClr val="2EF2C2"/>
                          </a:solidFill>
                          <a:latin typeface="Readex Pro"/>
                          <a:ea typeface="Readex Pro"/>
                          <a:cs typeface="Readex Pro"/>
                          <a:sym typeface="Readex Pro"/>
                        </a:rPr>
                        <a:t>عدد العبارات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00" b="1" u="none" strike="noStrike" cap="none">
                          <a:solidFill>
                            <a:srgbClr val="2EF2C2"/>
                          </a:solidFill>
                          <a:latin typeface="Readex Pro"/>
                          <a:ea typeface="Readex Pro"/>
                          <a:cs typeface="Readex Pro"/>
                          <a:sym typeface="Readex Pro"/>
                        </a:rPr>
                        <a:t>المجموعة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extLst>
                  <a:ext uri="{0D108BD9-81ED-4DB2-BD59-A6C34878D82A}">
                    <a16:rowId xmlns:a16="http://schemas.microsoft.com/office/drawing/2014/main" val="10000"/>
                  </a:ext>
                </a:extLst>
              </a:tr>
              <a:tr h="640080">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48 من 60</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60 من 60</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20 × 3</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هموم حقيقية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1"/>
                  </a:ext>
                </a:extLst>
              </a:tr>
              <a:tr h="640080">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 من 66</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6 من 66</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22 × 3</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مشاعر عادية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2"/>
                  </a:ext>
                </a:extLst>
              </a:tr>
              <a:tr h="640080">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9 من 12</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12 من 12</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4 × 3</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تعبيرات محجوزة: هموم</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3"/>
                  </a:ext>
                </a:extLst>
              </a:tr>
              <a:tr h="640080">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 من 24</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3 من 24</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8 × 3</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تعبيرات محجوزة: مشاعر عادية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640080">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0 من 24</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23 من 24</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8 × 3</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0" u="none" strike="noStrike" cap="none">
                          <a:solidFill>
                            <a:srgbClr val="F2F4FF"/>
                          </a:solidFill>
                          <a:latin typeface="Readex Pro"/>
                          <a:ea typeface="Readex Pro"/>
                          <a:cs typeface="Readex Pro"/>
                          <a:sym typeface="Readex Pro"/>
                        </a:rPr>
                        <a:t>الخوف من البيت أو من بالغ</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5"/>
                  </a:ext>
                </a:extLst>
              </a:tr>
            </a:tbl>
          </a:graphicData>
        </a:graphic>
      </p:graphicFrame>
      <p:sp>
        <p:nvSpPr>
          <p:cNvPr id="644" name="Google Shape;644;p17"/>
          <p:cNvSpPr txBox="1">
            <a:spLocks noGrp="1"/>
          </p:cNvSpPr>
          <p:nvPr>
            <p:ph type="body" idx="3"/>
          </p:nvPr>
        </p:nvSpPr>
        <p:spPr>
          <a:xfrm>
            <a:off x="1409700" y="8229600"/>
            <a:ext cx="15430500" cy="82296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eval-reports/alert-precision/README.md · PR #72 · off_topic يسجل ولا ينبه الوالدين · كل التنبيهات الخاطئة تعبير خليجي واحد عن الإحراج</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601" name="Google Shape;601;p15"/>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604" name="Google Shape;604;p15"/>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نتائج 5 أكتوبر</a:t>
            </a:r>
          </a:p>
        </p:txBody>
      </p:sp>
      <p:sp>
        <p:nvSpPr>
          <p:cNvPr id="605" name="Google Shape;605;p15"/>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نتائج مقيسة: قبل العمل وبعده</a:t>
            </a:r>
          </a:p>
        </p:txBody>
      </p:sp>
      <p:sp>
        <p:nvSpPr>
          <p:cNvPr id="606" name="Google Shape;606;p15"/>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مقياس المسار المفتوح: النجاح الصارم على حالات التقييم نفسها، مع فحوص سياسة الدور دون نموذج</a:t>
            </a:r>
          </a:p>
        </p:txBody>
      </p:sp>
      <p:sp>
        <p:nvSpPr>
          <p:cNvPr id="607" name="Google Shape;607;p1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34</a:t>
            </a:fld>
            <a:endParaRPr/>
          </a:p>
        </p:txBody>
      </p:sp>
      <p:sp>
        <p:nvSpPr>
          <p:cNvPr id="608" name="Google Shape;608;p15"/>
          <p:cNvSpPr txBox="1">
            <a:spLocks noGrp="1"/>
          </p:cNvSpPr>
          <p:nvPr>
            <p:ph type="body" idx="3"/>
          </p:nvPr>
        </p:nvSpPr>
        <p:spPr>
          <a:xfrm>
            <a:off x="13716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44%</a:t>
            </a:r>
          </a:p>
        </p:txBody>
      </p:sp>
      <p:sp>
        <p:nvSpPr>
          <p:cNvPr id="609" name="Google Shape;609;p15"/>
          <p:cNvSpPr txBox="1">
            <a:spLocks noGrp="1"/>
          </p:cNvSpPr>
          <p:nvPr>
            <p:ph type="body" idx="4"/>
          </p:nvPr>
        </p:nvSpPr>
        <p:spPr>
          <a:xfrm>
            <a:off x="13716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المجموعة المحجوزة</a:t>
            </a:r>
          </a:p>
        </p:txBody>
      </p:sp>
      <p:sp>
        <p:nvSpPr>
          <p:cNvPr id="610" name="Google Shape;610;p15"/>
          <p:cNvSpPr txBox="1">
            <a:spLocks noGrp="1"/>
          </p:cNvSpPr>
          <p:nvPr>
            <p:ph type="body" idx="5"/>
          </p:nvPr>
        </p:nvSpPr>
        <p:spPr>
          <a:xfrm>
            <a:off x="13716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نجاح صارم، وكان 25%</a:t>
            </a:r>
          </a:p>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تقييم حي بمحكم آلي، 5 أكتوبر</a:t>
            </a:r>
          </a:p>
        </p:txBody>
      </p:sp>
      <p:sp>
        <p:nvSpPr>
          <p:cNvPr id="611" name="Google Shape;611;p15"/>
          <p:cNvSpPr txBox="1">
            <a:spLocks noGrp="1"/>
          </p:cNvSpPr>
          <p:nvPr>
            <p:ph type="body" idx="6"/>
          </p:nvPr>
        </p:nvSpPr>
        <p:spPr>
          <a:xfrm>
            <a:off x="9715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340</a:t>
            </a:r>
          </a:p>
        </p:txBody>
      </p:sp>
      <p:sp>
        <p:nvSpPr>
          <p:cNvPr id="612" name="Google Shape;612;p15"/>
          <p:cNvSpPr txBox="1">
            <a:spLocks noGrp="1"/>
          </p:cNvSpPr>
          <p:nvPr>
            <p:ph type="body" idx="7"/>
          </p:nvPr>
        </p:nvSpPr>
        <p:spPr>
          <a:xfrm>
            <a:off x="97155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اجتازت تقييم السياسة</a:t>
            </a:r>
          </a:p>
        </p:txBody>
      </p:sp>
      <p:sp>
        <p:nvSpPr>
          <p:cNvPr id="613" name="Google Shape;613;p15"/>
          <p:cNvSpPr txBox="1">
            <a:spLocks noGrp="1"/>
          </p:cNvSpPr>
          <p:nvPr>
            <p:ph type="body" idx="8"/>
          </p:nvPr>
        </p:nvSpPr>
        <p:spPr>
          <a:xfrm>
            <a:off x="97155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من 392 تشغيلا دون نموذج</a:t>
            </a:r>
          </a:p>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عند 735c95a في 6 أكتوبر</a:t>
            </a:r>
          </a:p>
        </p:txBody>
      </p:sp>
      <p:sp>
        <p:nvSpPr>
          <p:cNvPr id="614" name="Google Shape;614;p15"/>
          <p:cNvSpPr txBox="1">
            <a:spLocks noGrp="1"/>
          </p:cNvSpPr>
          <p:nvPr>
            <p:ph type="body" idx="9"/>
          </p:nvPr>
        </p:nvSpPr>
        <p:spPr>
          <a:xfrm>
            <a:off x="5715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92/92</a:t>
            </a:r>
          </a:p>
        </p:txBody>
      </p:sp>
      <p:sp>
        <p:nvSpPr>
          <p:cNvPr id="615" name="Google Shape;615;p15"/>
          <p:cNvSpPr txBox="1">
            <a:spLocks noGrp="1"/>
          </p:cNvSpPr>
          <p:nvPr>
            <p:ph type="body" idx="13"/>
          </p:nvPr>
        </p:nvSpPr>
        <p:spPr>
          <a:xfrm>
            <a:off x="5715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تشغيلات أمان ناجحة</a:t>
            </a:r>
          </a:p>
        </p:txBody>
      </p:sp>
      <p:sp>
        <p:nvSpPr>
          <p:cNvPr id="616" name="Google Shape;616;p15"/>
          <p:cNvSpPr txBox="1">
            <a:spLocks noGrp="1"/>
          </p:cNvSpPr>
          <p:nvPr>
            <p:ph type="body" idx="14"/>
          </p:nvPr>
        </p:nvSpPr>
        <p:spPr>
          <a:xfrm>
            <a:off x="5715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في التقييم نفسه</a:t>
            </a:r>
          </a:p>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ولم يفشل أي تشغيل للأمان</a:t>
            </a:r>
          </a:p>
        </p:txBody>
      </p:sp>
      <p:sp>
        <p:nvSpPr>
          <p:cNvPr id="617" name="Google Shape;617;p15"/>
          <p:cNvSpPr txBox="1">
            <a:spLocks noGrp="1"/>
          </p:cNvSpPr>
          <p:nvPr>
            <p:ph type="body" idx="15"/>
          </p:nvPr>
        </p:nvSpPr>
        <p:spPr>
          <a:xfrm>
            <a:off x="1714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0%</a:t>
            </a:r>
          </a:p>
        </p:txBody>
      </p:sp>
      <p:sp>
        <p:nvSpPr>
          <p:cNvPr id="618" name="Google Shape;618;p15"/>
          <p:cNvSpPr txBox="1">
            <a:spLocks noGrp="1"/>
          </p:cNvSpPr>
          <p:nvPr>
            <p:ph type="body" idx="16"/>
          </p:nvPr>
        </p:nvSpPr>
        <p:spPr>
          <a:xfrm>
            <a:off x="1485900" y="6048375"/>
            <a:ext cx="38862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مؤشر القائد التقريبي</a:t>
            </a:r>
          </a:p>
        </p:txBody>
      </p:sp>
      <p:sp>
        <p:nvSpPr>
          <p:cNvPr id="619" name="Google Shape;619;p15"/>
          <p:cNvSpPr txBox="1">
            <a:spLocks noGrp="1"/>
          </p:cNvSpPr>
          <p:nvPr>
            <p:ph type="body" idx="17"/>
          </p:nvPr>
        </p:nvSpPr>
        <p:spPr>
          <a:xfrm>
            <a:off x="1485900" y="7000875"/>
            <a:ext cx="38862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للسياسة على مجموعات اختباره</a:t>
            </a:r>
          </a:p>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5 أكتوبر: كان 51.5% قبل PR #56</a:t>
            </a:r>
          </a:p>
        </p:txBody>
      </p:sp>
      <p:sp>
        <p:nvSpPr>
          <p:cNvPr id="620" name="Google Shape;620;p15"/>
          <p:cNvSpPr txBox="1">
            <a:spLocks noGrp="1"/>
          </p:cNvSpPr>
          <p:nvPr>
            <p:ph type="body" idx="18"/>
          </p:nvPr>
        </p:nvSpPr>
        <p:spPr>
          <a:xfrm>
            <a:off x="1408176" y="8183880"/>
            <a:ext cx="15435072" cy="118872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المجموعة المحجوزة: 10 من 40 عند 4fccb39 ثم 18 من 41 عند dba765e، تشغيل واحد لكل جانب، p = 0.039 · eval-reports/README.md</a:t>
            </a:r>
          </a:p>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سياسة الدور: run_eval دون نموذج · 0%: مؤشر القائد التقريبي لسياسة الدور على مجموعات اختباره، PR #56 في 5 أكتوبر</a:t>
            </a:r>
          </a:p>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نسبة الأدوار العادية التي أظهرت بطاقة، منقولة عن وصف PR #56 في quality-gate-summary.md القسم 2 · لم نعد قياسها، وليست نسبة محكمة</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8" name="Google Shape;728;p21" title="خلفية هكثون5.png"/>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3">
            <a:alphaModFix/>
          </a:blip>
          <a:stretch>
            <a:fillRect/>
          </a:stretch>
        </p:blipFill>
        <p:spPr>
          <a:xfrm>
            <a:off x="1015225" y="572270"/>
            <a:ext cx="3490299" cy="1109450"/>
          </a:xfrm>
          <a:prstGeom prst="rect">
            <a:avLst/>
          </a:prstGeom>
          <a:noFill/>
          <a:ln>
            <a:noFill/>
          </a:ln>
        </p:spPr>
      </p:pic>
      <p:sp>
        <p:nvSpPr>
          <p:cNvPr id="730" name="Google Shape;730;p2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35</a:t>
            </a:fld>
            <a:endParaRPr/>
          </a:p>
        </p:txBody>
      </p:sp>
      <p:graphicFrame>
        <p:nvGraphicFramePr>
          <p:cNvPr id="731" name="Google Shape;731;p21"/>
          <p:cNvGraphicFramePr/>
          <p:nvPr/>
        </p:nvGraphicFramePr>
        <p:xfrm>
          <a:off x="1408176" y="3429000"/>
          <a:ext cx="15435072" cy="4663440"/>
        </p:xfrm>
        <a:graphic>
          <a:graphicData uri="http://schemas.openxmlformats.org/drawingml/2006/table">
            <a:tbl>
              <a:tblPr>
                <a:noFill/>
                <a:tableStyleId>{B8ED9858-D163-4338-9E88-1F424354888F}</a:tableStyleId>
              </a:tblPr>
              <a:tblGrid>
                <a:gridCol w="4005072">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tblGrid>
              <a:tr h="438912">
                <a:tc>
                  <a:txBody>
                    <a:bodyPr/>
                    <a:lstStyle/>
                    <a:p>
                      <a:pPr marL="0" marR="0" lvl="0" indent="0" algn="r" rtl="1">
                        <a:lnSpc>
                          <a:spcPct val="100000"/>
                        </a:lnSpc>
                        <a:spcBef>
                          <a:spcPts val="0"/>
                        </a:spcBef>
                        <a:spcAft>
                          <a:spcPts val="0"/>
                        </a:spcAft>
                        <a:buClr>
                          <a:srgbClr val="000000"/>
                        </a:buClr>
                        <a:buSzPts val="2250"/>
                        <a:buFont typeface="Arial"/>
                        <a:buNone/>
                      </a:pPr>
                      <a:r>
                        <a:rPr lang="ar-SA" sz="2000" b="1" u="none" strike="noStrike" cap="none">
                          <a:solidFill>
                            <a:srgbClr val="6150EA"/>
                          </a:solidFill>
                          <a:latin typeface="Readex Pro"/>
                          <a:ea typeface="Readex Pro"/>
                          <a:cs typeface="Readex Pro"/>
                          <a:sym typeface="Readex Pro"/>
                        </a:rPr>
                        <a:t>بعد · 6 أكتوبر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1" u="none" strike="noStrike" cap="none">
                          <a:solidFill>
                            <a:srgbClr val="6150EA"/>
                          </a:solidFill>
                          <a:latin typeface="Readex Pro"/>
                          <a:ea typeface="Readex Pro"/>
                          <a:cs typeface="Readex Pro"/>
                          <a:sym typeface="Readex Pro"/>
                        </a:rPr>
                        <a:t>قبل · 5 أكتوبر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1" u="none" strike="noStrike" cap="none">
                          <a:solidFill>
                            <a:srgbClr val="6150EA"/>
                          </a:solidFill>
                          <a:latin typeface="Readex Pro"/>
                          <a:ea typeface="Readex Pro"/>
                          <a:cs typeface="Readex Pro"/>
                          <a:sym typeface="Readex Pro"/>
                        </a:rPr>
                        <a:t>الهدف</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1" u="none" strike="noStrike" cap="none">
                          <a:solidFill>
                            <a:srgbClr val="6150EA"/>
                          </a:solidFill>
                          <a:latin typeface="Readex Pro"/>
                          <a:ea typeface="Readex Pro"/>
                          <a:cs typeface="Readex Pro"/>
                          <a:sym typeface="Readex Pro"/>
                        </a:rPr>
                        <a:t>البوابة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extLst>
                  <a:ext uri="{0D108BD9-81ED-4DB2-BD59-A6C34878D82A}">
                    <a16:rowId xmlns:a16="http://schemas.microsoft.com/office/drawing/2014/main" val="10000"/>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1" u="none" strike="noStrike" cap="none">
                          <a:solidFill>
                            <a:srgbClr val="6150EA"/>
                          </a:solidFill>
                          <a:latin typeface="Readex Pro"/>
                          <a:ea typeface="Readex Pro"/>
                          <a:cs typeface="Readex Pro"/>
                          <a:sym typeface="Readex Pro"/>
                        </a:rPr>
                        <a:t>9.9% · ينجح</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19.8%</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10% أو أقل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إقحام درس في الدردشة العادية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1"/>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4.5% · يفشل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59.1%</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درس عند التحية أو الشكر أو الوداع</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2"/>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34 · يفشل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37</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معلومات مختلقة، بالعدد</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3"/>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68.9% · يفشل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46.7%</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90% أو أكثر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إجابات مستندة إلى مصدر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78.6% · يفشل، وتراجع</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89.3%</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95% أو أكثر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اعتذار حين لا مصدر، دون كلام من الذاكرة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5"/>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83.3% · يفشل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66.7%</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100%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إحالة دون فتوى</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6"/>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83.3% · يفشل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83.3%</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100%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لا تأكيد ولا نفي لما ينقله الطفل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7"/>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63.6% · يفشل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63.6%</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100%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مسار الطمأنة والأمان</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8"/>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1" u="none" strike="noStrike" cap="none">
                          <a:solidFill>
                            <a:srgbClr val="6150EA"/>
                          </a:solidFill>
                          <a:latin typeface="Readex Pro"/>
                          <a:ea typeface="Readex Pro"/>
                          <a:cs typeface="Readex Pro"/>
                          <a:sym typeface="Readex Pro"/>
                        </a:rPr>
                        <a:t>100% · ينجح</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93.3%</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100%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الهوية: ليس إنسانا ولا يسمي المزود ولا يتلو</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9"/>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3.96 · يفشل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3.61</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4 أو أكثر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جودة الصديق في الدور، من 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10"/>
                  </a:ext>
                </a:extLst>
              </a:tr>
              <a:tr h="384048">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3.20 · يفشل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2.35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4 أو أكثر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جودة الصديق في المحادثة، من 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11"/>
                  </a:ext>
                </a:extLst>
              </a:tr>
            </a:tbl>
          </a:graphicData>
        </a:graphic>
      </p:graphicFrame>
      <p:sp>
        <p:nvSpPr>
          <p:cNvPr id="732" name="Google Shape;732;p2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6150EA"/>
                </a:solidFill>
                <a:latin typeface="Readex Pro"/>
                <a:ea typeface="Readex Pro"/>
                <a:cs typeface="Readex Pro"/>
                <a:sym typeface="Readex Pro"/>
              </a:rPr>
              <a:t>ملحق · الأثر</a:t>
            </a:r>
          </a:p>
        </p:txBody>
      </p:sp>
      <p:sp>
        <p:nvSpPr>
          <p:cNvPr id="733" name="Google Shape;733;p2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12183F"/>
                </a:solidFill>
                <a:latin typeface="Readex Pro"/>
                <a:ea typeface="Readex Pro"/>
                <a:cs typeface="Readex Pro"/>
                <a:sym typeface="Readex Pro"/>
              </a:rPr>
              <a:t>بوابة جودة المحادثة: قبل وبعد</a:t>
            </a:r>
          </a:p>
        </p:txBody>
      </p:sp>
      <p:sp>
        <p:nvSpPr>
          <p:cNvPr id="734" name="Google Shape;734;p2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4A5590"/>
                </a:solidFill>
                <a:latin typeface="Readex Pro"/>
                <a:ea typeface="Readex Pro"/>
                <a:cs typeface="Readex Pro"/>
                <a:sym typeface="Readex Pro"/>
              </a:rPr>
              <a:t>قبل بوابة البطاقات: البناء d794bc7 و74 آية · بعدها: البناء 8cbe64a و273 عنصرا · 610 أدوار مختومة ومحكم Opus</a:t>
            </a:r>
          </a:p>
        </p:txBody>
      </p:sp>
      <p:sp>
        <p:nvSpPr>
          <p:cNvPr id="735" name="Google Shape;735;p21"/>
          <p:cNvSpPr txBox="1">
            <a:spLocks noGrp="1"/>
          </p:cNvSpPr>
          <p:nvPr>
            <p:ph type="body" idx="3"/>
          </p:nvPr>
        </p:nvSpPr>
        <p:spPr>
          <a:xfrm>
            <a:off x="1409700" y="8257032"/>
            <a:ext cx="15430500" cy="118872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4A5590"/>
                </a:solidFill>
                <a:latin typeface="Readex Pro"/>
                <a:ea typeface="Readex Pro"/>
                <a:cs typeface="Readex Pro"/>
                <a:sym typeface="Readex Pro"/>
              </a:rPr>
              <a:t>الهلوسات 34 بقاعدة العد (نتيجة الشيفرة تغلب المحكم): 33 من المحكم وإنذار كاذب واحد من أداة القياس · مسار الطمأنة 81.8% لو عد بطريقة التشغيل الأول · أدوار الشخصيات بعد الافتتاح يكتبها المحاكي فتختلف بين التشغيلين</a:t>
            </a:r>
          </a:p>
          <a:p>
            <a:pPr marL="0" lvl="0" indent="0" algn="r" rtl="1">
              <a:lnSpc>
                <a:spcPct val="100000"/>
              </a:lnSpc>
              <a:spcBef>
                <a:spcPts val="0"/>
              </a:spcBef>
              <a:spcAft>
                <a:spcPts val="0"/>
              </a:spcAft>
              <a:buSzPts val="1800"/>
              <a:buNone/>
            </a:pPr>
            <a:r>
              <a:rPr lang="ar-SA" sz="1800" b="0">
                <a:solidFill>
                  <a:srgbClr val="4A5590"/>
                </a:solidFill>
                <a:latin typeface="Readex Pro"/>
                <a:ea typeface="Readex Pro"/>
                <a:cs typeface="Readex Pro"/>
                <a:sym typeface="Readex Pro"/>
              </a:rPr>
              <a:t>المصدر: quality-gate-summary.md القسمان 1 و3، الأرقام فقط لأن التقرير الكامل يقتبس جملا مختومة · لا تقارن بالمؤشر التقريبي في الشريحة التالية</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1" name="Google Shape;741;g3fa608e3085_0_0"/>
          <p:cNvPicPr preferRelativeResize="0"/>
          <p:nvPr/>
        </p:nvPicPr>
        <p:blipFill rotWithShape="1">
          <a:blip r:embed="rId2">
            <a:alphaModFix/>
          </a:blip>
          <a:srcRect/>
          <a:stretch/>
        </p:blipFill>
        <p:spPr>
          <a:xfrm>
            <a:off x="-19050" y="0"/>
            <a:ext cx="18288000" cy="10287000"/>
          </a:xfrm>
          <a:prstGeom prst="rect">
            <a:avLst/>
          </a:prstGeom>
          <a:noFill/>
          <a:ln>
            <a:noFill/>
          </a:ln>
        </p:spPr>
      </p:pic>
      <p:sp>
        <p:nvSpPr>
          <p:cNvPr id="742" name="Google Shape;742;g3fa608e3085_0_0"/>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الأثر</a:t>
            </a:r>
          </a:p>
        </p:txBody>
      </p:sp>
      <p:sp>
        <p:nvSpPr>
          <p:cNvPr id="743" name="Google Shape;743;g3fa608e3085_0_0"/>
          <p:cNvSpPr txBox="1">
            <a:spLocks noGrp="1"/>
          </p:cNvSpPr>
          <p:nvPr>
            <p:ph type="title"/>
          </p:nvPr>
        </p:nvSpPr>
        <p:spPr>
          <a:xfrm>
            <a:off x="1409700" y="15811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مؤشر القائد التقريبي: الدرس حين يطلبه الطفل فقط</a:t>
            </a:r>
          </a:p>
        </p:txBody>
      </p:sp>
      <p:sp>
        <p:nvSpPr>
          <p:cNvPr id="744" name="Google Shape;744;g3fa608e3085_0_0"/>
          <p:cNvSpPr txBox="1">
            <a:spLocks noGrp="1"/>
          </p:cNvSpPr>
          <p:nvPr>
            <p:ph type="body" idx="2"/>
          </p:nvPr>
        </p:nvSpPr>
        <p:spPr>
          <a:xfrm>
            <a:off x="1409700" y="2324100"/>
            <a:ext cx="15430500" cy="685800"/>
          </a:xfrm>
          <a:prstGeom prst="rect">
            <a:avLst/>
          </a:prstGeom>
          <a:noFill/>
          <a:ln>
            <a:noFill/>
          </a:ln>
        </p:spPr>
        <p:txBody>
          <a:bodyPr spcFirstLastPara="1" wrap="square" lIns="0" tIns="0" rIns="0" bIns="0" anchor="ctr"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نسبة الأدوار العادية التي أظهرت بطاقة، من قرارات سياسة الدور دون نموذج، قبل بوابة البطاقات (PR #56) وبعدها</a:t>
            </a:r>
          </a:p>
        </p:txBody>
      </p:sp>
      <p:sp>
        <p:nvSpPr>
          <p:cNvPr id="745" name="Google Shape;745;g3fa608e3085_0_0"/>
          <p:cNvSpPr txBox="1">
            <a:spLocks noGrp="1"/>
          </p:cNvSpPr>
          <p:nvPr>
            <p:ph type="sldNum" idx="12"/>
          </p:nvPr>
        </p:nvSpPr>
        <p:spPr>
          <a:xfrm>
            <a:off x="1066800" y="9467850"/>
            <a:ext cx="952500" cy="400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36</a:t>
            </a:fld>
            <a:endParaRPr/>
          </a:p>
        </p:txBody>
      </p:sp>
      <p:sp>
        <p:nvSpPr>
          <p:cNvPr id="746" name="Google Shape;746;g3fa608e3085_0_0"/>
          <p:cNvSpPr txBox="1">
            <a:spLocks noGrp="1"/>
          </p:cNvSpPr>
          <p:nvPr>
            <p:ph type="body" idx="3"/>
          </p:nvPr>
        </p:nvSpPr>
        <p:spPr>
          <a:xfrm>
            <a:off x="1408176" y="8549640"/>
            <a:ext cx="15435072" cy="82296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المصدر: quality-gate-summary.md القسم 2، منقولا عن وصف PR #56 في 5 أكتوبر · مجموعات القائد ليست في المستودع · مؤشر تقريبي وليس نسبة محكمة، فلا يقارن بالبوابة المحكمة في الشريحة السابقة</a:t>
            </a:r>
          </a:p>
        </p:txBody>
      </p:sp>
      <p:pic>
        <p:nvPicPr>
          <p:cNvPr id="785" name="Google Shape;785;g3fa608e3085_0_0"/>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786" name="Rounded Rectangle 785"/>
          <p:cNvSpPr/>
          <p:nvPr/>
        </p:nvSpPr>
        <p:spPr>
          <a:xfrm>
            <a:off x="8942832" y="3936076"/>
            <a:ext cx="1600200" cy="3424844"/>
          </a:xfrm>
          <a:prstGeom prst="roundRect">
            <a:avLst>
              <a:gd name="adj" fmla="val 12000"/>
            </a:avLst>
          </a:prstGeom>
          <a:solidFill>
            <a:srgbClr val="6150EA"/>
          </a:solidFill>
          <a:ln w="12700">
            <a:noFill/>
          </a:ln>
        </p:spPr>
        <p:txBody>
          <a:bodyPr rtlCol="0" anchor="ctr"/>
          <a:lstStyle/>
          <a:p>
            <a:endParaRPr/>
          </a:p>
        </p:txBody>
      </p:sp>
      <p:sp>
        <p:nvSpPr>
          <p:cNvPr id="787" name="TextBox 786"/>
          <p:cNvSpPr txBox="1"/>
          <p:nvPr/>
        </p:nvSpPr>
        <p:spPr>
          <a:xfrm>
            <a:off x="8942832" y="3277708"/>
            <a:ext cx="1600200" cy="566928"/>
          </a:xfrm>
          <a:prstGeom prst="rect">
            <a:avLst/>
          </a:prstGeom>
          <a:noFill/>
        </p:spPr>
        <p:txBody>
          <a:bodyPr wrap="square" lIns="0" tIns="0" rIns="0" bIns="0" anchor="b">
            <a:spAutoFit/>
          </a:bodyPr>
          <a:lstStyle/>
          <a:p>
            <a:pPr algn="ctr" rtl="1"/>
            <a:r>
              <a:rPr lang="ar-SA" sz="3000" b="1">
                <a:solidFill>
                  <a:srgbClr val="F2F4FF"/>
                </a:solidFill>
                <a:latin typeface="Readex Pro"/>
                <a:ea typeface="Readex Pro"/>
                <a:cs typeface="Readex Pro"/>
                <a:sym typeface="Readex Pro"/>
              </a:rPr>
              <a:t>51.5%</a:t>
            </a:r>
          </a:p>
        </p:txBody>
      </p:sp>
      <p:sp>
        <p:nvSpPr>
          <p:cNvPr id="788" name="TextBox 787"/>
          <p:cNvSpPr txBox="1"/>
          <p:nvPr/>
        </p:nvSpPr>
        <p:spPr>
          <a:xfrm>
            <a:off x="8942832" y="7470648"/>
            <a:ext cx="1600200" cy="411480"/>
          </a:xfrm>
          <a:prstGeom prst="rect">
            <a:avLst/>
          </a:prstGeom>
          <a:noFill/>
        </p:spPr>
        <p:txBody>
          <a:bodyPr wrap="square" lIns="0" tIns="0" rIns="0" bIns="0" anchor="t">
            <a:spAutoFit/>
          </a:bodyPr>
          <a:lstStyle/>
          <a:p>
            <a:pPr algn="ctr" rtl="1"/>
            <a:r>
              <a:rPr lang="ar-SA" sz="2000" b="0">
                <a:solidFill>
                  <a:srgbClr val="CBCFE6"/>
                </a:solidFill>
                <a:latin typeface="Readex Pro"/>
                <a:ea typeface="Readex Pro"/>
                <a:cs typeface="Readex Pro"/>
                <a:sym typeface="Readex Pro"/>
              </a:rPr>
              <a:t>قبل</a:t>
            </a:r>
          </a:p>
        </p:txBody>
      </p:sp>
      <p:sp>
        <p:nvSpPr>
          <p:cNvPr id="789" name="Rounded Rectangle 788"/>
          <p:cNvSpPr/>
          <p:nvPr/>
        </p:nvSpPr>
        <p:spPr>
          <a:xfrm>
            <a:off x="7013448" y="7296912"/>
            <a:ext cx="1600200" cy="64008"/>
          </a:xfrm>
          <a:prstGeom prst="roundRect">
            <a:avLst>
              <a:gd name="adj" fmla="val 50000"/>
            </a:avLst>
          </a:prstGeom>
          <a:solidFill>
            <a:srgbClr val="2EF2C2"/>
          </a:solidFill>
          <a:ln w="12700">
            <a:noFill/>
          </a:ln>
        </p:spPr>
        <p:txBody>
          <a:bodyPr rtlCol="0" anchor="ctr"/>
          <a:lstStyle/>
          <a:p>
            <a:endParaRPr/>
          </a:p>
        </p:txBody>
      </p:sp>
      <p:sp>
        <p:nvSpPr>
          <p:cNvPr id="790" name="TextBox 789"/>
          <p:cNvSpPr txBox="1"/>
          <p:nvPr/>
        </p:nvSpPr>
        <p:spPr>
          <a:xfrm>
            <a:off x="7013448" y="6638544"/>
            <a:ext cx="1600200" cy="566928"/>
          </a:xfrm>
          <a:prstGeom prst="rect">
            <a:avLst/>
          </a:prstGeom>
          <a:noFill/>
        </p:spPr>
        <p:txBody>
          <a:bodyPr wrap="square" lIns="0" tIns="0" rIns="0" bIns="0" anchor="b">
            <a:spAutoFit/>
          </a:bodyPr>
          <a:lstStyle/>
          <a:p>
            <a:pPr algn="ctr" rtl="1"/>
            <a:r>
              <a:rPr lang="ar-SA" sz="3000" b="1">
                <a:solidFill>
                  <a:srgbClr val="F2F4FF"/>
                </a:solidFill>
                <a:latin typeface="Readex Pro"/>
                <a:ea typeface="Readex Pro"/>
                <a:cs typeface="Readex Pro"/>
                <a:sym typeface="Readex Pro"/>
              </a:rPr>
              <a:t>0%</a:t>
            </a:r>
          </a:p>
        </p:txBody>
      </p:sp>
      <p:sp>
        <p:nvSpPr>
          <p:cNvPr id="791" name="TextBox 790"/>
          <p:cNvSpPr txBox="1"/>
          <p:nvPr/>
        </p:nvSpPr>
        <p:spPr>
          <a:xfrm>
            <a:off x="7013448" y="7470648"/>
            <a:ext cx="1600200" cy="411480"/>
          </a:xfrm>
          <a:prstGeom prst="rect">
            <a:avLst/>
          </a:prstGeom>
          <a:noFill/>
        </p:spPr>
        <p:txBody>
          <a:bodyPr wrap="square" lIns="0" tIns="0" rIns="0" bIns="0" anchor="t">
            <a:spAutoFit/>
          </a:bodyPr>
          <a:lstStyle/>
          <a:p>
            <a:pPr algn="ctr" rtl="1"/>
            <a:r>
              <a:rPr lang="ar-SA" sz="2000" b="0">
                <a:solidFill>
                  <a:srgbClr val="CBCFE6"/>
                </a:solidFill>
                <a:latin typeface="Readex Pro"/>
                <a:ea typeface="Readex Pro"/>
                <a:cs typeface="Readex Pro"/>
                <a:sym typeface="Readex Pro"/>
              </a:rPr>
              <a:t>بعد</a:t>
            </a:r>
          </a:p>
        </p:txBody>
      </p:sp>
      <p:sp>
        <p:nvSpPr>
          <p:cNvPr id="792" name="TextBox 791"/>
          <p:cNvSpPr txBox="1"/>
          <p:nvPr/>
        </p:nvSpPr>
        <p:spPr>
          <a:xfrm>
            <a:off x="6766560" y="7909560"/>
            <a:ext cx="4023360" cy="457200"/>
          </a:xfrm>
          <a:prstGeom prst="rect">
            <a:avLst/>
          </a:prstGeom>
          <a:noFill/>
        </p:spPr>
        <p:txBody>
          <a:bodyPr wrap="square" lIns="0" tIns="0" rIns="0" bIns="0" anchor="t">
            <a:spAutoFit/>
          </a:bodyPr>
          <a:lstStyle/>
          <a:p>
            <a:pPr algn="ctr" rtl="1"/>
            <a:r>
              <a:rPr lang="ar-SA" sz="2200" b="1">
                <a:solidFill>
                  <a:srgbClr val="F2F4FF"/>
                </a:solidFill>
                <a:latin typeface="Readex Pro"/>
                <a:ea typeface="Readex Pro"/>
                <a:cs typeface="Readex Pro"/>
                <a:sym typeface="Readex Pro"/>
              </a:rPr>
              <a:t>مجموعة القائد</a:t>
            </a:r>
          </a:p>
        </p:txBody>
      </p:sp>
      <p:sp>
        <p:nvSpPr>
          <p:cNvPr id="793" name="Rounded Rectangle 792"/>
          <p:cNvSpPr/>
          <p:nvPr/>
        </p:nvSpPr>
        <p:spPr>
          <a:xfrm>
            <a:off x="4096512" y="4335087"/>
            <a:ext cx="1600200" cy="3025833"/>
          </a:xfrm>
          <a:prstGeom prst="roundRect">
            <a:avLst>
              <a:gd name="adj" fmla="val 12000"/>
            </a:avLst>
          </a:prstGeom>
          <a:solidFill>
            <a:srgbClr val="6150EA"/>
          </a:solidFill>
          <a:ln w="12700">
            <a:noFill/>
          </a:ln>
        </p:spPr>
        <p:txBody>
          <a:bodyPr rtlCol="0" anchor="ctr"/>
          <a:lstStyle/>
          <a:p>
            <a:endParaRPr/>
          </a:p>
        </p:txBody>
      </p:sp>
      <p:sp>
        <p:nvSpPr>
          <p:cNvPr id="794" name="TextBox 793"/>
          <p:cNvSpPr txBox="1"/>
          <p:nvPr/>
        </p:nvSpPr>
        <p:spPr>
          <a:xfrm>
            <a:off x="4096512" y="3676719"/>
            <a:ext cx="1600200" cy="566928"/>
          </a:xfrm>
          <a:prstGeom prst="rect">
            <a:avLst/>
          </a:prstGeom>
          <a:noFill/>
        </p:spPr>
        <p:txBody>
          <a:bodyPr wrap="square" lIns="0" tIns="0" rIns="0" bIns="0" anchor="b">
            <a:spAutoFit/>
          </a:bodyPr>
          <a:lstStyle/>
          <a:p>
            <a:pPr algn="ctr" rtl="1"/>
            <a:r>
              <a:rPr lang="ar-SA" sz="3000" b="1">
                <a:solidFill>
                  <a:srgbClr val="F2F4FF"/>
                </a:solidFill>
                <a:latin typeface="Readex Pro"/>
                <a:ea typeface="Readex Pro"/>
                <a:cs typeface="Readex Pro"/>
                <a:sym typeface="Readex Pro"/>
              </a:rPr>
              <a:t>45.5%</a:t>
            </a:r>
          </a:p>
        </p:txBody>
      </p:sp>
      <p:sp>
        <p:nvSpPr>
          <p:cNvPr id="795" name="TextBox 794"/>
          <p:cNvSpPr txBox="1"/>
          <p:nvPr/>
        </p:nvSpPr>
        <p:spPr>
          <a:xfrm>
            <a:off x="4096512" y="7470648"/>
            <a:ext cx="1600200" cy="411480"/>
          </a:xfrm>
          <a:prstGeom prst="rect">
            <a:avLst/>
          </a:prstGeom>
          <a:noFill/>
        </p:spPr>
        <p:txBody>
          <a:bodyPr wrap="square" lIns="0" tIns="0" rIns="0" bIns="0" anchor="t">
            <a:spAutoFit/>
          </a:bodyPr>
          <a:lstStyle/>
          <a:p>
            <a:pPr algn="ctr" rtl="1"/>
            <a:r>
              <a:rPr lang="ar-SA" sz="2000" b="0">
                <a:solidFill>
                  <a:srgbClr val="CBCFE6"/>
                </a:solidFill>
                <a:latin typeface="Readex Pro"/>
                <a:ea typeface="Readex Pro"/>
                <a:cs typeface="Readex Pro"/>
                <a:sym typeface="Readex Pro"/>
              </a:rPr>
              <a:t>قبل</a:t>
            </a:r>
          </a:p>
        </p:txBody>
      </p:sp>
      <p:sp>
        <p:nvSpPr>
          <p:cNvPr id="796" name="Rounded Rectangle 795"/>
          <p:cNvSpPr/>
          <p:nvPr/>
        </p:nvSpPr>
        <p:spPr>
          <a:xfrm>
            <a:off x="2167128" y="7296912"/>
            <a:ext cx="1600200" cy="64008"/>
          </a:xfrm>
          <a:prstGeom prst="roundRect">
            <a:avLst>
              <a:gd name="adj" fmla="val 50000"/>
            </a:avLst>
          </a:prstGeom>
          <a:solidFill>
            <a:srgbClr val="2EF2C2"/>
          </a:solidFill>
          <a:ln w="12700">
            <a:noFill/>
          </a:ln>
        </p:spPr>
        <p:txBody>
          <a:bodyPr rtlCol="0" anchor="ctr"/>
          <a:lstStyle/>
          <a:p>
            <a:endParaRPr/>
          </a:p>
        </p:txBody>
      </p:sp>
      <p:sp>
        <p:nvSpPr>
          <p:cNvPr id="797" name="TextBox 796"/>
          <p:cNvSpPr txBox="1"/>
          <p:nvPr/>
        </p:nvSpPr>
        <p:spPr>
          <a:xfrm>
            <a:off x="2167128" y="6638544"/>
            <a:ext cx="1600200" cy="566928"/>
          </a:xfrm>
          <a:prstGeom prst="rect">
            <a:avLst/>
          </a:prstGeom>
          <a:noFill/>
        </p:spPr>
        <p:txBody>
          <a:bodyPr wrap="square" lIns="0" tIns="0" rIns="0" bIns="0" anchor="b">
            <a:spAutoFit/>
          </a:bodyPr>
          <a:lstStyle/>
          <a:p>
            <a:pPr algn="ctr" rtl="1"/>
            <a:r>
              <a:rPr lang="ar-SA" sz="3000" b="1">
                <a:solidFill>
                  <a:srgbClr val="F2F4FF"/>
                </a:solidFill>
                <a:latin typeface="Readex Pro"/>
                <a:ea typeface="Readex Pro"/>
                <a:cs typeface="Readex Pro"/>
                <a:sym typeface="Readex Pro"/>
              </a:rPr>
              <a:t>0%</a:t>
            </a:r>
          </a:p>
        </p:txBody>
      </p:sp>
      <p:sp>
        <p:nvSpPr>
          <p:cNvPr id="798" name="TextBox 797"/>
          <p:cNvSpPr txBox="1"/>
          <p:nvPr/>
        </p:nvSpPr>
        <p:spPr>
          <a:xfrm>
            <a:off x="2167128" y="7470648"/>
            <a:ext cx="1600200" cy="411480"/>
          </a:xfrm>
          <a:prstGeom prst="rect">
            <a:avLst/>
          </a:prstGeom>
          <a:noFill/>
        </p:spPr>
        <p:txBody>
          <a:bodyPr wrap="square" lIns="0" tIns="0" rIns="0" bIns="0" anchor="t">
            <a:spAutoFit/>
          </a:bodyPr>
          <a:lstStyle/>
          <a:p>
            <a:pPr algn="ctr" rtl="1"/>
            <a:r>
              <a:rPr lang="ar-SA" sz="2000" b="0">
                <a:solidFill>
                  <a:srgbClr val="CBCFE6"/>
                </a:solidFill>
                <a:latin typeface="Readex Pro"/>
                <a:ea typeface="Readex Pro"/>
                <a:cs typeface="Readex Pro"/>
                <a:sym typeface="Readex Pro"/>
              </a:rPr>
              <a:t>بعد</a:t>
            </a:r>
          </a:p>
        </p:txBody>
      </p:sp>
      <p:sp>
        <p:nvSpPr>
          <p:cNvPr id="799" name="TextBox 798"/>
          <p:cNvSpPr txBox="1"/>
          <p:nvPr/>
        </p:nvSpPr>
        <p:spPr>
          <a:xfrm>
            <a:off x="1920240" y="7909560"/>
            <a:ext cx="4023360" cy="457200"/>
          </a:xfrm>
          <a:prstGeom prst="rect">
            <a:avLst/>
          </a:prstGeom>
          <a:noFill/>
        </p:spPr>
        <p:txBody>
          <a:bodyPr wrap="square" lIns="0" tIns="0" rIns="0" bIns="0" anchor="t">
            <a:spAutoFit/>
          </a:bodyPr>
          <a:lstStyle/>
          <a:p>
            <a:pPr algn="ctr" rtl="1"/>
            <a:r>
              <a:rPr lang="ar-SA" sz="2200" b="1">
                <a:solidFill>
                  <a:srgbClr val="F2F4FF"/>
                </a:solidFill>
                <a:latin typeface="Readex Pro"/>
                <a:ea typeface="Readex Pro"/>
                <a:cs typeface="Readex Pro"/>
                <a:sym typeface="Readex Pro"/>
              </a:rPr>
              <a:t>مجموعته المحجوزة</a:t>
            </a:r>
          </a:p>
        </p:txBody>
      </p:sp>
      <p:cxnSp>
        <p:nvCxnSpPr>
          <p:cNvPr id="800" name="Connector 799"/>
          <p:cNvCxnSpPr/>
          <p:nvPr/>
        </p:nvCxnSpPr>
        <p:spPr>
          <a:xfrm>
            <a:off x="1737360" y="7360920"/>
            <a:ext cx="9509760" cy="0"/>
          </a:xfrm>
          <a:prstGeom prst="line">
            <a:avLst/>
          </a:prstGeom>
          <a:ln w="15875">
            <a:solidFill>
              <a:srgbClr val="4A5590"/>
            </a:solidFill>
          </a:ln>
        </p:spPr>
        <p:style>
          <a:lnRef idx="2">
            <a:schemeClr val="accent1"/>
          </a:lnRef>
          <a:fillRef idx="0">
            <a:schemeClr val="accent1"/>
          </a:fillRef>
          <a:effectRef idx="1">
            <a:schemeClr val="accent1"/>
          </a:effectRef>
          <a:fontRef idx="minor">
            <a:schemeClr val="tx1"/>
          </a:fontRef>
        </p:style>
      </p:cxnSp>
      <p:sp>
        <p:nvSpPr>
          <p:cNvPr id="801" name="Rounded Rectangle 800"/>
          <p:cNvSpPr/>
          <p:nvPr/>
        </p:nvSpPr>
        <p:spPr>
          <a:xfrm>
            <a:off x="12115800" y="3429000"/>
            <a:ext cx="4727448" cy="4526280"/>
          </a:xfrm>
          <a:prstGeom prst="roundRect">
            <a:avLst>
              <a:gd name="adj" fmla="val 8000"/>
            </a:avLst>
          </a:prstGeom>
          <a:solidFill>
            <a:srgbClr val="FFFFFF">
              <a:alpha val="4000"/>
            </a:srgbClr>
          </a:solidFill>
          <a:ln w="12700">
            <a:solidFill>
              <a:srgbClr val="2EF2C2">
                <a:alpha val="15000"/>
              </a:srgbClr>
            </a:solidFill>
          </a:ln>
        </p:spPr>
        <p:txBody>
          <a:bodyPr rtlCol="0" anchor="ctr"/>
          <a:lstStyle/>
          <a:p>
            <a:endParaRPr/>
          </a:p>
        </p:txBody>
      </p:sp>
      <p:sp>
        <p:nvSpPr>
          <p:cNvPr id="802" name="TextBox 801"/>
          <p:cNvSpPr txBox="1"/>
          <p:nvPr/>
        </p:nvSpPr>
        <p:spPr>
          <a:xfrm>
            <a:off x="12435840" y="3611880"/>
            <a:ext cx="4114800" cy="548640"/>
          </a:xfrm>
          <a:prstGeom prst="rect">
            <a:avLst/>
          </a:prstGeom>
          <a:noFill/>
        </p:spPr>
        <p:txBody>
          <a:bodyPr wrap="square" lIns="0" tIns="0" rIns="0" bIns="0" anchor="t">
            <a:spAutoFit/>
          </a:bodyPr>
          <a:lstStyle/>
          <a:p>
            <a:pPr algn="r" rtl="1"/>
            <a:r>
              <a:rPr lang="ar-SA" sz="2400" b="1">
                <a:solidFill>
                  <a:srgbClr val="2EF2C2"/>
                </a:solidFill>
                <a:latin typeface="Readex Pro"/>
                <a:ea typeface="Readex Pro"/>
                <a:cs typeface="Readex Pro"/>
                <a:sym typeface="Readex Pro"/>
              </a:rPr>
              <a:t>البطاقة في موضعها</a:t>
            </a:r>
          </a:p>
        </p:txBody>
      </p:sp>
      <p:sp>
        <p:nvSpPr>
          <p:cNvPr id="803" name="TextBox 802"/>
          <p:cNvSpPr txBox="1"/>
          <p:nvPr/>
        </p:nvSpPr>
        <p:spPr>
          <a:xfrm>
            <a:off x="12435840" y="4343400"/>
            <a:ext cx="4114800" cy="1554480"/>
          </a:xfrm>
          <a:prstGeom prst="rect">
            <a:avLst/>
          </a:prstGeom>
          <a:noFill/>
        </p:spPr>
        <p:txBody>
          <a:bodyPr wrap="square" lIns="0" tIns="0" rIns="0" bIns="0" anchor="t">
            <a:spAutoFit/>
          </a:bodyPr>
          <a:lstStyle/>
          <a:p>
            <a:pPr algn="r" rtl="1"/>
            <a:r>
              <a:rPr lang="ar-SA" sz="4000" b="1">
                <a:solidFill>
                  <a:srgbClr val="F2F4FF"/>
                </a:solidFill>
                <a:latin typeface="Readex Pro"/>
                <a:ea typeface="Readex Pro"/>
                <a:cs typeface="Readex Pro"/>
                <a:sym typeface="Readex Pro"/>
              </a:rPr>
              <a:t>0 من 55</a:t>
            </a:r>
          </a:p>
          <a:p>
            <a:pPr algn="r" rtl="1"/>
            <a:r>
              <a:rPr lang="ar-SA" sz="2000" b="0">
                <a:solidFill>
                  <a:srgbClr val="CBCFE6"/>
                </a:solidFill>
                <a:latin typeface="Readex Pro"/>
                <a:ea typeface="Readex Pro"/>
                <a:cs typeface="Readex Pro"/>
                <a:sym typeface="Readex Pro"/>
              </a:rPr>
              <a:t>عبارة لطف أو تحية أظهرت بطاقة</a:t>
            </a:r>
          </a:p>
        </p:txBody>
      </p:sp>
      <p:sp>
        <p:nvSpPr>
          <p:cNvPr id="804" name="TextBox 803"/>
          <p:cNvSpPr txBox="1"/>
          <p:nvPr/>
        </p:nvSpPr>
        <p:spPr>
          <a:xfrm>
            <a:off x="12435840" y="6035040"/>
            <a:ext cx="4114800" cy="1554480"/>
          </a:xfrm>
          <a:prstGeom prst="rect">
            <a:avLst/>
          </a:prstGeom>
          <a:noFill/>
        </p:spPr>
        <p:txBody>
          <a:bodyPr wrap="square" lIns="0" tIns="0" rIns="0" bIns="0" anchor="t">
            <a:spAutoFit/>
          </a:bodyPr>
          <a:lstStyle/>
          <a:p>
            <a:pPr algn="r" rtl="1"/>
            <a:r>
              <a:rPr lang="ar-SA" sz="4000" b="1">
                <a:solidFill>
                  <a:srgbClr val="F2F4FF"/>
                </a:solidFill>
                <a:latin typeface="Readex Pro"/>
                <a:ea typeface="Readex Pro"/>
                <a:cs typeface="Readex Pro"/>
                <a:sym typeface="Readex Pro"/>
              </a:rPr>
              <a:t>40 من 40</a:t>
            </a:r>
          </a:p>
          <a:p>
            <a:pPr algn="r" rtl="1"/>
            <a:r>
              <a:rPr lang="ar-SA" sz="2000" b="0">
                <a:solidFill>
                  <a:srgbClr val="CBCFE6"/>
                </a:solidFill>
                <a:latin typeface="Readex Pro"/>
                <a:ea typeface="Readex Pro"/>
                <a:cs typeface="Readex Pro"/>
                <a:sym typeface="Readex Pro"/>
              </a:rPr>
              <a:t>سؤالا يستحق مصدرا ما زال يناله</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637" name="Google Shape;637;p1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639" name="Google Shape;639;p17"/>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التشغيل</a:t>
            </a:r>
          </a:p>
        </p:txBody>
      </p:sp>
      <p:sp>
        <p:nvSpPr>
          <p:cNvPr id="640" name="Google Shape;640;p17"/>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التشغيل والتكلفة</a:t>
            </a:r>
          </a:p>
        </p:txBody>
      </p:sp>
      <p:sp>
        <p:nvSpPr>
          <p:cNvPr id="641" name="Google Shape;641;p17"/>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الحمل مقيس على نسخة محلية بخدمات OpenAI وElevenLabs الحقيقية في 5 أكتوبر 2026، والتكلفة بالدولار تقدير لا قياس</a:t>
            </a:r>
          </a:p>
        </p:txBody>
      </p:sp>
      <p:sp>
        <p:nvSpPr>
          <p:cNvPr id="642" name="Google Shape;642;p1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37</a:t>
            </a:fld>
            <a:endParaRPr/>
          </a:p>
        </p:txBody>
      </p:sp>
      <p:graphicFrame>
        <p:nvGraphicFramePr>
          <p:cNvPr id="643" name="Google Shape;643;p17"/>
          <p:cNvGraphicFramePr/>
          <p:nvPr/>
        </p:nvGraphicFramePr>
        <p:xfrm>
          <a:off x="1408176" y="3566160"/>
          <a:ext cx="15435072" cy="3657600"/>
        </p:xfrm>
        <a:graphic>
          <a:graphicData uri="http://schemas.openxmlformats.org/drawingml/2006/table">
            <a:tbl>
              <a:tblPr>
                <a:noFill/>
                <a:tableStyleId>{B8ED9858-D163-4338-9E88-1F424354888F}</a:tableStyleId>
              </a:tblPr>
              <a:tblGrid>
                <a:gridCol w="310896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6565392">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tblGrid>
              <a:tr h="457200">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المصدر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القيمة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ما قيس</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البند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extLst>
                  <a:ext uri="{0D108BD9-81ED-4DB2-BD59-A6C34878D82A}">
                    <a16:rowId xmlns:a16="http://schemas.microsoft.com/office/drawing/2014/main" val="10000"/>
                  </a:ext>
                </a:extLst>
              </a:tr>
              <a:tr h="457200">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LOAD-REHEARSAL.md</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10 جلسات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جلسات صوتية متزامنة على عامل وكيل واحد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السعة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1"/>
                  </a:ext>
                </a:extLst>
              </a:tr>
              <a:tr h="457200">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LOAD-REHEARSAL.md</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نحو 2.6 ثانية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من نهاية كلام الطفل إلى أول صوت للرد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سرعة الرد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2"/>
                  </a:ext>
                </a:extLst>
              </a:tr>
              <a:tr h="457200">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LOAD-REHEARSAL.md</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0.1 نواة و165 ميغابايت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لكل جلسة عند الاستقرار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الموارد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3"/>
                  </a:ext>
                </a:extLst>
              </a:tr>
              <a:tr h="457200">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LOAD-REHEARSAL.md</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نحو 300 حرف</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أحرف ElevenLabs لجلسة قصيرة: تحية وسؤالان</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الصوت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457200">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LOAD-REHEARSAL.md</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نحو 8</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استدعاءات OpenAI للجلسة نفسها، نصفها للتقرير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النموذج</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5"/>
                  </a:ext>
                </a:extLst>
              </a:tr>
              <a:tr h="457200">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lead-summary.json</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إدخال 6.5 ألف، إخراج 109</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متوسط تشغيل التقييم (الوكيل والمحكم)، حد أعلى للاستدعاء</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الرموز</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6"/>
                  </a:ext>
                </a:extLst>
              </a:tr>
              <a:tr h="457200">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deploy.yml</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آلي في كل نشر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يطبق الترحيلات أولا، ويفشل إن لم يرد /api/health/</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900" b="0" u="none" strike="noStrike" cap="none">
                          <a:solidFill>
                            <a:srgbClr val="F2F4FF"/>
                          </a:solidFill>
                          <a:latin typeface="Readex Pro"/>
                          <a:ea typeface="Readex Pro"/>
                          <a:cs typeface="Readex Pro"/>
                          <a:sym typeface="Readex Pro"/>
                        </a:rPr>
                        <a:t>النشر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7"/>
                  </a:ext>
                </a:extLst>
              </a:tr>
            </a:tbl>
          </a:graphicData>
        </a:graphic>
      </p:graphicFrame>
      <p:sp>
        <p:nvSpPr>
          <p:cNvPr id="644" name="Google Shape;644;p17"/>
          <p:cNvSpPr txBox="1">
            <a:spLocks noGrp="1"/>
          </p:cNvSpPr>
          <p:nvPr>
            <p:ph type="body" idx="3"/>
          </p:nvPr>
        </p:nvSpPr>
        <p:spPr>
          <a:xfrm>
            <a:off x="1409700" y="8412480"/>
            <a:ext cx="15430500" cy="86868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الرموز من eval-reports/lead-summary.json عند f9ab61c في 5 أكتوبر · النشر: deploy.yml بعد PR #60 وPR #61 · الحماية من الإنفاق: سقف يومي لأحرف الصوت، وبعده تبدأ الجلسات الجديدة بالكتابة فقط (demo-guards.md)</a:t>
            </a:r>
          </a:p>
        </p:txBody>
      </p:sp>
      <p:sp>
        <p:nvSpPr>
          <p:cNvPr id="645" name="Rounded Rectangle 644"/>
          <p:cNvSpPr/>
          <p:nvPr/>
        </p:nvSpPr>
        <p:spPr>
          <a:xfrm>
            <a:off x="13825728" y="7360920"/>
            <a:ext cx="3017520" cy="960120"/>
          </a:xfrm>
          <a:prstGeom prst="roundRect">
            <a:avLst>
              <a:gd name="adj" fmla="val 8000"/>
            </a:avLst>
          </a:prstGeom>
          <a:solidFill>
            <a:srgbClr val="2EF2C2">
              <a:alpha val="10000"/>
            </a:srgbClr>
          </a:solidFill>
          <a:ln w="19050">
            <a:solidFill>
              <a:srgbClr val="2EF2C2"/>
            </a:solidFill>
          </a:ln>
        </p:spPr>
        <p:txBody>
          <a:bodyPr rtlCol="0" anchor="ctr"/>
          <a:lstStyle/>
          <a:p>
            <a:endParaRPr/>
          </a:p>
        </p:txBody>
      </p:sp>
      <p:sp>
        <p:nvSpPr>
          <p:cNvPr id="646" name="TextBox 645"/>
          <p:cNvSpPr txBox="1"/>
          <p:nvPr/>
        </p:nvSpPr>
        <p:spPr>
          <a:xfrm>
            <a:off x="13962888" y="7434072"/>
            <a:ext cx="2743200" cy="813816"/>
          </a:xfrm>
          <a:prstGeom prst="rect">
            <a:avLst/>
          </a:prstGeom>
          <a:noFill/>
        </p:spPr>
        <p:txBody>
          <a:bodyPr wrap="square" lIns="0" tIns="0" rIns="0" bIns="0" anchor="ctr">
            <a:spAutoFit/>
          </a:bodyPr>
          <a:lstStyle/>
          <a:p>
            <a:pPr algn="r" rtl="1"/>
            <a:r>
              <a:rPr lang="ar-SA" sz="2100" b="1">
                <a:solidFill>
                  <a:srgbClr val="2EF2C2"/>
                </a:solidFill>
                <a:latin typeface="Readex Pro"/>
                <a:ea typeface="Readex Pro"/>
                <a:cs typeface="Readex Pro"/>
                <a:sym typeface="Readex Pro"/>
              </a:rPr>
              <a:t>التكلفة بالدولار</a:t>
            </a:r>
          </a:p>
          <a:p>
            <a:pPr algn="r" rtl="1"/>
            <a:r>
              <a:rPr lang="ar-SA" sz="1800" b="0">
                <a:solidFill>
                  <a:srgbClr val="F2F4FF"/>
                </a:solidFill>
                <a:latin typeface="Readex Pro"/>
                <a:ea typeface="Readex Pro"/>
                <a:cs typeface="Readex Pro"/>
                <a:sym typeface="Readex Pro"/>
              </a:rPr>
              <a:t>تقدير، 6 أكتوبر 2026</a:t>
            </a:r>
          </a:p>
          <a:p>
            <a:pPr algn="r" rtl="1"/>
            <a:r>
              <a:rPr lang="ar-SA" sz="1800" b="0">
                <a:solidFill>
                  <a:srgbClr val="CBCFE6"/>
                </a:solidFill>
                <a:latin typeface="Readex Pro"/>
                <a:ea typeface="Readex Pro"/>
                <a:cs typeface="Readex Pro"/>
                <a:sym typeface="Readex Pro"/>
              </a:rPr>
              <a:t>المنهج في الملحق</a:t>
            </a:r>
          </a:p>
        </p:txBody>
      </p:sp>
      <p:sp>
        <p:nvSpPr>
          <p:cNvPr id="647" name="Rounded Rectangle 646"/>
          <p:cNvSpPr/>
          <p:nvPr/>
        </p:nvSpPr>
        <p:spPr>
          <a:xfrm>
            <a:off x="9686544" y="7360920"/>
            <a:ext cx="3956304" cy="960120"/>
          </a:xfrm>
          <a:prstGeom prst="roundRect">
            <a:avLst>
              <a:gd name="adj" fmla="val 8000"/>
            </a:avLst>
          </a:prstGeom>
          <a:solidFill>
            <a:srgbClr val="FFFFFF">
              <a:alpha val="4000"/>
            </a:srgbClr>
          </a:solidFill>
          <a:ln w="12700">
            <a:solidFill>
              <a:srgbClr val="2EF2C2">
                <a:alpha val="35000"/>
              </a:srgbClr>
            </a:solidFill>
          </a:ln>
        </p:spPr>
        <p:txBody>
          <a:bodyPr rtlCol="0" anchor="ctr"/>
          <a:lstStyle/>
          <a:p>
            <a:endParaRPr/>
          </a:p>
        </p:txBody>
      </p:sp>
      <p:sp>
        <p:nvSpPr>
          <p:cNvPr id="648" name="TextBox 647"/>
          <p:cNvSpPr txBox="1"/>
          <p:nvPr/>
        </p:nvSpPr>
        <p:spPr>
          <a:xfrm>
            <a:off x="9823704" y="7434072"/>
            <a:ext cx="3681984" cy="813816"/>
          </a:xfrm>
          <a:prstGeom prst="rect">
            <a:avLst/>
          </a:prstGeom>
          <a:noFill/>
        </p:spPr>
        <p:txBody>
          <a:bodyPr wrap="square" lIns="0" tIns="0" rIns="0" bIns="0" anchor="ctr">
            <a:spAutoFit/>
          </a:bodyPr>
          <a:lstStyle/>
          <a:p>
            <a:pPr algn="ctr" rtl="1"/>
            <a:r>
              <a:rPr lang="ar-SA" sz="2500" b="1">
                <a:solidFill>
                  <a:srgbClr val="F2F4FF"/>
                </a:solidFill>
                <a:latin typeface="Readex Pro"/>
                <a:ea typeface="Readex Pro"/>
                <a:cs typeface="Readex Pro"/>
                <a:sym typeface="Readex Pro"/>
              </a:rPr>
              <a:t>0.05 إلى 0.29</a:t>
            </a:r>
          </a:p>
          <a:p>
            <a:pPr algn="ctr" rtl="1"/>
            <a:r>
              <a:rPr lang="ar-SA" sz="1800" b="0">
                <a:solidFill>
                  <a:srgbClr val="CBCFE6"/>
                </a:solidFill>
                <a:latin typeface="Readex Pro"/>
                <a:ea typeface="Readex Pro"/>
                <a:cs typeface="Readex Pro"/>
                <a:sym typeface="Readex Pro"/>
              </a:rPr>
              <a:t>دولار للجلسة الواحدة</a:t>
            </a:r>
          </a:p>
        </p:txBody>
      </p:sp>
      <p:sp>
        <p:nvSpPr>
          <p:cNvPr id="649" name="Rounded Rectangle 648"/>
          <p:cNvSpPr/>
          <p:nvPr/>
        </p:nvSpPr>
        <p:spPr>
          <a:xfrm>
            <a:off x="5547360" y="7360920"/>
            <a:ext cx="3956304" cy="960120"/>
          </a:xfrm>
          <a:prstGeom prst="roundRect">
            <a:avLst>
              <a:gd name="adj" fmla="val 8000"/>
            </a:avLst>
          </a:prstGeom>
          <a:solidFill>
            <a:srgbClr val="FFFFFF">
              <a:alpha val="4000"/>
            </a:srgbClr>
          </a:solidFill>
          <a:ln w="12700">
            <a:solidFill>
              <a:srgbClr val="2EF2C2">
                <a:alpha val="35000"/>
              </a:srgbClr>
            </a:solidFill>
          </a:ln>
        </p:spPr>
        <p:txBody>
          <a:bodyPr rtlCol="0" anchor="ctr"/>
          <a:lstStyle/>
          <a:p>
            <a:endParaRPr/>
          </a:p>
        </p:txBody>
      </p:sp>
      <p:sp>
        <p:nvSpPr>
          <p:cNvPr id="650" name="TextBox 649"/>
          <p:cNvSpPr txBox="1"/>
          <p:nvPr/>
        </p:nvSpPr>
        <p:spPr>
          <a:xfrm>
            <a:off x="5684520" y="7434072"/>
            <a:ext cx="3681984" cy="813816"/>
          </a:xfrm>
          <a:prstGeom prst="rect">
            <a:avLst/>
          </a:prstGeom>
          <a:noFill/>
        </p:spPr>
        <p:txBody>
          <a:bodyPr wrap="square" lIns="0" tIns="0" rIns="0" bIns="0" anchor="ctr">
            <a:spAutoFit/>
          </a:bodyPr>
          <a:lstStyle/>
          <a:p>
            <a:pPr algn="ctr" rtl="1"/>
            <a:r>
              <a:rPr lang="ar-SA" sz="2500" b="1">
                <a:solidFill>
                  <a:srgbClr val="F2F4FF"/>
                </a:solidFill>
                <a:latin typeface="Readex Pro"/>
                <a:ea typeface="Readex Pro"/>
                <a:cs typeface="Readex Pro"/>
                <a:sym typeface="Readex Pro"/>
              </a:rPr>
              <a:t>3 إلى 34</a:t>
            </a:r>
          </a:p>
          <a:p>
            <a:pPr algn="ctr" rtl="1"/>
            <a:r>
              <a:rPr lang="ar-SA" sz="1800" b="0">
                <a:solidFill>
                  <a:srgbClr val="CBCFE6"/>
                </a:solidFill>
                <a:latin typeface="Readex Pro"/>
                <a:ea typeface="Readex Pro"/>
                <a:cs typeface="Readex Pro"/>
                <a:sym typeface="Readex Pro"/>
              </a:rPr>
              <a:t>دولارا لـ30 محكما طوال فترة التحكيم</a:t>
            </a:r>
          </a:p>
        </p:txBody>
      </p:sp>
      <p:sp>
        <p:nvSpPr>
          <p:cNvPr id="651" name="Rounded Rectangle 650"/>
          <p:cNvSpPr/>
          <p:nvPr/>
        </p:nvSpPr>
        <p:spPr>
          <a:xfrm>
            <a:off x="1408176" y="7360920"/>
            <a:ext cx="3956304" cy="960120"/>
          </a:xfrm>
          <a:prstGeom prst="roundRect">
            <a:avLst>
              <a:gd name="adj" fmla="val 8000"/>
            </a:avLst>
          </a:prstGeom>
          <a:solidFill>
            <a:srgbClr val="FFFFFF">
              <a:alpha val="4000"/>
            </a:srgbClr>
          </a:solidFill>
          <a:ln w="12700">
            <a:solidFill>
              <a:srgbClr val="2EF2C2">
                <a:alpha val="35000"/>
              </a:srgbClr>
            </a:solidFill>
          </a:ln>
        </p:spPr>
        <p:txBody>
          <a:bodyPr rtlCol="0" anchor="ctr"/>
          <a:lstStyle/>
          <a:p>
            <a:endParaRPr/>
          </a:p>
        </p:txBody>
      </p:sp>
      <p:sp>
        <p:nvSpPr>
          <p:cNvPr id="652" name="TextBox 651"/>
          <p:cNvSpPr txBox="1"/>
          <p:nvPr/>
        </p:nvSpPr>
        <p:spPr>
          <a:xfrm>
            <a:off x="1545336" y="7434072"/>
            <a:ext cx="3681984" cy="813816"/>
          </a:xfrm>
          <a:prstGeom prst="rect">
            <a:avLst/>
          </a:prstGeom>
          <a:noFill/>
        </p:spPr>
        <p:txBody>
          <a:bodyPr wrap="square" lIns="0" tIns="0" rIns="0" bIns="0" anchor="ctr">
            <a:spAutoFit/>
          </a:bodyPr>
          <a:lstStyle/>
          <a:p>
            <a:pPr algn="ctr" rtl="1"/>
            <a:r>
              <a:rPr lang="ar-SA" sz="2500" b="1">
                <a:solidFill>
                  <a:srgbClr val="F2F4FF"/>
                </a:solidFill>
                <a:latin typeface="Readex Pro"/>
                <a:ea typeface="Readex Pro"/>
                <a:cs typeface="Readex Pro"/>
                <a:sym typeface="Readex Pro"/>
              </a:rPr>
              <a:t>60 إلى 570</a:t>
            </a:r>
          </a:p>
          <a:p>
            <a:pPr algn="ctr" rtl="1"/>
            <a:r>
              <a:rPr lang="ar-SA" sz="1800" b="0">
                <a:solidFill>
                  <a:srgbClr val="CBCFE6"/>
                </a:solidFill>
                <a:latin typeface="Readex Pro"/>
                <a:ea typeface="Readex Pro"/>
                <a:cs typeface="Readex Pro"/>
                <a:sym typeface="Readex Pro"/>
              </a:rPr>
              <a:t>دولارا في الشهر لـ100 أسرة</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8" name="Google Shape;728;p21" title="خلفية هكثون5.png"/>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3">
            <a:alphaModFix/>
          </a:blip>
          <a:stretch>
            <a:fillRect/>
          </a:stretch>
        </p:blipFill>
        <p:spPr>
          <a:xfrm>
            <a:off x="1015225" y="572270"/>
            <a:ext cx="3490299" cy="1109450"/>
          </a:xfrm>
          <a:prstGeom prst="rect">
            <a:avLst/>
          </a:prstGeom>
          <a:noFill/>
          <a:ln>
            <a:noFill/>
          </a:ln>
        </p:spPr>
      </p:pic>
      <p:sp>
        <p:nvSpPr>
          <p:cNvPr id="730" name="Google Shape;730;p2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38</a:t>
            </a:fld>
            <a:endParaRPr/>
          </a:p>
        </p:txBody>
      </p:sp>
      <p:graphicFrame>
        <p:nvGraphicFramePr>
          <p:cNvPr id="731" name="Google Shape;731;p21"/>
          <p:cNvGraphicFramePr/>
          <p:nvPr/>
        </p:nvGraphicFramePr>
        <p:xfrm>
          <a:off x="1408176" y="3429000"/>
          <a:ext cx="15435072" cy="4937760"/>
        </p:xfrm>
        <a:graphic>
          <a:graphicData uri="http://schemas.openxmlformats.org/drawingml/2006/table">
            <a:tbl>
              <a:tblPr>
                <a:noFill/>
                <a:tableStyleId>{B8ED9858-D163-4338-9E88-1F424354888F}</a:tableStyleId>
              </a:tblPr>
              <a:tblGrid>
                <a:gridCol w="2176272">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502920">
                <a:tc>
                  <a:txBody>
                    <a:bodyPr/>
                    <a:lstStyle/>
                    <a:p>
                      <a:pPr marL="0" marR="0" lvl="0" indent="0" algn="r" rtl="1">
                        <a:lnSpc>
                          <a:spcPct val="100000"/>
                        </a:lnSpc>
                        <a:spcBef>
                          <a:spcPts val="0"/>
                        </a:spcBef>
                        <a:spcAft>
                          <a:spcPts val="0"/>
                        </a:spcAft>
                        <a:buClr>
                          <a:srgbClr val="000000"/>
                        </a:buClr>
                        <a:buSzPts val="2250"/>
                        <a:buFont typeface="Arial"/>
                        <a:buNone/>
                      </a:pPr>
                      <a:r>
                        <a:rPr lang="ar-SA" sz="2000" b="1" u="none" strike="noStrike" cap="none">
                          <a:solidFill>
                            <a:srgbClr val="6150EA"/>
                          </a:solidFill>
                          <a:latin typeface="Readex Pro"/>
                          <a:ea typeface="Readex Pro"/>
                          <a:cs typeface="Readex Pro"/>
                          <a:sym typeface="Readex Pro"/>
                        </a:rPr>
                        <a:t>للجلسة، دولار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1" u="none" strike="noStrike" cap="none">
                          <a:solidFill>
                            <a:srgbClr val="6150EA"/>
                          </a:solidFill>
                          <a:latin typeface="Readex Pro"/>
                          <a:ea typeface="Readex Pro"/>
                          <a:cs typeface="Readex Pro"/>
                          <a:sym typeface="Readex Pro"/>
                        </a:rPr>
                        <a:t>السعر المعلن</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1" u="none" strike="noStrike" cap="none">
                          <a:solidFill>
                            <a:srgbClr val="6150EA"/>
                          </a:solidFill>
                          <a:latin typeface="Readex Pro"/>
                          <a:ea typeface="Readex Pro"/>
                          <a:cs typeface="Readex Pro"/>
                          <a:sym typeface="Readex Pro"/>
                        </a:rPr>
                        <a:t>الوحدات لكل جلسة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000" b="1" u="none" strike="noStrike" cap="none">
                          <a:solidFill>
                            <a:srgbClr val="6150EA"/>
                          </a:solidFill>
                          <a:latin typeface="Readex Pro"/>
                          <a:ea typeface="Readex Pro"/>
                          <a:cs typeface="Readex Pro"/>
                          <a:sym typeface="Readex Pro"/>
                        </a:rPr>
                        <a:t>البند</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extLst>
                  <a:ext uri="{0D108BD9-81ED-4DB2-BD59-A6C34878D82A}">
                    <a16:rowId xmlns:a16="http://schemas.microsoft.com/office/drawing/2014/main" val="10000"/>
                  </a:ext>
                </a:extLst>
              </a:tr>
              <a:tr h="1005840">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0.022 إلى 0.078</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0.75 دولار لمليون رمز إدخال، و4.50 لمليون إخراج</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4 استدعاءات (مقيس) إلى 12 (افتراض). للاستدعاء 6.5 ألف رمز إدخال و109 إخراج، متوسط تشغيل التقييم مع المحكم، حدا أعلى؛ و8 آلاف إدخال للجلسة الكاملة (افتراض)</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نموذج المحادثة</a:t>
                      </a:r>
                      <a:br>
                        <a:rPr lang="ar-SA" sz="1800" b="0" u="none" strike="noStrike" cap="none">
                          <a:solidFill>
                            <a:srgbClr val="12183F"/>
                          </a:solidFill>
                          <a:latin typeface="Readex Pro"/>
                          <a:ea typeface="Readex Pro"/>
                          <a:cs typeface="Readex Pro"/>
                          <a:sym typeface="Readex Pro"/>
                        </a:rPr>
                      </a:br>
                      <a:r>
                        <a:rPr lang="ar-SA" sz="1800" b="0" u="none" strike="noStrike" cap="none">
                          <a:solidFill>
                            <a:srgbClr val="12183F"/>
                          </a:solidFill>
                          <a:latin typeface="Readex Pro"/>
                          <a:ea typeface="Readex Pro"/>
                          <a:cs typeface="Readex Pro"/>
                          <a:sym typeface="Readex Pro"/>
                        </a:rPr>
                        <a:t>gpt-5.4-mini</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1"/>
                  </a:ext>
                </a:extLst>
              </a:tr>
              <a:tr h="731520">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0.007 إلى 0.033</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السعر نفسه</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4 استدعاءات (مقيس)، لكل استدعاء ألف إلى 6 آلاف رمز إدخال و200 إلى 800 إخراج (افتراض)</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تقارير ما بعد الجلسة</a:t>
                      </a:r>
                      <a:br>
                        <a:rPr lang="ar-SA" sz="1800" b="0" u="none" strike="noStrike" cap="none">
                          <a:solidFill>
                            <a:srgbClr val="12183F"/>
                          </a:solidFill>
                          <a:latin typeface="Readex Pro"/>
                          <a:ea typeface="Readex Pro"/>
                          <a:cs typeface="Readex Pro"/>
                          <a:sym typeface="Readex Pro"/>
                        </a:rPr>
                      </a:br>
                      <a:r>
                        <a:rPr lang="ar-SA" sz="1800" b="0" u="none" strike="noStrike" cap="none">
                          <a:solidFill>
                            <a:srgbClr val="12183F"/>
                          </a:solidFill>
                          <a:latin typeface="Readex Pro"/>
                          <a:ea typeface="Readex Pro"/>
                          <a:cs typeface="Readex Pro"/>
                          <a:sym typeface="Readex Pro"/>
                        </a:rPr>
                        <a:t>بالنموذج نفسه</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2"/>
                  </a:ext>
                </a:extLst>
              </a:tr>
              <a:tr h="731520">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0.005 إلى 0.015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نحو 0.003 دولار للدقيقة، بتقدير OpenAI</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1.5 إلى 5 دقائق، أي طول الجلسة، لأن النسخ الفوري مفعل افتراضيا ويبقى مفتوحا طوالها (افتراض)</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الكلام إلى نص</a:t>
                      </a:r>
                      <a:br>
                        <a:rPr lang="ar-SA" sz="1800" b="0" u="none" strike="noStrike" cap="none">
                          <a:solidFill>
                            <a:srgbClr val="12183F"/>
                          </a:solidFill>
                          <a:latin typeface="Readex Pro"/>
                          <a:ea typeface="Readex Pro"/>
                          <a:cs typeface="Readex Pro"/>
                          <a:sym typeface="Readex Pro"/>
                        </a:rPr>
                      </a:br>
                      <a:r>
                        <a:rPr lang="ar-SA" sz="1800" b="0" u="none" strike="noStrike" cap="none">
                          <a:solidFill>
                            <a:srgbClr val="12183F"/>
                          </a:solidFill>
                          <a:latin typeface="Readex Pro"/>
                          <a:ea typeface="Readex Pro"/>
                          <a:cs typeface="Readex Pro"/>
                          <a:sym typeface="Readex Pro"/>
                        </a:rPr>
                        <a:t>gpt-4o-mini-transcribe</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3"/>
                  </a:ext>
                </a:extLst>
              </a:tr>
              <a:tr h="731520">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0.012 إلى 0.100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0.04 دولار لكل ألف حرف، في كل الباقات</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300 حرف لتحية وسؤالين (مقيس) إلى 2500 حرف لجلسة 5 دقائق (تقدير البروفة)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الصوت</a:t>
                      </a:r>
                      <a:br>
                        <a:rPr lang="ar-SA" sz="1800" b="0" u="none" strike="noStrike" cap="none">
                          <a:solidFill>
                            <a:srgbClr val="12183F"/>
                          </a:solidFill>
                          <a:latin typeface="Readex Pro"/>
                          <a:ea typeface="Readex Pro"/>
                          <a:cs typeface="Readex Pro"/>
                          <a:sym typeface="Readex Pro"/>
                        </a:rPr>
                      </a:br>
                      <a:r>
                        <a:rPr lang="ar-SA" sz="1800" b="0" u="none" strike="noStrike" cap="none">
                          <a:solidFill>
                            <a:srgbClr val="12183F"/>
                          </a:solidFill>
                          <a:latin typeface="Readex Pro"/>
                          <a:ea typeface="Readex Pro"/>
                          <a:cs typeface="Readex Pro"/>
                          <a:sym typeface="Readex Pro"/>
                        </a:rPr>
                        <a:t>ElevenLabs Flash v2.5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r h="731520">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0.002 إلى 0.055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0.0005 دولار للمشارك في الدقيقة، و0.01 للوكيل في الحد الأعلى</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طرفان، الطفل والوكيل، لمدة 1.5 إلى 5 دقائق (افتراض)</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LiveKit Cloud</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5"/>
                  </a:ext>
                </a:extLst>
              </a:tr>
              <a:tr h="502920">
                <a:tc>
                  <a:txBody>
                    <a:bodyPr/>
                    <a:lstStyle/>
                    <a:p>
                      <a:pPr marL="0" marR="0" lvl="0" indent="0" algn="r" rtl="1">
                        <a:lnSpc>
                          <a:spcPct val="100000"/>
                        </a:lnSpc>
                        <a:spcBef>
                          <a:spcPts val="0"/>
                        </a:spcBef>
                        <a:spcAft>
                          <a:spcPts val="0"/>
                        </a:spcAft>
                        <a:buClr>
                          <a:srgbClr val="000000"/>
                        </a:buClr>
                        <a:buSzPts val="2250"/>
                        <a:buFont typeface="Arial"/>
                        <a:buNone/>
                      </a:pPr>
                      <a:r>
                        <a:rPr lang="ar-SA" sz="1800" b="1" u="none" strike="noStrike" cap="none">
                          <a:solidFill>
                            <a:srgbClr val="6150EA"/>
                          </a:solidFill>
                          <a:latin typeface="Readex Pro"/>
                          <a:ea typeface="Readex Pro"/>
                          <a:cs typeface="Readex Pro"/>
                          <a:sym typeface="Readex Pro"/>
                        </a:rPr>
                        <a:t>0.05 إلى 0.29</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0" u="none" strike="noStrike" cap="none">
                          <a:solidFill>
                            <a:srgbClr val="12183F"/>
                          </a:solidFill>
                          <a:latin typeface="Readex Pro"/>
                          <a:ea typeface="Readex Pro"/>
                          <a:cs typeface="Readex Pro"/>
                          <a:sym typeface="Readex Pro"/>
                        </a:rPr>
                        <a:t>من جلسة قصيرة إلى جلسة كاملة مدتها 5 دقائق (حد العرض)</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1800" b="1" u="none" strike="noStrike" cap="none">
                          <a:solidFill>
                            <a:srgbClr val="12183F"/>
                          </a:solidFill>
                          <a:latin typeface="Readex Pro"/>
                          <a:ea typeface="Readex Pro"/>
                          <a:cs typeface="Readex Pro"/>
                          <a:sym typeface="Readex Pro"/>
                        </a:rPr>
                        <a:t>المجموع للجلسة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6"/>
                  </a:ext>
                </a:extLst>
              </a:tr>
            </a:tbl>
          </a:graphicData>
        </a:graphic>
      </p:graphicFrame>
      <p:sp>
        <p:nvSpPr>
          <p:cNvPr id="732" name="Google Shape;732;p2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6150EA"/>
                </a:solidFill>
                <a:latin typeface="Readex Pro"/>
                <a:ea typeface="Readex Pro"/>
                <a:cs typeface="Readex Pro"/>
                <a:sym typeface="Readex Pro"/>
              </a:rPr>
              <a:t>ملحق · التشغيل</a:t>
            </a:r>
          </a:p>
        </p:txBody>
      </p:sp>
      <p:sp>
        <p:nvSpPr>
          <p:cNvPr id="733" name="Google Shape;733;p2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12183F"/>
                </a:solidFill>
                <a:latin typeface="Readex Pro"/>
                <a:ea typeface="Readex Pro"/>
                <a:cs typeface="Readex Pro"/>
                <a:sym typeface="Readex Pro"/>
              </a:rPr>
              <a:t>تقدير التكلفة: الجلسة الواحدة</a:t>
            </a:r>
          </a:p>
        </p:txBody>
      </p:sp>
      <p:sp>
        <p:nvSpPr>
          <p:cNvPr id="734" name="Google Shape;734;p2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4A5590"/>
                </a:solidFill>
                <a:latin typeface="Readex Pro"/>
                <a:ea typeface="Readex Pro"/>
                <a:cs typeface="Readex Pro"/>
                <a:sym typeface="Readex Pro"/>
              </a:rPr>
              <a:t>تقدير لا قياس: وحدات مقيسة في المستودع، أو مفترضة حيث لم تقس، مضروبة في أسعار المزودين المعلنة</a:t>
            </a:r>
          </a:p>
        </p:txBody>
      </p:sp>
      <p:sp>
        <p:nvSpPr>
          <p:cNvPr id="735" name="Google Shape;735;p21"/>
          <p:cNvSpPr txBox="1">
            <a:spLocks noGrp="1"/>
          </p:cNvSpPr>
          <p:nvPr>
            <p:ph type="body" idx="3"/>
          </p:nvPr>
        </p:nvSpPr>
        <p:spPr>
          <a:xfrm>
            <a:off x="1408176" y="8595360"/>
            <a:ext cx="15435072" cy="86868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4A5590"/>
                </a:solidFill>
                <a:latin typeface="Readex Pro"/>
                <a:ea typeface="Readex Pro"/>
                <a:cs typeface="Readex Pro"/>
                <a:sym typeface="Readex Pro"/>
              </a:rPr>
              <a:t>الأسعار كما فحصت في 6 أكتوبر 2026: </a:t>
            </a:r>
            <a:r>
              <a:rPr lang="ar-SA" sz="1800" b="0">
                <a:solidFill>
                  <a:srgbClr val="4A5590"/>
                </a:solidFill>
                <a:latin typeface="Readex Pro"/>
                <a:ea typeface="Readex Pro"/>
                <a:cs typeface="Readex Pro"/>
                <a:sym typeface="Readex Pro"/>
                <a:hlinkClick r:id="rId4"/>
              </a:rPr>
              <a:t>platform.openai.com/docs/pricing</a:t>
            </a:r>
            <a:r>
              <a:rPr lang="ar-SA" sz="1800" b="0">
                <a:solidFill>
                  <a:srgbClr val="4A5590"/>
                </a:solidFill>
                <a:latin typeface="Readex Pro"/>
                <a:ea typeface="Readex Pro"/>
                <a:cs typeface="Readex Pro"/>
                <a:sym typeface="Readex Pro"/>
              </a:rPr>
              <a:t> · </a:t>
            </a:r>
            <a:r>
              <a:rPr lang="ar-SA" sz="1800" b="0">
                <a:solidFill>
                  <a:srgbClr val="4A5590"/>
                </a:solidFill>
                <a:latin typeface="Readex Pro"/>
                <a:ea typeface="Readex Pro"/>
                <a:cs typeface="Readex Pro"/>
                <a:sym typeface="Readex Pro"/>
                <a:hlinkClick r:id="rId5"/>
              </a:rPr>
              <a:t>elevenlabs.io/pricing/api</a:t>
            </a:r>
            <a:r>
              <a:rPr lang="ar-SA" sz="1800" b="0">
                <a:solidFill>
                  <a:srgbClr val="4A5590"/>
                </a:solidFill>
                <a:latin typeface="Readex Pro"/>
                <a:ea typeface="Readex Pro"/>
                <a:cs typeface="Readex Pro"/>
                <a:sym typeface="Readex Pro"/>
              </a:rPr>
              <a:t> · </a:t>
            </a:r>
            <a:r>
              <a:rPr lang="ar-SA" sz="1800" b="0">
                <a:solidFill>
                  <a:srgbClr val="4A5590"/>
                </a:solidFill>
                <a:latin typeface="Readex Pro"/>
                <a:ea typeface="Readex Pro"/>
                <a:cs typeface="Readex Pro"/>
                <a:sym typeface="Readex Pro"/>
                <a:hlinkClick r:id="rId6"/>
              </a:rPr>
              <a:t>livekit.com/pricing</a:t>
            </a:r>
          </a:p>
          <a:p>
            <a:pPr marL="0" lvl="0" indent="0" algn="r" rtl="1">
              <a:lnSpc>
                <a:spcPct val="100000"/>
              </a:lnSpc>
              <a:spcBef>
                <a:spcPts val="0"/>
              </a:spcBef>
              <a:spcAft>
                <a:spcPts val="0"/>
              </a:spcAft>
              <a:buSzPts val="1800"/>
              <a:buNone/>
            </a:pPr>
            <a:r>
              <a:rPr lang="ar-SA" sz="1800" b="0">
                <a:solidFill>
                  <a:srgbClr val="4A5590"/>
                </a:solidFill>
                <a:latin typeface="Readex Pro"/>
                <a:ea typeface="Readex Pro"/>
                <a:cs typeface="Readex Pro"/>
                <a:sym typeface="Readex Pro"/>
              </a:rPr>
              <a:t>الوحدات المقيسة: latency/LOAD-REHEARSAL.md وeval-reports/lead-summary.json · الحساب: deck-src/cost_estimate.py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1" name="Google Shape;881;p28" title="خلفية هكثون4.png"/>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883" name="Google Shape;883;p28"/>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التشغيل</a:t>
            </a:r>
          </a:p>
        </p:txBody>
      </p:sp>
      <p:sp>
        <p:nvSpPr>
          <p:cNvPr id="884" name="Google Shape;884;p28"/>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تقدير التكلفة: الشهر والافتراضات</a:t>
            </a:r>
          </a:p>
        </p:txBody>
      </p:sp>
      <p:sp>
        <p:nvSpPr>
          <p:cNvPr id="885" name="Google Shape;885;p28"/>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تقدير لا قياس: تكلفة الجلسة من الشريحة السابقة مضروبة في عدد جلسات مفترض</a:t>
            </a:r>
          </a:p>
        </p:txBody>
      </p:sp>
      <p:sp>
        <p:nvSpPr>
          <p:cNvPr id="886" name="Google Shape;886;p2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39</a:t>
            </a:fld>
            <a:endParaRPr/>
          </a:p>
        </p:txBody>
      </p:sp>
      <p:sp>
        <p:nvSpPr>
          <p:cNvPr id="887" name="Google Shape;887;p28"/>
          <p:cNvSpPr txBox="1">
            <a:spLocks noGrp="1"/>
          </p:cNvSpPr>
          <p:nvPr>
            <p:ph type="body" idx="3"/>
          </p:nvPr>
        </p:nvSpPr>
        <p:spPr>
          <a:xfrm>
            <a:off x="9696450" y="3857625"/>
            <a:ext cx="714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30 محكما</a:t>
            </a:r>
          </a:p>
        </p:txBody>
      </p:sp>
      <p:sp>
        <p:nvSpPr>
          <p:cNvPr id="888" name="Google Shape;888;p28"/>
          <p:cNvSpPr txBox="1">
            <a:spLocks noGrp="1"/>
          </p:cNvSpPr>
          <p:nvPr>
            <p:ph type="body" idx="4"/>
          </p:nvPr>
        </p:nvSpPr>
        <p:spPr>
          <a:xfrm>
            <a:off x="9696450" y="4562475"/>
            <a:ext cx="7143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طوال فترة التحكيم، من 7 إلى 22 أكتوبر</a:t>
            </a:r>
          </a:p>
        </p:txBody>
      </p:sp>
      <p:sp>
        <p:nvSpPr>
          <p:cNvPr id="889" name="Google Shape;889;p28"/>
          <p:cNvSpPr txBox="1">
            <a:spLocks noGrp="1"/>
          </p:cNvSpPr>
          <p:nvPr>
            <p:ph type="body" idx="5"/>
          </p:nvPr>
        </p:nvSpPr>
        <p:spPr>
          <a:xfrm>
            <a:off x="1409700" y="3857625"/>
            <a:ext cx="714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100 أسرة</a:t>
            </a:r>
          </a:p>
        </p:txBody>
      </p:sp>
      <p:sp>
        <p:nvSpPr>
          <p:cNvPr id="890" name="Google Shape;890;p28"/>
          <p:cNvSpPr txBox="1">
            <a:spLocks noGrp="1"/>
          </p:cNvSpPr>
          <p:nvPr>
            <p:ph type="body" idx="6"/>
          </p:nvPr>
        </p:nvSpPr>
        <p:spPr>
          <a:xfrm>
            <a:off x="1409700" y="4562475"/>
            <a:ext cx="7143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طفل واحد لكل أسرة، في الشهر</a:t>
            </a:r>
          </a:p>
        </p:txBody>
      </p:sp>
      <p:sp>
        <p:nvSpPr>
          <p:cNvPr id="891" name="Google Shape;891;p28"/>
          <p:cNvSpPr txBox="1">
            <a:spLocks noGrp="1"/>
          </p:cNvSpPr>
          <p:nvPr>
            <p:ph type="body" idx="7"/>
          </p:nvPr>
        </p:nvSpPr>
        <p:spPr>
          <a:xfrm>
            <a:off x="9696450" y="5905500"/>
            <a:ext cx="7143900" cy="2952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550"/>
              <a:buNone/>
            </a:pPr>
            <a:r>
              <a:rPr lang="ar-SA" sz="2200" b="0">
                <a:solidFill>
                  <a:srgbClr val="F2F4FF"/>
                </a:solidFill>
                <a:latin typeface="Readex Pro"/>
                <a:ea typeface="Readex Pro"/>
                <a:cs typeface="Readex Pro"/>
                <a:sym typeface="Readex Pro"/>
              </a:rPr>
              <a:t>2 إلى 4 جلسات لكل محكم (افتراض)</a:t>
            </a:r>
          </a:p>
          <a:p>
            <a:pPr marL="0" lvl="0" indent="0" algn="r" rtl="0">
              <a:lnSpc>
                <a:spcPct val="100000"/>
              </a:lnSpc>
              <a:spcBef>
                <a:spcPts val="0"/>
              </a:spcBef>
              <a:spcAft>
                <a:spcPts val="0"/>
              </a:spcAft>
              <a:buSzPts val="2550"/>
              <a:buNone/>
            </a:pPr>
            <a:endParaRPr lang="ar-SA" sz="220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200" b="0">
                <a:solidFill>
                  <a:srgbClr val="F2F4FF"/>
                </a:solidFill>
                <a:latin typeface="Readex Pro"/>
                <a:ea typeface="Readex Pro"/>
                <a:cs typeface="Readex Pro"/>
                <a:sym typeface="Readex Pro"/>
              </a:rPr>
              <a:t>60 إلى 120 جلسة</a:t>
            </a:r>
          </a:p>
          <a:p>
            <a:pPr marL="0" lvl="0" indent="0" algn="r" rtl="0">
              <a:lnSpc>
                <a:spcPct val="100000"/>
              </a:lnSpc>
              <a:spcBef>
                <a:spcPts val="0"/>
              </a:spcBef>
              <a:spcAft>
                <a:spcPts val="0"/>
              </a:spcAft>
              <a:buSzPts val="2550"/>
              <a:buNone/>
            </a:pPr>
            <a:endParaRPr lang="ar-SA" sz="220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1">
                <a:solidFill>
                  <a:srgbClr val="2EF2C2"/>
                </a:solidFill>
                <a:latin typeface="Readex Pro"/>
                <a:ea typeface="Readex Pro"/>
                <a:cs typeface="Readex Pro"/>
                <a:sym typeface="Readex Pro"/>
              </a:rPr>
              <a:t>3 إلى 34 دولارا للفترة كلها</a:t>
            </a:r>
          </a:p>
        </p:txBody>
      </p:sp>
      <p:sp>
        <p:nvSpPr>
          <p:cNvPr id="892" name="Google Shape;892;p28"/>
          <p:cNvSpPr txBox="1">
            <a:spLocks noGrp="1"/>
          </p:cNvSpPr>
          <p:nvPr>
            <p:ph type="body" idx="8"/>
          </p:nvPr>
        </p:nvSpPr>
        <p:spPr>
          <a:xfrm>
            <a:off x="1409700" y="5905500"/>
            <a:ext cx="7143900" cy="2952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550"/>
              <a:buNone/>
            </a:pPr>
            <a:r>
              <a:rPr lang="ar-SA" sz="2200" b="0">
                <a:solidFill>
                  <a:srgbClr val="F2F4FF"/>
                </a:solidFill>
                <a:latin typeface="Readex Pro"/>
                <a:ea typeface="Readex Pro"/>
                <a:cs typeface="Readex Pro"/>
                <a:sym typeface="Readex Pro"/>
              </a:rPr>
              <a:t>12 إلى 20 جلسة لكل طفل في الشهر (افتراض)</a:t>
            </a:r>
          </a:p>
          <a:p>
            <a:pPr marL="0" lvl="0" indent="0" algn="r" rtl="0">
              <a:lnSpc>
                <a:spcPct val="100000"/>
              </a:lnSpc>
              <a:spcBef>
                <a:spcPts val="0"/>
              </a:spcBef>
              <a:spcAft>
                <a:spcPts val="0"/>
              </a:spcAft>
              <a:buSzPts val="2550"/>
              <a:buNone/>
            </a:pPr>
            <a:endParaRPr lang="ar-SA" sz="220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200" b="0">
                <a:solidFill>
                  <a:srgbClr val="F2F4FF"/>
                </a:solidFill>
                <a:latin typeface="Readex Pro"/>
                <a:ea typeface="Readex Pro"/>
                <a:cs typeface="Readex Pro"/>
                <a:sym typeface="Readex Pro"/>
              </a:rPr>
              <a:t>1,200 إلى 2,000 جلسة</a:t>
            </a:r>
          </a:p>
          <a:p>
            <a:pPr marL="0" lvl="0" indent="0" algn="r" rtl="0">
              <a:lnSpc>
                <a:spcPct val="100000"/>
              </a:lnSpc>
              <a:spcBef>
                <a:spcPts val="0"/>
              </a:spcBef>
              <a:spcAft>
                <a:spcPts val="0"/>
              </a:spcAft>
              <a:buSzPts val="2550"/>
              <a:buNone/>
            </a:pPr>
            <a:endParaRPr lang="ar-SA" sz="220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1">
                <a:solidFill>
                  <a:srgbClr val="2EF2C2"/>
                </a:solidFill>
                <a:latin typeface="Readex Pro"/>
                <a:ea typeface="Readex Pro"/>
                <a:cs typeface="Readex Pro"/>
                <a:sym typeface="Readex Pro"/>
              </a:rPr>
              <a:t>60 إلى 570 دولارا في الشهر</a:t>
            </a:r>
          </a:p>
        </p:txBody>
      </p:sp>
      <p:sp>
        <p:nvSpPr>
          <p:cNvPr id="893" name="TextBox 892"/>
          <p:cNvSpPr txBox="1"/>
          <p:nvPr/>
        </p:nvSpPr>
        <p:spPr>
          <a:xfrm>
            <a:off x="1408176" y="7589520"/>
            <a:ext cx="15435072" cy="1920240"/>
          </a:xfrm>
          <a:prstGeom prst="rect">
            <a:avLst/>
          </a:prstGeom>
          <a:noFill/>
        </p:spPr>
        <p:txBody>
          <a:bodyPr wrap="square" lIns="0" tIns="0" rIns="0" bIns="0" anchor="t">
            <a:spAutoFit/>
          </a:bodyPr>
          <a:lstStyle/>
          <a:p>
            <a:pPr algn="r" rtl="1">
              <a:spcBef>
                <a:spcPts val="300"/>
              </a:spcBef>
            </a:pPr>
            <a:r>
              <a:rPr lang="ar-SA" sz="2000" b="1">
                <a:solidFill>
                  <a:srgbClr val="2EF2C2"/>
                </a:solidFill>
                <a:latin typeface="Readex Pro"/>
                <a:ea typeface="Readex Pro"/>
                <a:cs typeface="Readex Pro"/>
                <a:sym typeface="Readex Pro"/>
              </a:rPr>
              <a:t>الافتراضات، وما لم يدخل في التقدير</a:t>
            </a:r>
          </a:p>
          <a:p>
            <a:pPr algn="r" rtl="1">
              <a:spcBef>
                <a:spcPts val="300"/>
              </a:spcBef>
            </a:pPr>
            <a:r>
              <a:rPr lang="ar-SA" sz="1800" b="0">
                <a:solidFill>
                  <a:srgbClr val="CBCFE6"/>
                </a:solidFill>
                <a:latin typeface="Readex Pro"/>
                <a:ea typeface="Readex Pro"/>
                <a:cs typeface="Readex Pro"/>
                <a:sym typeface="Readex Pro"/>
              </a:rPr>
              <a:t>الجلسة القصيرة 1.5 دقيقة، والكاملة 5 دقائق بنحو 10 أسئلة، وهي حد العرض · قد تطول جلسات الأسر، والتقدير يفترض الحد نفسه</a:t>
            </a:r>
          </a:p>
          <a:p>
            <a:pPr algn="r" rtl="1">
              <a:spcBef>
                <a:spcPts val="300"/>
              </a:spcBef>
            </a:pPr>
            <a:r>
              <a:rPr lang="ar-SA" sz="1800" b="0">
                <a:solidFill>
                  <a:srgbClr val="CBCFE6"/>
                </a:solidFill>
                <a:latin typeface="Readex Pro"/>
                <a:ea typeface="Readex Pro"/>
                <a:cs typeface="Readex Pro"/>
                <a:sym typeface="Readex Pro"/>
              </a:rPr>
              <a:t>رموز النموذج: متوسط تشغيل التقييم مع المحكم، حدا أعلى للاستدعاء · رموز التقارير لم تقس · لا خصم على المدخلات المخزنة مؤقتا</a:t>
            </a:r>
          </a:p>
          <a:p>
            <a:pPr algn="r" rtl="1">
              <a:spcBef>
                <a:spcPts val="300"/>
              </a:spcBef>
            </a:pPr>
            <a:r>
              <a:rPr lang="ar-SA" sz="1800" b="0">
                <a:solidFill>
                  <a:srgbClr val="CBCFE6"/>
                </a:solidFill>
                <a:latin typeface="Readex Pro"/>
                <a:ea typeface="Readex Pro"/>
                <a:cs typeface="Readex Pro"/>
                <a:sym typeface="Readex Pro"/>
              </a:rPr>
              <a:t>نفترض أن LiveKit يحسب وكيلنا مشاركا لأنه يعمل على خادمنا، والحد الأعلى يضيف دقائق جلسة الوكيل احتياطا</a:t>
            </a:r>
          </a:p>
          <a:p>
            <a:pPr algn="r" rtl="1">
              <a:spcBef>
                <a:spcPts val="300"/>
              </a:spcBef>
            </a:pPr>
            <a:r>
              <a:rPr lang="ar-SA" sz="1800" b="0">
                <a:solidFill>
                  <a:srgbClr val="CBCFE6"/>
                </a:solidFill>
                <a:latin typeface="Readex Pro"/>
                <a:ea typeface="Readex Pro"/>
                <a:cs typeface="Readex Pro"/>
                <a:sym typeface="Readex Pro"/>
              </a:rPr>
              <a:t>خارج التقدير: الخادم، ورسوم الباقات: LiveKit Build مجانية وShip من 50 دولارا شهريا، وElevenLabs من 6 دولارات</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1" name="Google Shape;881;p28" title="خلفية هكثون4.png"/>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3">
            <a:alphaModFix/>
          </a:blip>
          <a:srcRect/>
          <a:stretch/>
        </p:blipFill>
        <p:spPr>
          <a:xfrm>
            <a:off x="1066800" y="693967"/>
            <a:ext cx="3429002" cy="879015"/>
          </a:xfrm>
          <a:prstGeom prst="rect">
            <a:avLst/>
          </a:prstGeom>
          <a:noFill/>
          <a:ln>
            <a:noFill/>
          </a:ln>
        </p:spPr>
      </p:pic>
      <p:sp>
        <p:nvSpPr>
          <p:cNvPr id="883" name="Google Shape;883;p28"/>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الإفصاح</a:t>
            </a:r>
          </a:p>
        </p:txBody>
      </p:sp>
      <p:sp>
        <p:nvSpPr>
          <p:cNvPr id="884" name="Google Shape;884;p28"/>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ما كان موجودا، وما بنيناه في التحدي</a:t>
            </a:r>
          </a:p>
        </p:txBody>
      </p:sp>
      <p:sp>
        <p:nvSpPr>
          <p:cNvPr id="885" name="Google Shape;885;p28"/>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الإفصاح عن العمل السابق كما يطلب دليل المشاركين، وكل تغيير في سجل git بتاريخه</a:t>
            </a:r>
          </a:p>
        </p:txBody>
      </p:sp>
      <p:sp>
        <p:nvSpPr>
          <p:cNvPr id="886" name="Google Shape;886;p2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40</a:t>
            </a:fld>
            <a:endParaRPr/>
          </a:p>
        </p:txBody>
      </p:sp>
      <p:sp>
        <p:nvSpPr>
          <p:cNvPr id="887" name="Google Shape;887;p28"/>
          <p:cNvSpPr txBox="1">
            <a:spLocks noGrp="1"/>
          </p:cNvSpPr>
          <p:nvPr>
            <p:ph type="body" idx="3"/>
          </p:nvPr>
        </p:nvSpPr>
        <p:spPr>
          <a:xfrm>
            <a:off x="9696450" y="3857625"/>
            <a:ext cx="714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قبل التحدي</a:t>
            </a:r>
          </a:p>
        </p:txBody>
      </p:sp>
      <p:sp>
        <p:nvSpPr>
          <p:cNvPr id="888" name="Google Shape;888;p28"/>
          <p:cNvSpPr txBox="1">
            <a:spLocks noGrp="1"/>
          </p:cNvSpPr>
          <p:nvPr>
            <p:ph type="body" idx="4"/>
          </p:nvPr>
        </p:nvSpPr>
        <p:spPr>
          <a:xfrm>
            <a:off x="9696450" y="4562475"/>
            <a:ext cx="7143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مشروع تخرج سابق، معلن في DISCLOSURE.md</a:t>
            </a:r>
          </a:p>
        </p:txBody>
      </p:sp>
      <p:sp>
        <p:nvSpPr>
          <p:cNvPr id="889" name="Google Shape;889;p28"/>
          <p:cNvSpPr txBox="1">
            <a:spLocks noGrp="1"/>
          </p:cNvSpPr>
          <p:nvPr>
            <p:ph type="body" idx="5"/>
          </p:nvPr>
        </p:nvSpPr>
        <p:spPr>
          <a:xfrm>
            <a:off x="1409700" y="3857625"/>
            <a:ext cx="714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خلال 4 إلى 6 أكتوبر</a:t>
            </a:r>
          </a:p>
        </p:txBody>
      </p:sp>
      <p:sp>
        <p:nvSpPr>
          <p:cNvPr id="890" name="Google Shape;890;p28"/>
          <p:cNvSpPr txBox="1">
            <a:spLocks noGrp="1"/>
          </p:cNvSpPr>
          <p:nvPr>
            <p:ph type="body" idx="6"/>
          </p:nvPr>
        </p:nvSpPr>
        <p:spPr>
          <a:xfrm>
            <a:off x="1409700" y="4562475"/>
            <a:ext cx="7143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العمل الذي يحكم عليه</a:t>
            </a:r>
          </a:p>
        </p:txBody>
      </p:sp>
      <p:sp>
        <p:nvSpPr>
          <p:cNvPr id="891" name="Google Shape;891;p28"/>
          <p:cNvSpPr txBox="1">
            <a:spLocks noGrp="1"/>
          </p:cNvSpPr>
          <p:nvPr>
            <p:ph type="body" idx="7"/>
          </p:nvPr>
        </p:nvSpPr>
        <p:spPr>
          <a:xfrm>
            <a:off x="9696450" y="5905500"/>
            <a:ext cx="7143900" cy="2952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تطبيق ويب وخادم Django، والجوال قيد التطوير</a:t>
            </a:r>
          </a:p>
          <a:p>
            <a:pPr marL="0" lvl="0" indent="0" algn="r" rtl="0">
              <a:lnSpc>
                <a:spcPct val="100000"/>
              </a:lnSpc>
              <a:spcBef>
                <a:spcPts val="0"/>
              </a:spcBef>
              <a:spcAft>
                <a:spcPts val="0"/>
              </a:spcAft>
              <a:buSzPts val="2550"/>
              <a:buNone/>
            </a:pPr>
            <a:endParaRPr lang="ar-SA" sz="255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وكيل صوتي بصوت xAI، وشخصية ثلاثية الأبعاد</a:t>
            </a:r>
          </a:p>
          <a:p>
            <a:pPr marL="0" lvl="0" indent="0" algn="r" rtl="0">
              <a:lnSpc>
                <a:spcPct val="100000"/>
              </a:lnSpc>
              <a:spcBef>
                <a:spcPts val="0"/>
              </a:spcBef>
              <a:spcAft>
                <a:spcPts val="0"/>
              </a:spcAft>
              <a:buSzPts val="2550"/>
              <a:buNone/>
            </a:pPr>
            <a:endParaRPr lang="ar-SA" sz="255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6 موضوعات أخلاقية و19 مرجعا نصيا بلا رابط</a:t>
            </a:r>
          </a:p>
        </p:txBody>
      </p:sp>
      <p:sp>
        <p:nvSpPr>
          <p:cNvPr id="892" name="Google Shape;892;p28"/>
          <p:cNvSpPr txBox="1">
            <a:spLocks noGrp="1"/>
          </p:cNvSpPr>
          <p:nvPr>
            <p:ph type="body" idx="8"/>
          </p:nvPr>
        </p:nvSpPr>
        <p:spPr>
          <a:xfrm>
            <a:off x="1409700" y="5905500"/>
            <a:ext cx="7143900" cy="2952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بنك 273 عنصرا مراجعا و38 قيمة</a:t>
            </a:r>
          </a:p>
          <a:p>
            <a:pPr marL="0" lvl="0" indent="0" algn="r" rtl="0">
              <a:lnSpc>
                <a:spcPct val="100000"/>
              </a:lnSpc>
              <a:spcBef>
                <a:spcPts val="0"/>
              </a:spcBef>
              <a:spcAft>
                <a:spcPts val="0"/>
              </a:spcAft>
              <a:buSzPts val="2550"/>
              <a:buNone/>
            </a:pPr>
            <a:endParaRPr lang="ar-SA" sz="255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سياسة الدور والحراس وبطاقات المصادر</a:t>
            </a:r>
          </a:p>
          <a:p>
            <a:pPr marL="0" lvl="0" indent="0" algn="r" rtl="0">
              <a:lnSpc>
                <a:spcPct val="100000"/>
              </a:lnSpc>
              <a:spcBef>
                <a:spcPts val="0"/>
              </a:spcBef>
              <a:spcAft>
                <a:spcPts val="0"/>
              </a:spcAft>
              <a:buSzPts val="2550"/>
              <a:buNone/>
            </a:pPr>
            <a:endParaRPr lang="ar-SA" sz="255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صوت ElevenLabs ومزامنة الشفاه والتقييم</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
        <p:cNvGrpSpPr/>
        <p:nvPr/>
      </p:nvGrpSpPr>
      <p:grpSpPr>
        <a:xfrm>
          <a:off x="0" y="0"/>
          <a:ext cx="0" cy="0"/>
          <a:chOff x="0" y="0"/>
          <a:chExt cx="0" cy="0"/>
        </a:xfrm>
      </p:grpSpPr>
      <p:pic>
        <p:nvPicPr>
          <p:cNvPr id="650" name="Google Shape;650;p18"/>
          <p:cNvPicPr preferRelativeResize="0"/>
          <p:nvPr/>
        </p:nvPicPr>
        <p:blipFill rotWithShape="1">
          <a:blip r:embed="rId2">
            <a:alphaModFix/>
          </a:blip>
          <a:srcRect/>
          <a:stretch/>
        </p:blipFill>
        <p:spPr>
          <a:xfrm>
            <a:off x="-19050" y="0"/>
            <a:ext cx="18288000" cy="10287000"/>
          </a:xfrm>
          <a:prstGeom prst="rect">
            <a:avLst/>
          </a:prstGeom>
          <a:noFill/>
          <a:ln>
            <a:noFill/>
          </a:ln>
        </p:spPr>
      </p:pic>
      <p:sp>
        <p:nvSpPr>
          <p:cNvPr id="651" name="Google Shape;651;p1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41</a:t>
            </a:fld>
            <a:endParaRPr/>
          </a:p>
        </p:txBody>
      </p:sp>
      <p:sp>
        <p:nvSpPr>
          <p:cNvPr id="652" name="Google Shape;652;p18"/>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ملحق · خارطة الطريق</a:t>
            </a:r>
          </a:p>
        </p:txBody>
      </p:sp>
      <p:sp>
        <p:nvSpPr>
          <p:cNvPr id="653" name="Google Shape;653;p18"/>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خارطة الطريق</a:t>
            </a:r>
          </a:p>
        </p:txBody>
      </p:sp>
      <p:sp>
        <p:nvSpPr>
          <p:cNvPr id="654" name="Google Shape;654;p18"/>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ما أنجز، وما نقترحه بعد التحدي</a:t>
            </a:r>
          </a:p>
        </p:txBody>
      </p:sp>
      <p:sp>
        <p:nvSpPr>
          <p:cNvPr id="655" name="Google Shape;655;p18"/>
          <p:cNvSpPr txBox="1">
            <a:spLocks noGrp="1"/>
          </p:cNvSpPr>
          <p:nvPr>
            <p:ph type="body" idx="3"/>
          </p:nvPr>
        </p:nvSpPr>
        <p:spPr>
          <a:xfrm>
            <a:off x="139827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01</a:t>
            </a:r>
          </a:p>
        </p:txBody>
      </p:sp>
      <p:sp>
        <p:nvSpPr>
          <p:cNvPr id="656" name="Google Shape;656;p18"/>
          <p:cNvSpPr txBox="1">
            <a:spLocks noGrp="1"/>
          </p:cNvSpPr>
          <p:nvPr>
            <p:ph type="body" idx="4"/>
          </p:nvPr>
        </p:nvSpPr>
        <p:spPr>
          <a:xfrm>
            <a:off x="139827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مشروع التخرج</a:t>
            </a:r>
          </a:p>
        </p:txBody>
      </p:sp>
      <p:sp>
        <p:nvSpPr>
          <p:cNvPr id="657" name="Google Shape;657;p18"/>
          <p:cNvSpPr txBox="1">
            <a:spLocks noGrp="1"/>
          </p:cNvSpPr>
          <p:nvPr>
            <p:ph type="body" idx="5"/>
          </p:nvPr>
        </p:nvSpPr>
        <p:spPr>
          <a:xfrm>
            <a:off x="139827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قبل 4 أكتوبر</a:t>
            </a:r>
          </a:p>
        </p:txBody>
      </p:sp>
      <p:sp>
        <p:nvSpPr>
          <p:cNvPr id="658" name="Google Shape;658;p18"/>
          <p:cNvSpPr txBox="1">
            <a:spLocks noGrp="1"/>
          </p:cNvSpPr>
          <p:nvPr>
            <p:ph type="body" idx="6"/>
          </p:nvPr>
        </p:nvSpPr>
        <p:spPr>
          <a:xfrm>
            <a:off x="139827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تطبيق لقيمة الصدق بالصوت والشخصية</a:t>
            </a:r>
          </a:p>
        </p:txBody>
      </p:sp>
      <p:sp>
        <p:nvSpPr>
          <p:cNvPr id="659" name="Google Shape;659;p18"/>
          <p:cNvSpPr txBox="1">
            <a:spLocks noGrp="1"/>
          </p:cNvSpPr>
          <p:nvPr>
            <p:ph type="body" idx="7"/>
          </p:nvPr>
        </p:nvSpPr>
        <p:spPr>
          <a:xfrm>
            <a:off x="1083945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02</a:t>
            </a:r>
          </a:p>
        </p:txBody>
      </p:sp>
      <p:sp>
        <p:nvSpPr>
          <p:cNvPr id="660" name="Google Shape;660;p18"/>
          <p:cNvSpPr txBox="1">
            <a:spLocks noGrp="1"/>
          </p:cNvSpPr>
          <p:nvPr>
            <p:ph type="body" idx="8"/>
          </p:nvPr>
        </p:nvSpPr>
        <p:spPr>
          <a:xfrm>
            <a:off x="1083945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التحدي</a:t>
            </a:r>
          </a:p>
        </p:txBody>
      </p:sp>
      <p:sp>
        <p:nvSpPr>
          <p:cNvPr id="661" name="Google Shape;661;p18"/>
          <p:cNvSpPr txBox="1">
            <a:spLocks noGrp="1"/>
          </p:cNvSpPr>
          <p:nvPr>
            <p:ph type="body" idx="9"/>
          </p:nvPr>
        </p:nvSpPr>
        <p:spPr>
          <a:xfrm>
            <a:off x="1083945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4 إلى 6 أكتوبر</a:t>
            </a:r>
          </a:p>
        </p:txBody>
      </p:sp>
      <p:sp>
        <p:nvSpPr>
          <p:cNvPr id="662" name="Google Shape;662;p18"/>
          <p:cNvSpPr txBox="1">
            <a:spLocks noGrp="1"/>
          </p:cNvSpPr>
          <p:nvPr>
            <p:ph type="body" idx="13"/>
          </p:nvPr>
        </p:nvSpPr>
        <p:spPr>
          <a:xfrm>
            <a:off x="1083945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273 عنصرا مراجعا، وبطاقات، وصوت جديد</a:t>
            </a:r>
          </a:p>
        </p:txBody>
      </p:sp>
      <p:sp>
        <p:nvSpPr>
          <p:cNvPr id="663" name="Google Shape;663;p18"/>
          <p:cNvSpPr txBox="1">
            <a:spLocks noGrp="1"/>
          </p:cNvSpPr>
          <p:nvPr>
            <p:ph type="body" idx="14"/>
          </p:nvPr>
        </p:nvSpPr>
        <p:spPr>
          <a:xfrm>
            <a:off x="76962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03</a:t>
            </a:r>
          </a:p>
        </p:txBody>
      </p:sp>
      <p:sp>
        <p:nvSpPr>
          <p:cNvPr id="664" name="Google Shape;664;p18"/>
          <p:cNvSpPr txBox="1">
            <a:spLocks noGrp="1"/>
          </p:cNvSpPr>
          <p:nvPr>
            <p:ph type="body" idx="15"/>
          </p:nvPr>
        </p:nvSpPr>
        <p:spPr>
          <a:xfrm>
            <a:off x="76962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التحكيم</a:t>
            </a:r>
          </a:p>
        </p:txBody>
      </p:sp>
      <p:sp>
        <p:nvSpPr>
          <p:cNvPr id="665" name="Google Shape;665;p18"/>
          <p:cNvSpPr txBox="1">
            <a:spLocks noGrp="1"/>
          </p:cNvSpPr>
          <p:nvPr>
            <p:ph type="body" idx="16"/>
          </p:nvPr>
        </p:nvSpPr>
        <p:spPr>
          <a:xfrm>
            <a:off x="76962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حتى 22 أكتوبر</a:t>
            </a:r>
          </a:p>
        </p:txBody>
      </p:sp>
      <p:sp>
        <p:nvSpPr>
          <p:cNvPr id="666" name="Google Shape;666;p18"/>
          <p:cNvSpPr txBox="1">
            <a:spLocks noGrp="1"/>
          </p:cNvSpPr>
          <p:nvPr>
            <p:ph type="body" idx="17"/>
          </p:nvPr>
        </p:nvSpPr>
        <p:spPr>
          <a:xfrm>
            <a:off x="76962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عرض حي مستقر، ومراقبة للإنفاق</a:t>
            </a:r>
          </a:p>
        </p:txBody>
      </p:sp>
      <p:sp>
        <p:nvSpPr>
          <p:cNvPr id="667" name="Google Shape;667;p18"/>
          <p:cNvSpPr txBox="1">
            <a:spLocks noGrp="1"/>
          </p:cNvSpPr>
          <p:nvPr>
            <p:ph type="body" idx="18"/>
          </p:nvPr>
        </p:nvSpPr>
        <p:spPr>
          <a:xfrm>
            <a:off x="455295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04</a:t>
            </a:r>
          </a:p>
        </p:txBody>
      </p:sp>
      <p:sp>
        <p:nvSpPr>
          <p:cNvPr id="668" name="Google Shape;668;p18"/>
          <p:cNvSpPr txBox="1">
            <a:spLocks noGrp="1"/>
          </p:cNvSpPr>
          <p:nvPr>
            <p:ph type="body" idx="19"/>
          </p:nvPr>
        </p:nvSpPr>
        <p:spPr>
          <a:xfrm>
            <a:off x="455295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تجربة الأسر</a:t>
            </a:r>
          </a:p>
        </p:txBody>
      </p:sp>
      <p:sp>
        <p:nvSpPr>
          <p:cNvPr id="669" name="Google Shape;669;p18"/>
          <p:cNvSpPr txBox="1">
            <a:spLocks noGrp="1"/>
          </p:cNvSpPr>
          <p:nvPr>
            <p:ph type="body" idx="20"/>
          </p:nvPr>
        </p:nvSpPr>
        <p:spPr>
          <a:xfrm>
            <a:off x="455295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مقترح</a:t>
            </a:r>
          </a:p>
        </p:txBody>
      </p:sp>
      <p:sp>
        <p:nvSpPr>
          <p:cNvPr id="670" name="Google Shape;670;p18"/>
          <p:cNvSpPr txBox="1">
            <a:spLocks noGrp="1"/>
          </p:cNvSpPr>
          <p:nvPr>
            <p:ph type="body" idx="21"/>
          </p:nvPr>
        </p:nvSpPr>
        <p:spPr>
          <a:xfrm>
            <a:off x="455295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تجربة مع أسر وشريك مراجعة علمي</a:t>
            </a:r>
          </a:p>
        </p:txBody>
      </p:sp>
      <p:sp>
        <p:nvSpPr>
          <p:cNvPr id="671" name="Google Shape;671;p18"/>
          <p:cNvSpPr txBox="1">
            <a:spLocks noGrp="1"/>
          </p:cNvSpPr>
          <p:nvPr>
            <p:ph type="body" idx="22"/>
          </p:nvPr>
        </p:nvSpPr>
        <p:spPr>
          <a:xfrm>
            <a:off x="14097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05</a:t>
            </a:r>
          </a:p>
        </p:txBody>
      </p:sp>
      <p:sp>
        <p:nvSpPr>
          <p:cNvPr id="672" name="Google Shape;672;p18"/>
          <p:cNvSpPr txBox="1">
            <a:spLocks noGrp="1"/>
          </p:cNvSpPr>
          <p:nvPr>
            <p:ph type="body" idx="23"/>
          </p:nvPr>
        </p:nvSpPr>
        <p:spPr>
          <a:xfrm>
            <a:off x="14097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التوسع</a:t>
            </a:r>
          </a:p>
        </p:txBody>
      </p:sp>
      <p:sp>
        <p:nvSpPr>
          <p:cNvPr id="673" name="Google Shape;673;p18"/>
          <p:cNvSpPr txBox="1">
            <a:spLocks noGrp="1"/>
          </p:cNvSpPr>
          <p:nvPr>
            <p:ph type="body" idx="24"/>
          </p:nvPr>
        </p:nvSpPr>
        <p:spPr>
          <a:xfrm>
            <a:off x="14097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مقترح</a:t>
            </a:r>
          </a:p>
        </p:txBody>
      </p:sp>
      <p:sp>
        <p:nvSpPr>
          <p:cNvPr id="674" name="Google Shape;674;p18"/>
          <p:cNvSpPr txBox="1">
            <a:spLocks noGrp="1"/>
          </p:cNvSpPr>
          <p:nvPr>
            <p:ph type="body" idx="25"/>
          </p:nvPr>
        </p:nvSpPr>
        <p:spPr>
          <a:xfrm>
            <a:off x="14097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قيم وتلاوات أكثر، وتطبيق جوال قيد التطوير</a:t>
            </a:r>
          </a:p>
        </p:txBody>
      </p:sp>
      <p:cxnSp>
        <p:nvCxnSpPr>
          <p:cNvPr id="675" name="Google Shape;675;p18"/>
          <p:cNvCxnSpPr/>
          <p:nvPr/>
        </p:nvCxnSpPr>
        <p:spPr>
          <a:xfrm rot="10800000">
            <a:off x="13992300" y="4708975"/>
            <a:ext cx="2838300" cy="0"/>
          </a:xfrm>
          <a:prstGeom prst="straightConnector1">
            <a:avLst/>
          </a:prstGeom>
          <a:noFill/>
          <a:ln w="76200" cap="flat" cmpd="sng">
            <a:solidFill>
              <a:srgbClr val="6150EA"/>
            </a:solidFill>
            <a:prstDash val="solid"/>
            <a:round/>
            <a:headEnd type="none" w="med" len="med"/>
            <a:tailEnd type="none" w="med" len="med"/>
          </a:ln>
        </p:spPr>
      </p:cxnSp>
      <p:pic>
        <p:nvPicPr>
          <p:cNvPr id="676" name="Google Shape;676;p18"/>
          <p:cNvPicPr preferRelativeResize="0"/>
          <p:nvPr/>
        </p:nvPicPr>
        <p:blipFill rotWithShape="1">
          <a:blip r:embed="rId3">
            <a:alphaModFix/>
          </a:blip>
          <a:srcRect/>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678" name="Google Shape;678;p18"/>
          <p:cNvCxnSpPr/>
          <p:nvPr/>
        </p:nvCxnSpPr>
        <p:spPr>
          <a:xfrm rot="10800000">
            <a:off x="76677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679" name="Google Shape;679;p18"/>
          <p:cNvCxnSpPr/>
          <p:nvPr/>
        </p:nvCxnSpPr>
        <p:spPr>
          <a:xfrm rot="10800000">
            <a:off x="45054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680" name="Google Shape;680;p18"/>
          <p:cNvCxnSpPr/>
          <p:nvPr/>
        </p:nvCxnSpPr>
        <p:spPr>
          <a:xfrm rot="10800000">
            <a:off x="1343100" y="4708975"/>
            <a:ext cx="2838300" cy="0"/>
          </a:xfrm>
          <a:prstGeom prst="straightConnector1">
            <a:avLst/>
          </a:prstGeom>
          <a:noFill/>
          <a:ln w="76200" cap="flat" cmpd="sng">
            <a:solidFill>
              <a:srgbClr val="6150EA"/>
            </a:solidFill>
            <a:prstDash val="solid"/>
            <a:round/>
            <a:headEnd type="none" w="med" len="med"/>
            <a:tailEnd type="none" w="med" len="med"/>
          </a:ln>
        </p:spPr>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83F"/>
        </a:solidFill>
        <a:effectLst/>
      </p:bgPr>
    </p:bg>
    <p:spTree>
      <p:nvGrpSpPr>
        <p:cNvPr id="1" name=""/>
        <p:cNvGrpSpPr/>
        <p:nvPr/>
      </p:nvGrpSpPr>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فهرس العرض</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المحتويات</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9">
            <a:alphaModFix/>
          </a:blip>
          <a:srcRect/>
          <a:stretch/>
        </p:blipFill>
        <p:spPr>
          <a:xfrm>
            <a:off x="1066800" y="693967"/>
            <a:ext cx="3429002" cy="879015"/>
          </a:xfrm>
          <a:prstGeom prst="rect">
            <a:avLst/>
          </a:prstGeom>
          <a:noFill/>
          <a:ln>
            <a:noFill/>
          </a:ln>
        </p:spPr>
      </p:pic>
      <p:sp>
        <p:nvSpPr>
          <p:cNvPr id="551" name="Rounded Rectangle 550"/>
          <p:cNvSpPr/>
          <p:nvPr/>
        </p:nvSpPr>
        <p:spPr>
          <a:xfrm>
            <a:off x="9400032" y="3072384"/>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52" name="Rounded Rectangle 551"/>
          <p:cNvSpPr/>
          <p:nvPr/>
        </p:nvSpPr>
        <p:spPr>
          <a:xfrm>
            <a:off x="16093440" y="3127248"/>
            <a:ext cx="566928" cy="457200"/>
          </a:xfrm>
          <a:prstGeom prst="roundRect">
            <a:avLst>
              <a:gd name="adj" fmla="val 50000"/>
            </a:avLst>
          </a:prstGeom>
          <a:solidFill>
            <a:srgbClr val="2EF2C2"/>
          </a:solidFill>
          <a:ln w="12700">
            <a:noFill/>
          </a:ln>
        </p:spPr>
        <p:txBody>
          <a:bodyPr rtlCol="0" anchor="ctr"/>
          <a:lstStyle/>
          <a:p/>
        </p:txBody>
      </p:sp>
      <p:sp>
        <p:nvSpPr>
          <p:cNvPr id="553" name="TextBox 552"/>
          <p:cNvSpPr txBox="1"/>
          <p:nvPr/>
        </p:nvSpPr>
        <p:spPr>
          <a:xfrm>
            <a:off x="16093440" y="3127248"/>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01</a:t>
            </a:r>
          </a:p>
        </p:txBody>
      </p:sp>
      <p:sp>
        <p:nvSpPr>
          <p:cNvPr id="554" name="TextBox 553"/>
          <p:cNvSpPr txBox="1"/>
          <p:nvPr/>
        </p:nvSpPr>
        <p:spPr>
          <a:xfrm>
            <a:off x="11228832" y="3017520"/>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المشكلة</a:t>
            </a:r>
          </a:p>
        </p:txBody>
      </p:sp>
      <p:sp>
        <p:nvSpPr>
          <p:cNvPr id="555" name="TextBox 554"/>
          <p:cNvSpPr txBox="1"/>
          <p:nvPr/>
        </p:nvSpPr>
        <p:spPr>
          <a:xfrm>
            <a:off x="9628632" y="3017520"/>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4</a:t>
            </a:r>
          </a:p>
        </p:txBody>
      </p:sp>
      <p:sp>
        <p:nvSpPr>
          <p:cNvPr id="556" name="Rounded Rectangle 555"/>
          <p:cNvSpPr/>
          <p:nvPr/>
        </p:nvSpPr>
        <p:spPr>
          <a:xfrm>
            <a:off x="9400032" y="3749040"/>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57" name="Rounded Rectangle 556"/>
          <p:cNvSpPr/>
          <p:nvPr/>
        </p:nvSpPr>
        <p:spPr>
          <a:xfrm>
            <a:off x="16093440" y="3803904"/>
            <a:ext cx="566928" cy="457200"/>
          </a:xfrm>
          <a:prstGeom prst="roundRect">
            <a:avLst>
              <a:gd name="adj" fmla="val 50000"/>
            </a:avLst>
          </a:prstGeom>
          <a:solidFill>
            <a:srgbClr val="2EF2C2"/>
          </a:solidFill>
          <a:ln w="12700">
            <a:noFill/>
          </a:ln>
        </p:spPr>
        <p:txBody>
          <a:bodyPr rtlCol="0" anchor="ctr"/>
          <a:lstStyle/>
          <a:p/>
        </p:txBody>
      </p:sp>
      <p:sp>
        <p:nvSpPr>
          <p:cNvPr id="558" name="TextBox 557"/>
          <p:cNvSpPr txBox="1"/>
          <p:nvPr/>
        </p:nvSpPr>
        <p:spPr>
          <a:xfrm>
            <a:off x="16093440" y="3803904"/>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02</a:t>
            </a:r>
          </a:p>
        </p:txBody>
      </p:sp>
      <p:sp>
        <p:nvSpPr>
          <p:cNvPr id="559" name="TextBox 558"/>
          <p:cNvSpPr txBox="1"/>
          <p:nvPr/>
        </p:nvSpPr>
        <p:spPr>
          <a:xfrm>
            <a:off x="11228832" y="3694176"/>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الحل والمقارنة</a:t>
            </a:r>
          </a:p>
        </p:txBody>
      </p:sp>
      <p:sp>
        <p:nvSpPr>
          <p:cNvPr id="560" name="TextBox 559"/>
          <p:cNvSpPr txBox="1"/>
          <p:nvPr/>
        </p:nvSpPr>
        <p:spPr>
          <a:xfrm>
            <a:off x="9628632" y="3694176"/>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الشرائح 5 إلى 7</a:t>
            </a:r>
          </a:p>
        </p:txBody>
      </p:sp>
      <p:sp>
        <p:nvSpPr>
          <p:cNvPr id="561" name="Rounded Rectangle 560"/>
          <p:cNvSpPr/>
          <p:nvPr/>
        </p:nvSpPr>
        <p:spPr>
          <a:xfrm>
            <a:off x="9400032" y="4425696"/>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62" name="Rounded Rectangle 561"/>
          <p:cNvSpPr/>
          <p:nvPr/>
        </p:nvSpPr>
        <p:spPr>
          <a:xfrm>
            <a:off x="16093440" y="4480560"/>
            <a:ext cx="566928" cy="457200"/>
          </a:xfrm>
          <a:prstGeom prst="roundRect">
            <a:avLst>
              <a:gd name="adj" fmla="val 50000"/>
            </a:avLst>
          </a:prstGeom>
          <a:solidFill>
            <a:srgbClr val="2EF2C2"/>
          </a:solidFill>
          <a:ln w="12700">
            <a:noFill/>
          </a:ln>
        </p:spPr>
        <p:txBody>
          <a:bodyPr rtlCol="0" anchor="ctr"/>
          <a:lstStyle/>
          <a:p/>
        </p:txBody>
      </p:sp>
      <p:sp>
        <p:nvSpPr>
          <p:cNvPr id="563" name="TextBox 562"/>
          <p:cNvSpPr txBox="1"/>
          <p:nvPr/>
        </p:nvSpPr>
        <p:spPr>
          <a:xfrm>
            <a:off x="16093440" y="4480560"/>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03</a:t>
            </a:r>
          </a:p>
        </p:txBody>
      </p:sp>
      <p:sp>
        <p:nvSpPr>
          <p:cNvPr id="564" name="TextBox 563"/>
          <p:cNvSpPr txBox="1"/>
          <p:nvPr/>
        </p:nvSpPr>
        <p:spPr>
          <a:xfrm>
            <a:off x="11228832" y="4370832"/>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تجربة الطفل</a:t>
            </a:r>
          </a:p>
        </p:txBody>
      </p:sp>
      <p:sp>
        <p:nvSpPr>
          <p:cNvPr id="565" name="TextBox 564"/>
          <p:cNvSpPr txBox="1"/>
          <p:nvPr/>
        </p:nvSpPr>
        <p:spPr>
          <a:xfrm>
            <a:off x="9628632" y="4370832"/>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الشرائح 8 و9</a:t>
            </a:r>
          </a:p>
        </p:txBody>
      </p:sp>
      <p:sp>
        <p:nvSpPr>
          <p:cNvPr id="566" name="Rounded Rectangle 565"/>
          <p:cNvSpPr/>
          <p:nvPr/>
        </p:nvSpPr>
        <p:spPr>
          <a:xfrm>
            <a:off x="9400032" y="5102352"/>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67" name="Rounded Rectangle 566"/>
          <p:cNvSpPr/>
          <p:nvPr/>
        </p:nvSpPr>
        <p:spPr>
          <a:xfrm>
            <a:off x="16093440" y="5157216"/>
            <a:ext cx="566928" cy="457200"/>
          </a:xfrm>
          <a:prstGeom prst="roundRect">
            <a:avLst>
              <a:gd name="adj" fmla="val 50000"/>
            </a:avLst>
          </a:prstGeom>
          <a:solidFill>
            <a:srgbClr val="2EF2C2"/>
          </a:solidFill>
          <a:ln w="12700">
            <a:noFill/>
          </a:ln>
        </p:spPr>
        <p:txBody>
          <a:bodyPr rtlCol="0" anchor="ctr"/>
          <a:lstStyle/>
          <a:p/>
        </p:txBody>
      </p:sp>
      <p:sp>
        <p:nvSpPr>
          <p:cNvPr id="568" name="TextBox 567"/>
          <p:cNvSpPr txBox="1"/>
          <p:nvPr/>
        </p:nvSpPr>
        <p:spPr>
          <a:xfrm>
            <a:off x="16093440" y="5157216"/>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04</a:t>
            </a:r>
          </a:p>
        </p:txBody>
      </p:sp>
      <p:sp>
        <p:nvSpPr>
          <p:cNvPr id="569" name="TextBox 568"/>
          <p:cNvSpPr txBox="1"/>
          <p:nvPr/>
        </p:nvSpPr>
        <p:spPr>
          <a:xfrm>
            <a:off x="11228832" y="5047488"/>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تجربة الوالدين والميزات</a:t>
            </a:r>
          </a:p>
        </p:txBody>
      </p:sp>
      <p:sp>
        <p:nvSpPr>
          <p:cNvPr id="570" name="TextBox 569"/>
          <p:cNvSpPr txBox="1"/>
          <p:nvPr/>
        </p:nvSpPr>
        <p:spPr>
          <a:xfrm>
            <a:off x="9628632" y="5047488"/>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الشرائح 10 و11</a:t>
            </a:r>
          </a:p>
        </p:txBody>
      </p:sp>
      <p:sp>
        <p:nvSpPr>
          <p:cNvPr id="571" name="Rounded Rectangle 570"/>
          <p:cNvSpPr/>
          <p:nvPr/>
        </p:nvSpPr>
        <p:spPr>
          <a:xfrm>
            <a:off x="9400032" y="5779008"/>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72" name="Rounded Rectangle 571"/>
          <p:cNvSpPr/>
          <p:nvPr/>
        </p:nvSpPr>
        <p:spPr>
          <a:xfrm>
            <a:off x="16093440" y="5833872"/>
            <a:ext cx="566928" cy="457200"/>
          </a:xfrm>
          <a:prstGeom prst="roundRect">
            <a:avLst>
              <a:gd name="adj" fmla="val 50000"/>
            </a:avLst>
          </a:prstGeom>
          <a:solidFill>
            <a:srgbClr val="2EF2C2"/>
          </a:solidFill>
          <a:ln w="12700">
            <a:noFill/>
          </a:ln>
        </p:spPr>
        <p:txBody>
          <a:bodyPr rtlCol="0" anchor="ctr"/>
          <a:lstStyle/>
          <a:p/>
        </p:txBody>
      </p:sp>
      <p:sp>
        <p:nvSpPr>
          <p:cNvPr id="573" name="TextBox 572"/>
          <p:cNvSpPr txBox="1"/>
          <p:nvPr/>
        </p:nvSpPr>
        <p:spPr>
          <a:xfrm>
            <a:off x="16093440" y="5833872"/>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05</a:t>
            </a:r>
          </a:p>
        </p:txBody>
      </p:sp>
      <p:sp>
        <p:nvSpPr>
          <p:cNvPr id="574" name="TextBox 573"/>
          <p:cNvSpPr txBox="1"/>
          <p:nvPr/>
        </p:nvSpPr>
        <p:spPr>
          <a:xfrm>
            <a:off x="11228832" y="5724144"/>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القيم</a:t>
            </a:r>
          </a:p>
        </p:txBody>
      </p:sp>
      <p:sp>
        <p:nvSpPr>
          <p:cNvPr id="575" name="TextBox 574"/>
          <p:cNvSpPr txBox="1"/>
          <p:nvPr/>
        </p:nvSpPr>
        <p:spPr>
          <a:xfrm>
            <a:off x="9628632" y="5724144"/>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12</a:t>
            </a:r>
          </a:p>
        </p:txBody>
      </p:sp>
      <p:sp>
        <p:nvSpPr>
          <p:cNvPr id="576" name="Rounded Rectangle 575"/>
          <p:cNvSpPr/>
          <p:nvPr/>
        </p:nvSpPr>
        <p:spPr>
          <a:xfrm>
            <a:off x="9400032" y="6455664"/>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77" name="Rounded Rectangle 576"/>
          <p:cNvSpPr/>
          <p:nvPr/>
        </p:nvSpPr>
        <p:spPr>
          <a:xfrm>
            <a:off x="16093440" y="6510528"/>
            <a:ext cx="566928" cy="457200"/>
          </a:xfrm>
          <a:prstGeom prst="roundRect">
            <a:avLst>
              <a:gd name="adj" fmla="val 50000"/>
            </a:avLst>
          </a:prstGeom>
          <a:solidFill>
            <a:srgbClr val="2EF2C2"/>
          </a:solidFill>
          <a:ln w="12700">
            <a:noFill/>
          </a:ln>
        </p:spPr>
        <p:txBody>
          <a:bodyPr rtlCol="0" anchor="ctr"/>
          <a:lstStyle/>
          <a:p/>
        </p:txBody>
      </p:sp>
      <p:sp>
        <p:nvSpPr>
          <p:cNvPr id="578" name="TextBox 577"/>
          <p:cNvSpPr txBox="1"/>
          <p:nvPr/>
        </p:nvSpPr>
        <p:spPr>
          <a:xfrm>
            <a:off x="16093440" y="6510528"/>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06</a:t>
            </a:r>
          </a:p>
        </p:txBody>
      </p:sp>
      <p:sp>
        <p:nvSpPr>
          <p:cNvPr id="579" name="TextBox 578"/>
          <p:cNvSpPr txBox="1"/>
          <p:nvPr/>
        </p:nvSpPr>
        <p:spPr>
          <a:xfrm>
            <a:off x="11228832" y="6400800"/>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مصادر موثوقة</a:t>
            </a:r>
          </a:p>
        </p:txBody>
      </p:sp>
      <p:sp>
        <p:nvSpPr>
          <p:cNvPr id="580" name="TextBox 579"/>
          <p:cNvSpPr txBox="1"/>
          <p:nvPr/>
        </p:nvSpPr>
        <p:spPr>
          <a:xfrm>
            <a:off x="9628632" y="6400800"/>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الشرائح 13 و14</a:t>
            </a:r>
          </a:p>
        </p:txBody>
      </p:sp>
      <p:sp>
        <p:nvSpPr>
          <p:cNvPr id="581" name="Rounded Rectangle 580"/>
          <p:cNvSpPr/>
          <p:nvPr/>
        </p:nvSpPr>
        <p:spPr>
          <a:xfrm>
            <a:off x="9400032" y="7132320"/>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82" name="Rounded Rectangle 581"/>
          <p:cNvSpPr/>
          <p:nvPr/>
        </p:nvSpPr>
        <p:spPr>
          <a:xfrm>
            <a:off x="16093440" y="7187184"/>
            <a:ext cx="566928" cy="457200"/>
          </a:xfrm>
          <a:prstGeom prst="roundRect">
            <a:avLst>
              <a:gd name="adj" fmla="val 50000"/>
            </a:avLst>
          </a:prstGeom>
          <a:solidFill>
            <a:srgbClr val="2EF2C2"/>
          </a:solidFill>
          <a:ln w="12700">
            <a:noFill/>
          </a:ln>
        </p:spPr>
        <p:txBody>
          <a:bodyPr rtlCol="0" anchor="ctr"/>
          <a:lstStyle/>
          <a:p/>
        </p:txBody>
      </p:sp>
      <p:sp>
        <p:nvSpPr>
          <p:cNvPr id="583" name="TextBox 582"/>
          <p:cNvSpPr txBox="1"/>
          <p:nvPr/>
        </p:nvSpPr>
        <p:spPr>
          <a:xfrm>
            <a:off x="16093440" y="7187184"/>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07</a:t>
            </a:r>
          </a:p>
        </p:txBody>
      </p:sp>
      <p:sp>
        <p:nvSpPr>
          <p:cNvPr id="584" name="TextBox 583"/>
          <p:cNvSpPr txBox="1"/>
          <p:nvPr/>
        </p:nvSpPr>
        <p:spPr>
          <a:xfrm>
            <a:off x="11228832" y="7077456"/>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كيف يعمل والتقنية</a:t>
            </a:r>
          </a:p>
        </p:txBody>
      </p:sp>
      <p:sp>
        <p:nvSpPr>
          <p:cNvPr id="585" name="TextBox 584"/>
          <p:cNvSpPr txBox="1"/>
          <p:nvPr/>
        </p:nvSpPr>
        <p:spPr>
          <a:xfrm>
            <a:off x="9628632" y="7077456"/>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الشرائح 15 و16</a:t>
            </a:r>
          </a:p>
        </p:txBody>
      </p:sp>
      <p:sp>
        <p:nvSpPr>
          <p:cNvPr id="586" name="Rounded Rectangle 585"/>
          <p:cNvSpPr/>
          <p:nvPr/>
        </p:nvSpPr>
        <p:spPr>
          <a:xfrm>
            <a:off x="9400032" y="7808976"/>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87" name="Rounded Rectangle 586"/>
          <p:cNvSpPr/>
          <p:nvPr/>
        </p:nvSpPr>
        <p:spPr>
          <a:xfrm>
            <a:off x="16093440" y="7863840"/>
            <a:ext cx="566928" cy="457200"/>
          </a:xfrm>
          <a:prstGeom prst="roundRect">
            <a:avLst>
              <a:gd name="adj" fmla="val 50000"/>
            </a:avLst>
          </a:prstGeom>
          <a:solidFill>
            <a:srgbClr val="2EF2C2"/>
          </a:solidFill>
          <a:ln w="12700">
            <a:noFill/>
          </a:ln>
        </p:spPr>
        <p:txBody>
          <a:bodyPr rtlCol="0" anchor="ctr"/>
          <a:lstStyle/>
          <a:p/>
        </p:txBody>
      </p:sp>
      <p:sp>
        <p:nvSpPr>
          <p:cNvPr id="588" name="TextBox 587"/>
          <p:cNvSpPr txBox="1"/>
          <p:nvPr/>
        </p:nvSpPr>
        <p:spPr>
          <a:xfrm>
            <a:off x="16093440" y="7863840"/>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08</a:t>
            </a:r>
          </a:p>
        </p:txBody>
      </p:sp>
      <p:sp>
        <p:nvSpPr>
          <p:cNvPr id="589" name="TextBox 588"/>
          <p:cNvSpPr txBox="1"/>
          <p:nvPr/>
        </p:nvSpPr>
        <p:spPr>
          <a:xfrm>
            <a:off x="11228832" y="7754112"/>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السلامة</a:t>
            </a:r>
          </a:p>
        </p:txBody>
      </p:sp>
      <p:sp>
        <p:nvSpPr>
          <p:cNvPr id="590" name="TextBox 589"/>
          <p:cNvSpPr txBox="1"/>
          <p:nvPr/>
        </p:nvSpPr>
        <p:spPr>
          <a:xfrm>
            <a:off x="9628632" y="7754112"/>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17</a:t>
            </a:r>
          </a:p>
        </p:txBody>
      </p:sp>
      <p:sp>
        <p:nvSpPr>
          <p:cNvPr id="591" name="Rounded Rectangle 590"/>
          <p:cNvSpPr/>
          <p:nvPr/>
        </p:nvSpPr>
        <p:spPr>
          <a:xfrm>
            <a:off x="1408176" y="3072384"/>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92" name="Rounded Rectangle 591"/>
          <p:cNvSpPr/>
          <p:nvPr/>
        </p:nvSpPr>
        <p:spPr>
          <a:xfrm>
            <a:off x="8101584" y="3127248"/>
            <a:ext cx="566928" cy="457200"/>
          </a:xfrm>
          <a:prstGeom prst="roundRect">
            <a:avLst>
              <a:gd name="adj" fmla="val 50000"/>
            </a:avLst>
          </a:prstGeom>
          <a:solidFill>
            <a:srgbClr val="2EF2C2"/>
          </a:solidFill>
          <a:ln w="12700">
            <a:noFill/>
          </a:ln>
        </p:spPr>
        <p:txBody>
          <a:bodyPr rtlCol="0" anchor="ctr"/>
          <a:lstStyle/>
          <a:p/>
        </p:txBody>
      </p:sp>
      <p:sp>
        <p:nvSpPr>
          <p:cNvPr id="593" name="TextBox 592"/>
          <p:cNvSpPr txBox="1"/>
          <p:nvPr/>
        </p:nvSpPr>
        <p:spPr>
          <a:xfrm>
            <a:off x="8101584" y="3127248"/>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09</a:t>
            </a:r>
          </a:p>
        </p:txBody>
      </p:sp>
      <p:sp>
        <p:nvSpPr>
          <p:cNvPr id="594" name="TextBox 593"/>
          <p:cNvSpPr txBox="1"/>
          <p:nvPr/>
        </p:nvSpPr>
        <p:spPr>
          <a:xfrm>
            <a:off x="3236976" y="3017520"/>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النتائج والأثر المتوقع</a:t>
            </a:r>
          </a:p>
        </p:txBody>
      </p:sp>
      <p:sp>
        <p:nvSpPr>
          <p:cNvPr id="595" name="TextBox 594"/>
          <p:cNvSpPr txBox="1"/>
          <p:nvPr/>
        </p:nvSpPr>
        <p:spPr>
          <a:xfrm>
            <a:off x="1636776" y="3017520"/>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الشرائح 18 و19</a:t>
            </a:r>
          </a:p>
        </p:txBody>
      </p:sp>
      <p:sp>
        <p:nvSpPr>
          <p:cNvPr id="596" name="Rounded Rectangle 595"/>
          <p:cNvSpPr/>
          <p:nvPr/>
        </p:nvSpPr>
        <p:spPr>
          <a:xfrm>
            <a:off x="1408176" y="3749040"/>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597" name="Rounded Rectangle 596"/>
          <p:cNvSpPr/>
          <p:nvPr/>
        </p:nvSpPr>
        <p:spPr>
          <a:xfrm>
            <a:off x="8101584" y="3803904"/>
            <a:ext cx="566928" cy="457200"/>
          </a:xfrm>
          <a:prstGeom prst="roundRect">
            <a:avLst>
              <a:gd name="adj" fmla="val 50000"/>
            </a:avLst>
          </a:prstGeom>
          <a:solidFill>
            <a:srgbClr val="2EF2C2"/>
          </a:solidFill>
          <a:ln w="12700">
            <a:noFill/>
          </a:ln>
        </p:spPr>
        <p:txBody>
          <a:bodyPr rtlCol="0" anchor="ctr"/>
          <a:lstStyle/>
          <a:p/>
        </p:txBody>
      </p:sp>
      <p:sp>
        <p:nvSpPr>
          <p:cNvPr id="598" name="TextBox 597"/>
          <p:cNvSpPr txBox="1"/>
          <p:nvPr/>
        </p:nvSpPr>
        <p:spPr>
          <a:xfrm>
            <a:off x="8101584" y="3803904"/>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10</a:t>
            </a:r>
          </a:p>
        </p:txBody>
      </p:sp>
      <p:sp>
        <p:nvSpPr>
          <p:cNvPr id="599" name="TextBox 598"/>
          <p:cNvSpPr txBox="1"/>
          <p:nvPr/>
        </p:nvSpPr>
        <p:spPr>
          <a:xfrm>
            <a:off x="3236976" y="3694176"/>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ما بنيناه</a:t>
            </a:r>
          </a:p>
        </p:txBody>
      </p:sp>
      <p:sp>
        <p:nvSpPr>
          <p:cNvPr id="600" name="TextBox 599"/>
          <p:cNvSpPr txBox="1"/>
          <p:nvPr/>
        </p:nvSpPr>
        <p:spPr>
          <a:xfrm>
            <a:off x="1636776" y="3694176"/>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20</a:t>
            </a:r>
          </a:p>
        </p:txBody>
      </p:sp>
      <p:sp>
        <p:nvSpPr>
          <p:cNvPr id="601" name="Rounded Rectangle 600"/>
          <p:cNvSpPr/>
          <p:nvPr/>
        </p:nvSpPr>
        <p:spPr>
          <a:xfrm>
            <a:off x="1408176" y="4425696"/>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602" name="Rounded Rectangle 601"/>
          <p:cNvSpPr/>
          <p:nvPr/>
        </p:nvSpPr>
        <p:spPr>
          <a:xfrm>
            <a:off x="8101584" y="4480560"/>
            <a:ext cx="566928" cy="457200"/>
          </a:xfrm>
          <a:prstGeom prst="roundRect">
            <a:avLst>
              <a:gd name="adj" fmla="val 50000"/>
            </a:avLst>
          </a:prstGeom>
          <a:solidFill>
            <a:srgbClr val="2EF2C2"/>
          </a:solidFill>
          <a:ln w="12700">
            <a:noFill/>
          </a:ln>
        </p:spPr>
        <p:txBody>
          <a:bodyPr rtlCol="0" anchor="ctr"/>
          <a:lstStyle/>
          <a:p/>
        </p:txBody>
      </p:sp>
      <p:sp>
        <p:nvSpPr>
          <p:cNvPr id="603" name="TextBox 602"/>
          <p:cNvSpPr txBox="1"/>
          <p:nvPr/>
        </p:nvSpPr>
        <p:spPr>
          <a:xfrm>
            <a:off x="8101584" y="4480560"/>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11</a:t>
            </a:r>
          </a:p>
        </p:txBody>
      </p:sp>
      <p:sp>
        <p:nvSpPr>
          <p:cNvPr id="604" name="TextBox 603"/>
          <p:cNvSpPr txBox="1"/>
          <p:nvPr/>
        </p:nvSpPr>
        <p:spPr>
          <a:xfrm>
            <a:off x="3236976" y="4370832"/>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التشغيل</a:t>
            </a:r>
          </a:p>
        </p:txBody>
      </p:sp>
      <p:sp>
        <p:nvSpPr>
          <p:cNvPr id="605" name="TextBox 604"/>
          <p:cNvSpPr txBox="1"/>
          <p:nvPr/>
        </p:nvSpPr>
        <p:spPr>
          <a:xfrm>
            <a:off x="1636776" y="4370832"/>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21</a:t>
            </a:r>
          </a:p>
        </p:txBody>
      </p:sp>
      <p:sp>
        <p:nvSpPr>
          <p:cNvPr id="606" name="Rounded Rectangle 605"/>
          <p:cNvSpPr/>
          <p:nvPr/>
        </p:nvSpPr>
        <p:spPr>
          <a:xfrm>
            <a:off x="1408176" y="5102352"/>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607" name="Rounded Rectangle 606"/>
          <p:cNvSpPr/>
          <p:nvPr/>
        </p:nvSpPr>
        <p:spPr>
          <a:xfrm>
            <a:off x="8101584" y="5157216"/>
            <a:ext cx="566928" cy="457200"/>
          </a:xfrm>
          <a:prstGeom prst="roundRect">
            <a:avLst>
              <a:gd name="adj" fmla="val 50000"/>
            </a:avLst>
          </a:prstGeom>
          <a:solidFill>
            <a:srgbClr val="2EF2C2"/>
          </a:solidFill>
          <a:ln w="12700">
            <a:noFill/>
          </a:ln>
        </p:spPr>
        <p:txBody>
          <a:bodyPr rtlCol="0" anchor="ctr"/>
          <a:lstStyle/>
          <a:p/>
        </p:txBody>
      </p:sp>
      <p:sp>
        <p:nvSpPr>
          <p:cNvPr id="608" name="TextBox 607"/>
          <p:cNvSpPr txBox="1"/>
          <p:nvPr/>
        </p:nvSpPr>
        <p:spPr>
          <a:xfrm>
            <a:off x="8101584" y="5157216"/>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12</a:t>
            </a:r>
          </a:p>
        </p:txBody>
      </p:sp>
      <p:sp>
        <p:nvSpPr>
          <p:cNvPr id="609" name="TextBox 608"/>
          <p:cNvSpPr txBox="1"/>
          <p:nvPr/>
        </p:nvSpPr>
        <p:spPr>
          <a:xfrm>
            <a:off x="3236976" y="5047488"/>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الحدود والخطوة التالية</a:t>
            </a:r>
          </a:p>
        </p:txBody>
      </p:sp>
      <p:sp>
        <p:nvSpPr>
          <p:cNvPr id="610" name="TextBox 609"/>
          <p:cNvSpPr txBox="1"/>
          <p:nvPr/>
        </p:nvSpPr>
        <p:spPr>
          <a:xfrm>
            <a:off x="1636776" y="5047488"/>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22</a:t>
            </a:r>
          </a:p>
        </p:txBody>
      </p:sp>
      <p:sp>
        <p:nvSpPr>
          <p:cNvPr id="611" name="Rounded Rectangle 610"/>
          <p:cNvSpPr/>
          <p:nvPr/>
        </p:nvSpPr>
        <p:spPr>
          <a:xfrm>
            <a:off x="1408176" y="5779008"/>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612" name="Rounded Rectangle 611"/>
          <p:cNvSpPr/>
          <p:nvPr/>
        </p:nvSpPr>
        <p:spPr>
          <a:xfrm>
            <a:off x="8101584" y="5833872"/>
            <a:ext cx="566928" cy="457200"/>
          </a:xfrm>
          <a:prstGeom prst="roundRect">
            <a:avLst>
              <a:gd name="adj" fmla="val 50000"/>
            </a:avLst>
          </a:prstGeom>
          <a:solidFill>
            <a:srgbClr val="2EF2C2"/>
          </a:solidFill>
          <a:ln w="12700">
            <a:noFill/>
          </a:ln>
        </p:spPr>
        <p:txBody>
          <a:bodyPr rtlCol="0" anchor="ctr"/>
          <a:lstStyle/>
          <a:p/>
        </p:txBody>
      </p:sp>
      <p:sp>
        <p:nvSpPr>
          <p:cNvPr id="613" name="TextBox 612"/>
          <p:cNvSpPr txBox="1"/>
          <p:nvPr/>
        </p:nvSpPr>
        <p:spPr>
          <a:xfrm>
            <a:off x="8101584" y="5833872"/>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13</a:t>
            </a:r>
          </a:p>
        </p:txBody>
      </p:sp>
      <p:sp>
        <p:nvSpPr>
          <p:cNvPr id="614" name="TextBox 613"/>
          <p:cNvSpPr txBox="1"/>
          <p:nvPr/>
        </p:nvSpPr>
        <p:spPr>
          <a:xfrm>
            <a:off x="3236976" y="5724144"/>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الحسابات وتجربة اللجنة</a:t>
            </a:r>
          </a:p>
        </p:txBody>
      </p:sp>
      <p:sp>
        <p:nvSpPr>
          <p:cNvPr id="615" name="TextBox 614"/>
          <p:cNvSpPr txBox="1"/>
          <p:nvPr/>
        </p:nvSpPr>
        <p:spPr>
          <a:xfrm>
            <a:off x="1636776" y="5724144"/>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23</a:t>
            </a:r>
          </a:p>
        </p:txBody>
      </p:sp>
      <p:sp>
        <p:nvSpPr>
          <p:cNvPr id="616" name="Rounded Rectangle 615"/>
          <p:cNvSpPr/>
          <p:nvPr/>
        </p:nvSpPr>
        <p:spPr>
          <a:xfrm>
            <a:off x="1408176" y="6455664"/>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617" name="Rounded Rectangle 616"/>
          <p:cNvSpPr/>
          <p:nvPr/>
        </p:nvSpPr>
        <p:spPr>
          <a:xfrm>
            <a:off x="8101584" y="6510528"/>
            <a:ext cx="566928" cy="457200"/>
          </a:xfrm>
          <a:prstGeom prst="roundRect">
            <a:avLst>
              <a:gd name="adj" fmla="val 50000"/>
            </a:avLst>
          </a:prstGeom>
          <a:solidFill>
            <a:srgbClr val="2EF2C2"/>
          </a:solidFill>
          <a:ln w="12700">
            <a:noFill/>
          </a:ln>
        </p:spPr>
        <p:txBody>
          <a:bodyPr rtlCol="0" anchor="ctr"/>
          <a:lstStyle/>
          <a:p/>
        </p:txBody>
      </p:sp>
      <p:sp>
        <p:nvSpPr>
          <p:cNvPr id="618" name="TextBox 617"/>
          <p:cNvSpPr txBox="1"/>
          <p:nvPr/>
        </p:nvSpPr>
        <p:spPr>
          <a:xfrm>
            <a:off x="8101584" y="6510528"/>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14</a:t>
            </a:r>
          </a:p>
        </p:txBody>
      </p:sp>
      <p:sp>
        <p:nvSpPr>
          <p:cNvPr id="619" name="TextBox 618"/>
          <p:cNvSpPr txBox="1"/>
          <p:nvPr/>
        </p:nvSpPr>
        <p:spPr>
          <a:xfrm>
            <a:off x="3236976" y="6400800"/>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الفريق</a:t>
            </a:r>
          </a:p>
        </p:txBody>
      </p:sp>
      <p:sp>
        <p:nvSpPr>
          <p:cNvPr id="620" name="TextBox 619"/>
          <p:cNvSpPr txBox="1"/>
          <p:nvPr/>
        </p:nvSpPr>
        <p:spPr>
          <a:xfrm>
            <a:off x="1636776" y="6400800"/>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24</a:t>
            </a:r>
          </a:p>
        </p:txBody>
      </p:sp>
      <p:sp>
        <p:nvSpPr>
          <p:cNvPr id="621" name="Rounded Rectangle 620"/>
          <p:cNvSpPr/>
          <p:nvPr/>
        </p:nvSpPr>
        <p:spPr>
          <a:xfrm>
            <a:off x="1408176" y="7132320"/>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622" name="Rounded Rectangle 621"/>
          <p:cNvSpPr/>
          <p:nvPr/>
        </p:nvSpPr>
        <p:spPr>
          <a:xfrm>
            <a:off x="8101584" y="7187184"/>
            <a:ext cx="566928" cy="457200"/>
          </a:xfrm>
          <a:prstGeom prst="roundRect">
            <a:avLst>
              <a:gd name="adj" fmla="val 50000"/>
            </a:avLst>
          </a:prstGeom>
          <a:solidFill>
            <a:srgbClr val="2EF2C2"/>
          </a:solidFill>
          <a:ln w="12700">
            <a:noFill/>
          </a:ln>
        </p:spPr>
        <p:txBody>
          <a:bodyPr rtlCol="0" anchor="ctr"/>
          <a:lstStyle/>
          <a:p/>
        </p:txBody>
      </p:sp>
      <p:sp>
        <p:nvSpPr>
          <p:cNvPr id="623" name="TextBox 622"/>
          <p:cNvSpPr txBox="1"/>
          <p:nvPr/>
        </p:nvSpPr>
        <p:spPr>
          <a:xfrm>
            <a:off x="8101584" y="7187184"/>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15</a:t>
            </a:r>
          </a:p>
        </p:txBody>
      </p:sp>
      <p:sp>
        <p:nvSpPr>
          <p:cNvPr id="624" name="TextBox 623"/>
          <p:cNvSpPr txBox="1"/>
          <p:nvPr/>
        </p:nvSpPr>
        <p:spPr>
          <a:xfrm>
            <a:off x="3236976" y="7077456"/>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تحقق بنفسك</a:t>
            </a:r>
          </a:p>
        </p:txBody>
      </p:sp>
      <p:sp>
        <p:nvSpPr>
          <p:cNvPr id="625" name="TextBox 624"/>
          <p:cNvSpPr txBox="1"/>
          <p:nvPr/>
        </p:nvSpPr>
        <p:spPr>
          <a:xfrm>
            <a:off x="1636776" y="7077456"/>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25</a:t>
            </a:r>
          </a:p>
        </p:txBody>
      </p:sp>
      <p:sp>
        <p:nvSpPr>
          <p:cNvPr id="626" name="Rounded Rectangle 625"/>
          <p:cNvSpPr/>
          <p:nvPr/>
        </p:nvSpPr>
        <p:spPr>
          <a:xfrm>
            <a:off x="1408176" y="7808976"/>
            <a:ext cx="7443216" cy="566928"/>
          </a:xfrm>
          <a:prstGeom prst="roundRect">
            <a:avLst>
              <a:gd name="adj" fmla="val 25000"/>
            </a:avLst>
          </a:prstGeom>
          <a:solidFill>
            <a:srgbClr val="161D48"/>
          </a:solidFill>
          <a:ln w="12700">
            <a:solidFill>
              <a:srgbClr val="4A5590"/>
            </a:solidFill>
          </a:ln>
        </p:spPr>
        <p:txBody>
          <a:bodyPr rtlCol="0" anchor="ctr"/>
          <a:lstStyle/>
          <a:p/>
        </p:txBody>
      </p:sp>
      <p:sp>
        <p:nvSpPr>
          <p:cNvPr id="627" name="Rounded Rectangle 626"/>
          <p:cNvSpPr/>
          <p:nvPr/>
        </p:nvSpPr>
        <p:spPr>
          <a:xfrm>
            <a:off x="8101584" y="7863840"/>
            <a:ext cx="566928" cy="457200"/>
          </a:xfrm>
          <a:prstGeom prst="roundRect">
            <a:avLst>
              <a:gd name="adj" fmla="val 50000"/>
            </a:avLst>
          </a:prstGeom>
          <a:solidFill>
            <a:srgbClr val="2EF2C2"/>
          </a:solidFill>
          <a:ln w="12700">
            <a:noFill/>
          </a:ln>
        </p:spPr>
        <p:txBody>
          <a:bodyPr rtlCol="0" anchor="ctr"/>
          <a:lstStyle/>
          <a:p/>
        </p:txBody>
      </p:sp>
      <p:sp>
        <p:nvSpPr>
          <p:cNvPr id="628" name="TextBox 627"/>
          <p:cNvSpPr txBox="1"/>
          <p:nvPr/>
        </p:nvSpPr>
        <p:spPr>
          <a:xfrm>
            <a:off x="8101584" y="7863840"/>
            <a:ext cx="566928" cy="457200"/>
          </a:xfrm>
          <a:prstGeom prst="rect">
            <a:avLst/>
          </a:prstGeom>
          <a:noFill/>
        </p:spPr>
        <p:txBody>
          <a:bodyPr wrap="square" lIns="0" rIns="0" tIns="0" bIns="0" anchor="ctr">
            <a:spAutoFit/>
          </a:bodyPr>
          <a:lstStyle/>
          <a:p>
            <a:pPr algn="ctr" rtl="1"/>
            <a:r>
              <a:rPr lang="ar-SA" sz="1800" b="1">
                <a:solidFill>
                  <a:srgbClr val="12183F"/>
                </a:solidFill>
                <a:latin typeface="Readex Pro"/>
                <a:ea typeface="Readex Pro"/>
                <a:cs typeface="Readex Pro"/>
                <a:sym typeface="Readex Pro"/>
              </a:rPr>
              <a:t>+</a:t>
            </a:r>
          </a:p>
        </p:txBody>
      </p:sp>
      <p:sp>
        <p:nvSpPr>
          <p:cNvPr id="629" name="TextBox 628"/>
          <p:cNvSpPr txBox="1"/>
          <p:nvPr/>
        </p:nvSpPr>
        <p:spPr>
          <a:xfrm>
            <a:off x="3236976" y="7754112"/>
            <a:ext cx="4700016" cy="676656"/>
          </a:xfrm>
          <a:prstGeom prst="rect">
            <a:avLst/>
          </a:prstGeom>
          <a:noFill/>
        </p:spPr>
        <p:txBody>
          <a:bodyPr wrap="square" lIns="0" rIns="0" tIns="0" bIns="0" anchor="ctr">
            <a:spAutoFit/>
          </a:bodyPr>
          <a:lstStyle/>
          <a:p>
            <a:pPr algn="r" rtl="1"/>
            <a:r>
              <a:rPr lang="ar-SA" sz="2200" b="1">
                <a:solidFill>
                  <a:srgbClr val="F2F4FF"/>
                </a:solidFill>
                <a:latin typeface="Readex Pro"/>
                <a:ea typeface="Readex Pro"/>
                <a:cs typeface="Readex Pro"/>
                <a:sym typeface="Readex Pro"/>
              </a:rPr>
              <a:t>الملحق: الأدلة التفصيلية</a:t>
            </a:r>
          </a:p>
        </p:txBody>
      </p:sp>
      <p:sp>
        <p:nvSpPr>
          <p:cNvPr id="630" name="TextBox 629"/>
          <p:cNvSpPr txBox="1"/>
          <p:nvPr/>
        </p:nvSpPr>
        <p:spPr>
          <a:xfrm>
            <a:off x="1636776" y="7754112"/>
            <a:ext cx="1554480" cy="676656"/>
          </a:xfrm>
          <a:prstGeom prst="rect">
            <a:avLst/>
          </a:prstGeom>
          <a:noFill/>
        </p:spPr>
        <p:txBody>
          <a:bodyPr wrap="square" lIns="0" rIns="0" tIns="0" bIns="0" anchor="ctr">
            <a:spAutoFit/>
          </a:bodyPr>
          <a:lstStyle/>
          <a:p>
            <a:pPr algn="l" rtl="1"/>
            <a:r>
              <a:rPr lang="ar-SA" sz="1800" b="0">
                <a:solidFill>
                  <a:srgbClr val="2EF2C2"/>
                </a:solidFill>
                <a:latin typeface="Readex Pro"/>
                <a:ea typeface="Readex Pro"/>
                <a:cs typeface="Readex Pro"/>
                <a:sym typeface="Readex Pro"/>
              </a:rPr>
              <a:t>شريحة 27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83F"/>
        </a:solidFill>
        <a:effectLst/>
      </p:bgPr>
    </p:bg>
    <p:spTree>
      <p:nvGrpSpPr>
        <p:cNvPr id="1" name=""/>
        <p:cNvGrpSpPr/>
        <p:nvPr/>
      </p:nvGrpSpPr>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02 · الحل · معيار الابتكار</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مقارنة بالرفقاء الحاليين</a:t>
            </a:r>
          </a:p>
        </p:txBody>
      </p:sp>
      <p:sp>
        <p:nvSpPr>
          <p:cNvPr id="539" name="Google Shape;539;p1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ChatGPT روبوت محادثة لا رفيق، وGrok وReplika رفقاء للكبار</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9">
            <a:alphaModFix/>
          </a:blip>
          <a:srcRect/>
          <a:stretch/>
        </p:blipFill>
        <p:spPr>
          <a:xfrm>
            <a:off x="1066800" y="693967"/>
            <a:ext cx="3429002" cy="879015"/>
          </a:xfrm>
          <a:prstGeom prst="rect">
            <a:avLst/>
          </a:prstGeom>
          <a:noFill/>
          <a:ln>
            <a:noFill/>
          </a:ln>
        </p:spPr>
      </p:pic>
      <p:sp>
        <p:nvSpPr>
          <p:cNvPr id="551" name="Rounded Rectangle 550"/>
          <p:cNvSpPr/>
          <p:nvPr/>
        </p:nvSpPr>
        <p:spPr>
          <a:xfrm>
            <a:off x="9610344" y="3474720"/>
            <a:ext cx="2606040" cy="5001768"/>
          </a:xfrm>
          <a:prstGeom prst="roundRect">
            <a:avLst>
              <a:gd name="adj" fmla="val 6000"/>
            </a:avLst>
          </a:prstGeom>
          <a:solidFill>
            <a:srgbClr val="2EF2C2">
              <a:alpha val="12000"/>
            </a:srgbClr>
          </a:solidFill>
          <a:ln w="12700">
            <a:solidFill>
              <a:srgbClr val="2EF2C2"/>
            </a:solidFill>
          </a:ln>
        </p:spPr>
        <p:txBody>
          <a:bodyPr rtlCol="0" anchor="ctr"/>
          <a:lstStyle/>
          <a:p/>
        </p:txBody>
      </p:sp>
      <p:sp>
        <p:nvSpPr>
          <p:cNvPr id="552" name="TextBox 551"/>
          <p:cNvSpPr txBox="1"/>
          <p:nvPr/>
        </p:nvSpPr>
        <p:spPr>
          <a:xfrm>
            <a:off x="9555480" y="3566160"/>
            <a:ext cx="2715768" cy="694944"/>
          </a:xfrm>
          <a:prstGeom prst="rect">
            <a:avLst/>
          </a:prstGeom>
          <a:noFill/>
        </p:spPr>
        <p:txBody>
          <a:bodyPr wrap="square" lIns="0" rIns="0" tIns="0" bIns="0" anchor="ctr">
            <a:spAutoFit/>
          </a:bodyPr>
          <a:lstStyle/>
          <a:p>
            <a:pPr algn="ctr" rtl="1"/>
            <a:r>
              <a:rPr lang="ar-SA" sz="2000" b="1">
                <a:solidFill>
                  <a:srgbClr val="2EF2C2"/>
                </a:solidFill>
                <a:latin typeface="Readex Pro"/>
                <a:ea typeface="Readex Pro"/>
                <a:cs typeface="Readex Pro"/>
                <a:sym typeface="Readex Pro"/>
              </a:rPr>
              <a:t>الصديق الصدوق</a:t>
            </a:r>
          </a:p>
        </p:txBody>
      </p:sp>
      <p:sp>
        <p:nvSpPr>
          <p:cNvPr id="553" name="TextBox 552"/>
          <p:cNvSpPr txBox="1"/>
          <p:nvPr/>
        </p:nvSpPr>
        <p:spPr>
          <a:xfrm>
            <a:off x="6839712" y="3566160"/>
            <a:ext cx="2715768" cy="694944"/>
          </a:xfrm>
          <a:prstGeom prst="rect">
            <a:avLst/>
          </a:prstGeom>
          <a:noFill/>
        </p:spPr>
        <p:txBody>
          <a:bodyPr wrap="square" lIns="0" rIns="0" tIns="0" bIns="0" anchor="ctr">
            <a:spAutoFit/>
          </a:bodyPr>
          <a:lstStyle/>
          <a:p>
            <a:pPr algn="ctr" rtl="0"/>
            <a:r>
              <a:rPr lang="ar-SA" sz="2000" b="1">
                <a:solidFill>
                  <a:srgbClr val="F2F4FF"/>
                </a:solidFill>
                <a:latin typeface="Readex Pro"/>
                <a:ea typeface="Readex Pro"/>
                <a:cs typeface="Readex Pro"/>
                <a:sym typeface="Readex Pro"/>
              </a:rPr>
              <a:t>ChatGPT</a:t>
            </a:r>
          </a:p>
        </p:txBody>
      </p:sp>
      <p:sp>
        <p:nvSpPr>
          <p:cNvPr id="554" name="TextBox 553"/>
          <p:cNvSpPr txBox="1"/>
          <p:nvPr/>
        </p:nvSpPr>
        <p:spPr>
          <a:xfrm>
            <a:off x="4123944" y="3566160"/>
            <a:ext cx="2715768" cy="694944"/>
          </a:xfrm>
          <a:prstGeom prst="rect">
            <a:avLst/>
          </a:prstGeom>
          <a:noFill/>
        </p:spPr>
        <p:txBody>
          <a:bodyPr wrap="square" lIns="0" rIns="0" tIns="0" bIns="0" anchor="ctr">
            <a:spAutoFit/>
          </a:bodyPr>
          <a:lstStyle/>
          <a:p>
            <a:pPr algn="ctr" rtl="0"/>
            <a:r>
              <a:rPr lang="ar-SA" sz="2000" b="1">
                <a:solidFill>
                  <a:srgbClr val="F2F4FF"/>
                </a:solidFill>
                <a:latin typeface="Readex Pro"/>
                <a:ea typeface="Readex Pro"/>
                <a:cs typeface="Readex Pro"/>
                <a:sym typeface="Readex Pro"/>
              </a:rPr>
              <a:t>Grok Companions</a:t>
            </a:r>
          </a:p>
        </p:txBody>
      </p:sp>
      <p:sp>
        <p:nvSpPr>
          <p:cNvPr id="555" name="TextBox 554"/>
          <p:cNvSpPr txBox="1"/>
          <p:nvPr/>
        </p:nvSpPr>
        <p:spPr>
          <a:xfrm>
            <a:off x="1408176" y="3566160"/>
            <a:ext cx="2715768" cy="694944"/>
          </a:xfrm>
          <a:prstGeom prst="rect">
            <a:avLst/>
          </a:prstGeom>
          <a:noFill/>
        </p:spPr>
        <p:txBody>
          <a:bodyPr wrap="square" lIns="0" rIns="0" tIns="0" bIns="0" anchor="ctr">
            <a:spAutoFit/>
          </a:bodyPr>
          <a:lstStyle/>
          <a:p>
            <a:pPr algn="ctr" rtl="0"/>
            <a:r>
              <a:rPr lang="ar-SA" sz="2000" b="1">
                <a:solidFill>
                  <a:srgbClr val="F2F4FF"/>
                </a:solidFill>
                <a:latin typeface="Readex Pro"/>
                <a:ea typeface="Readex Pro"/>
                <a:cs typeface="Readex Pro"/>
                <a:sym typeface="Readex Pro"/>
              </a:rPr>
              <a:t>Replika</a:t>
            </a:r>
          </a:p>
        </p:txBody>
      </p:sp>
      <p:sp>
        <p:nvSpPr>
          <p:cNvPr id="556" name="Rectangle 555"/>
          <p:cNvSpPr/>
          <p:nvPr/>
        </p:nvSpPr>
        <p:spPr>
          <a:xfrm>
            <a:off x="1408176" y="4297680"/>
            <a:ext cx="15435072" cy="18288"/>
          </a:xfrm>
          <a:prstGeom prst="rect">
            <a:avLst/>
          </a:prstGeom>
          <a:solidFill>
            <a:srgbClr val="4A5590"/>
          </a:solidFill>
          <a:ln w="12700">
            <a:noFill/>
          </a:ln>
        </p:spPr>
        <p:txBody>
          <a:bodyPr rtlCol="0" anchor="ctr"/>
          <a:lstStyle/>
          <a:p/>
        </p:txBody>
      </p:sp>
      <p:sp>
        <p:nvSpPr>
          <p:cNvPr id="557" name="TextBox 556"/>
          <p:cNvSpPr txBox="1"/>
          <p:nvPr/>
        </p:nvSpPr>
        <p:spPr>
          <a:xfrm>
            <a:off x="12271248" y="4261104"/>
            <a:ext cx="4389120" cy="694944"/>
          </a:xfrm>
          <a:prstGeom prst="rect">
            <a:avLst/>
          </a:prstGeom>
          <a:noFill/>
        </p:spPr>
        <p:txBody>
          <a:bodyPr wrap="square" lIns="0" rIns="0" tIns="0" bIns="0" anchor="ctr">
            <a:spAutoFit/>
          </a:bodyPr>
          <a:lstStyle/>
          <a:p>
            <a:pPr algn="r" rtl="1"/>
            <a:r>
              <a:rPr lang="ar-SA" sz="2000" b="0">
                <a:solidFill>
                  <a:srgbClr val="F2F4FF"/>
                </a:solidFill>
                <a:latin typeface="Readex Pro"/>
                <a:ea typeface="Readex Pro"/>
                <a:cs typeface="Readex Pro"/>
                <a:sym typeface="Readex Pro"/>
              </a:rPr>
              <a:t>العمر المسموح</a:t>
            </a:r>
          </a:p>
        </p:txBody>
      </p:sp>
      <p:sp>
        <p:nvSpPr>
          <p:cNvPr id="558" name="TextBox 557"/>
          <p:cNvSpPr txBox="1"/>
          <p:nvPr/>
        </p:nvSpPr>
        <p:spPr>
          <a:xfrm>
            <a:off x="9555480" y="4261104"/>
            <a:ext cx="2715768" cy="694944"/>
          </a:xfrm>
          <a:prstGeom prst="rect">
            <a:avLst/>
          </a:prstGeom>
          <a:noFill/>
        </p:spPr>
        <p:txBody>
          <a:bodyPr wrap="square" lIns="0" rIns="0" tIns="0" bIns="0" anchor="ctr">
            <a:spAutoFit/>
          </a:bodyPr>
          <a:lstStyle/>
          <a:p>
            <a:pPr algn="ctr" rtl="1"/>
            <a:r>
              <a:rPr lang="ar-SA" sz="2000" b="1">
                <a:solidFill>
                  <a:srgbClr val="2EF2C2"/>
                </a:solidFill>
                <a:latin typeface="Readex Pro"/>
                <a:ea typeface="Readex Pro"/>
                <a:cs typeface="Readex Pro"/>
                <a:sym typeface="Readex Pro"/>
              </a:rPr>
              <a:t>6 إلى 13</a:t>
            </a:r>
          </a:p>
        </p:txBody>
      </p:sp>
      <p:sp>
        <p:nvSpPr>
          <p:cNvPr id="559" name="TextBox 558"/>
          <p:cNvSpPr txBox="1"/>
          <p:nvPr/>
        </p:nvSpPr>
        <p:spPr>
          <a:xfrm>
            <a:off x="6839712" y="4261104"/>
            <a:ext cx="2715768" cy="694944"/>
          </a:xfrm>
          <a:prstGeom prst="rect">
            <a:avLst/>
          </a:prstGeom>
          <a:noFill/>
        </p:spPr>
        <p:txBody>
          <a:bodyPr wrap="square" lIns="0" rIns="0" tIns="0" bIns="0" anchor="ctr">
            <a:spAutoFit/>
          </a:bodyPr>
          <a:lstStyle/>
          <a:p>
            <a:pPr algn="ctr" rtl="0"/>
            <a:r>
              <a:rPr lang="ar-SA" sz="2000" b="0">
                <a:solidFill>
                  <a:srgbClr val="CBCFE6"/>
                </a:solidFill>
                <a:latin typeface="Readex Pro"/>
                <a:ea typeface="Readex Pro"/>
                <a:cs typeface="Readex Pro"/>
                <a:sym typeface="Readex Pro"/>
              </a:rPr>
              <a:t>13+</a:t>
            </a:r>
          </a:p>
        </p:txBody>
      </p:sp>
      <p:sp>
        <p:nvSpPr>
          <p:cNvPr id="560" name="TextBox 559"/>
          <p:cNvSpPr txBox="1"/>
          <p:nvPr/>
        </p:nvSpPr>
        <p:spPr>
          <a:xfrm>
            <a:off x="4123944" y="4261104"/>
            <a:ext cx="2715768" cy="694944"/>
          </a:xfrm>
          <a:prstGeom prst="rect">
            <a:avLst/>
          </a:prstGeom>
          <a:noFill/>
        </p:spPr>
        <p:txBody>
          <a:bodyPr wrap="square" lIns="0" rIns="0" tIns="0" bIns="0" anchor="ctr">
            <a:spAutoFit/>
          </a:bodyPr>
          <a:lstStyle/>
          <a:p>
            <a:pPr algn="ctr" rtl="0"/>
            <a:r>
              <a:rPr lang="ar-SA" sz="2000" b="0">
                <a:solidFill>
                  <a:srgbClr val="CBCFE6"/>
                </a:solidFill>
                <a:latin typeface="Readex Pro"/>
                <a:ea typeface="Readex Pro"/>
                <a:cs typeface="Readex Pro"/>
                <a:sym typeface="Readex Pro"/>
              </a:rPr>
              <a:t>13+</a:t>
            </a:r>
          </a:p>
        </p:txBody>
      </p:sp>
      <p:sp>
        <p:nvSpPr>
          <p:cNvPr id="561" name="TextBox 560"/>
          <p:cNvSpPr txBox="1"/>
          <p:nvPr/>
        </p:nvSpPr>
        <p:spPr>
          <a:xfrm>
            <a:off x="1408176" y="4261104"/>
            <a:ext cx="2715768" cy="694944"/>
          </a:xfrm>
          <a:prstGeom prst="rect">
            <a:avLst/>
          </a:prstGeom>
          <a:noFill/>
        </p:spPr>
        <p:txBody>
          <a:bodyPr wrap="square" lIns="0" rIns="0" tIns="0" bIns="0" anchor="ctr">
            <a:spAutoFit/>
          </a:bodyPr>
          <a:lstStyle/>
          <a:p>
            <a:pPr algn="ctr" rtl="0"/>
            <a:r>
              <a:rPr lang="ar-SA" sz="2000" b="0">
                <a:solidFill>
                  <a:srgbClr val="CBCFE6"/>
                </a:solidFill>
                <a:latin typeface="Readex Pro"/>
                <a:ea typeface="Readex Pro"/>
                <a:cs typeface="Readex Pro"/>
                <a:sym typeface="Readex Pro"/>
              </a:rPr>
              <a:t>18+</a:t>
            </a:r>
          </a:p>
        </p:txBody>
      </p:sp>
      <p:sp>
        <p:nvSpPr>
          <p:cNvPr id="562" name="Rectangle 561"/>
          <p:cNvSpPr/>
          <p:nvPr/>
        </p:nvSpPr>
        <p:spPr>
          <a:xfrm>
            <a:off x="1408176" y="4992624"/>
            <a:ext cx="15435072" cy="18288"/>
          </a:xfrm>
          <a:prstGeom prst="rect">
            <a:avLst/>
          </a:prstGeom>
          <a:solidFill>
            <a:srgbClr val="4A5590"/>
          </a:solidFill>
          <a:ln w="12700">
            <a:noFill/>
          </a:ln>
        </p:spPr>
        <p:txBody>
          <a:bodyPr rtlCol="0" anchor="ctr"/>
          <a:lstStyle/>
          <a:p/>
        </p:txBody>
      </p:sp>
      <p:sp>
        <p:nvSpPr>
          <p:cNvPr id="563" name="TextBox 562"/>
          <p:cNvSpPr txBox="1"/>
          <p:nvPr/>
        </p:nvSpPr>
        <p:spPr>
          <a:xfrm>
            <a:off x="12271248" y="4956048"/>
            <a:ext cx="4389120" cy="694944"/>
          </a:xfrm>
          <a:prstGeom prst="rect">
            <a:avLst/>
          </a:prstGeom>
          <a:noFill/>
        </p:spPr>
        <p:txBody>
          <a:bodyPr wrap="square" lIns="0" rIns="0" tIns="0" bIns="0" anchor="ctr">
            <a:spAutoFit/>
          </a:bodyPr>
          <a:lstStyle/>
          <a:p>
            <a:pPr algn="r" rtl="1"/>
            <a:r>
              <a:rPr lang="ar-SA" sz="2000" b="0">
                <a:solidFill>
                  <a:srgbClr val="F2F4FF"/>
                </a:solidFill>
                <a:latin typeface="Readex Pro"/>
                <a:ea typeface="Readex Pro"/>
                <a:cs typeface="Readex Pro"/>
                <a:sym typeface="Readex Pro"/>
              </a:rPr>
              <a:t>رفيق بشخصية وصوت</a:t>
            </a:r>
          </a:p>
        </p:txBody>
      </p:sp>
      <p:pic>
        <p:nvPicPr>
          <p:cNvPr id="564" name="Picture 563" descr="image.png"/>
          <p:cNvPicPr>
            <a:picLocks noChangeAspect="1"/>
          </p:cNvPicPr>
          <p:nvPr/>
        </p:nvPicPr>
        <p:blipFill>
          <a:blip r:embed="rId8"/>
          <a:stretch>
            <a:fillRect/>
          </a:stretch>
        </p:blipFill>
        <p:spPr>
          <a:xfrm>
            <a:off x="10684763" y="5074920"/>
            <a:ext cx="457200" cy="457200"/>
          </a:xfrm>
          <a:prstGeom prst="rect">
            <a:avLst/>
          </a:prstGeom>
        </p:spPr>
      </p:pic>
      <p:pic>
        <p:nvPicPr>
          <p:cNvPr id="565" name="Picture 564" descr="FaCircleXmark-muted.png"/>
          <p:cNvPicPr>
            <a:picLocks noChangeAspect="1"/>
          </p:cNvPicPr>
          <p:nvPr/>
        </p:nvPicPr>
        <p:blipFill>
          <a:blip r:embed="rId11"/>
          <a:stretch>
            <a:fillRect/>
          </a:stretch>
        </p:blipFill>
        <p:spPr>
          <a:xfrm>
            <a:off x="7968995" y="5074920"/>
            <a:ext cx="457200" cy="457200"/>
          </a:xfrm>
          <a:prstGeom prst="rect">
            <a:avLst/>
          </a:prstGeom>
        </p:spPr>
      </p:pic>
      <p:pic>
        <p:nvPicPr>
          <p:cNvPr id="566" name="Picture 565" descr="image.png"/>
          <p:cNvPicPr>
            <a:picLocks noChangeAspect="1"/>
          </p:cNvPicPr>
          <p:nvPr/>
        </p:nvPicPr>
        <p:blipFill>
          <a:blip r:embed="rId8"/>
          <a:stretch>
            <a:fillRect/>
          </a:stretch>
        </p:blipFill>
        <p:spPr>
          <a:xfrm>
            <a:off x="5253227" y="5074920"/>
            <a:ext cx="457200" cy="457200"/>
          </a:xfrm>
          <a:prstGeom prst="rect">
            <a:avLst/>
          </a:prstGeom>
        </p:spPr>
      </p:pic>
      <p:pic>
        <p:nvPicPr>
          <p:cNvPr id="567" name="Picture 566" descr="image.png"/>
          <p:cNvPicPr>
            <a:picLocks noChangeAspect="1"/>
          </p:cNvPicPr>
          <p:nvPr/>
        </p:nvPicPr>
        <p:blipFill>
          <a:blip r:embed="rId8"/>
          <a:stretch>
            <a:fillRect/>
          </a:stretch>
        </p:blipFill>
        <p:spPr>
          <a:xfrm>
            <a:off x="2537459" y="5074920"/>
            <a:ext cx="457200" cy="457200"/>
          </a:xfrm>
          <a:prstGeom prst="rect">
            <a:avLst/>
          </a:prstGeom>
        </p:spPr>
      </p:pic>
      <p:sp>
        <p:nvSpPr>
          <p:cNvPr id="568" name="Rectangle 567"/>
          <p:cNvSpPr/>
          <p:nvPr/>
        </p:nvSpPr>
        <p:spPr>
          <a:xfrm>
            <a:off x="1408176" y="5687568"/>
            <a:ext cx="15435072" cy="18288"/>
          </a:xfrm>
          <a:prstGeom prst="rect">
            <a:avLst/>
          </a:prstGeom>
          <a:solidFill>
            <a:srgbClr val="4A5590"/>
          </a:solidFill>
          <a:ln w="12700">
            <a:noFill/>
          </a:ln>
        </p:spPr>
        <p:txBody>
          <a:bodyPr rtlCol="0" anchor="ctr"/>
          <a:lstStyle/>
          <a:p/>
        </p:txBody>
      </p:sp>
      <p:sp>
        <p:nvSpPr>
          <p:cNvPr id="569" name="TextBox 568"/>
          <p:cNvSpPr txBox="1"/>
          <p:nvPr/>
        </p:nvSpPr>
        <p:spPr>
          <a:xfrm>
            <a:off x="12271248" y="5650992"/>
            <a:ext cx="4389120" cy="694944"/>
          </a:xfrm>
          <a:prstGeom prst="rect">
            <a:avLst/>
          </a:prstGeom>
          <a:noFill/>
        </p:spPr>
        <p:txBody>
          <a:bodyPr wrap="square" lIns="0" rIns="0" tIns="0" bIns="0" anchor="ctr">
            <a:spAutoFit/>
          </a:bodyPr>
          <a:lstStyle/>
          <a:p>
            <a:pPr algn="r" rtl="1"/>
            <a:r>
              <a:rPr lang="ar-SA" sz="2000" b="0">
                <a:solidFill>
                  <a:srgbClr val="F2F4FF"/>
                </a:solidFill>
                <a:latin typeface="Readex Pro"/>
                <a:ea typeface="Readex Pro"/>
                <a:cs typeface="Readex Pro"/>
                <a:sym typeface="Readex Pro"/>
              </a:rPr>
              <a:t>جواب ديني بمصدر، ولا فتوى</a:t>
            </a:r>
          </a:p>
        </p:txBody>
      </p:sp>
      <p:pic>
        <p:nvPicPr>
          <p:cNvPr id="570" name="Picture 569" descr="image.png"/>
          <p:cNvPicPr>
            <a:picLocks noChangeAspect="1"/>
          </p:cNvPicPr>
          <p:nvPr/>
        </p:nvPicPr>
        <p:blipFill>
          <a:blip r:embed="rId8"/>
          <a:stretch>
            <a:fillRect/>
          </a:stretch>
        </p:blipFill>
        <p:spPr>
          <a:xfrm>
            <a:off x="10684763" y="5769864"/>
            <a:ext cx="457200" cy="457200"/>
          </a:xfrm>
          <a:prstGeom prst="rect">
            <a:avLst/>
          </a:prstGeom>
        </p:spPr>
      </p:pic>
      <p:pic>
        <p:nvPicPr>
          <p:cNvPr id="571" name="Picture 570" descr="FaCircleXmark-muted.png"/>
          <p:cNvPicPr>
            <a:picLocks noChangeAspect="1"/>
          </p:cNvPicPr>
          <p:nvPr/>
        </p:nvPicPr>
        <p:blipFill>
          <a:blip r:embed="rId11"/>
          <a:stretch>
            <a:fillRect/>
          </a:stretch>
        </p:blipFill>
        <p:spPr>
          <a:xfrm>
            <a:off x="7968995" y="5769864"/>
            <a:ext cx="457200" cy="457200"/>
          </a:xfrm>
          <a:prstGeom prst="rect">
            <a:avLst/>
          </a:prstGeom>
        </p:spPr>
      </p:pic>
      <p:pic>
        <p:nvPicPr>
          <p:cNvPr id="572" name="Picture 571" descr="FaCircleXmark-muted.png"/>
          <p:cNvPicPr>
            <a:picLocks noChangeAspect="1"/>
          </p:cNvPicPr>
          <p:nvPr/>
        </p:nvPicPr>
        <p:blipFill>
          <a:blip r:embed="rId11"/>
          <a:stretch>
            <a:fillRect/>
          </a:stretch>
        </p:blipFill>
        <p:spPr>
          <a:xfrm>
            <a:off x="5253227" y="5769864"/>
            <a:ext cx="457200" cy="457200"/>
          </a:xfrm>
          <a:prstGeom prst="rect">
            <a:avLst/>
          </a:prstGeom>
        </p:spPr>
      </p:pic>
      <p:pic>
        <p:nvPicPr>
          <p:cNvPr id="573" name="Picture 572" descr="FaCircleXmark-muted.png"/>
          <p:cNvPicPr>
            <a:picLocks noChangeAspect="1"/>
          </p:cNvPicPr>
          <p:nvPr/>
        </p:nvPicPr>
        <p:blipFill>
          <a:blip r:embed="rId11"/>
          <a:stretch>
            <a:fillRect/>
          </a:stretch>
        </p:blipFill>
        <p:spPr>
          <a:xfrm>
            <a:off x="2537459" y="5769864"/>
            <a:ext cx="457200" cy="457200"/>
          </a:xfrm>
          <a:prstGeom prst="rect">
            <a:avLst/>
          </a:prstGeom>
        </p:spPr>
      </p:pic>
      <p:sp>
        <p:nvSpPr>
          <p:cNvPr id="574" name="Rectangle 573"/>
          <p:cNvSpPr/>
          <p:nvPr/>
        </p:nvSpPr>
        <p:spPr>
          <a:xfrm>
            <a:off x="1408176" y="6382512"/>
            <a:ext cx="15435072" cy="18288"/>
          </a:xfrm>
          <a:prstGeom prst="rect">
            <a:avLst/>
          </a:prstGeom>
          <a:solidFill>
            <a:srgbClr val="4A5590"/>
          </a:solidFill>
          <a:ln w="12700">
            <a:noFill/>
          </a:ln>
        </p:spPr>
        <p:txBody>
          <a:bodyPr rtlCol="0" anchor="ctr"/>
          <a:lstStyle/>
          <a:p/>
        </p:txBody>
      </p:sp>
      <p:sp>
        <p:nvSpPr>
          <p:cNvPr id="575" name="TextBox 574"/>
          <p:cNvSpPr txBox="1"/>
          <p:nvPr/>
        </p:nvSpPr>
        <p:spPr>
          <a:xfrm>
            <a:off x="12271248" y="6345936"/>
            <a:ext cx="4389120" cy="694944"/>
          </a:xfrm>
          <a:prstGeom prst="rect">
            <a:avLst/>
          </a:prstGeom>
          <a:noFill/>
        </p:spPr>
        <p:txBody>
          <a:bodyPr wrap="square" lIns="0" rIns="0" tIns="0" bIns="0" anchor="ctr">
            <a:spAutoFit/>
          </a:bodyPr>
          <a:lstStyle/>
          <a:p>
            <a:pPr algn="r" rtl="1"/>
            <a:r>
              <a:rPr lang="ar-SA" sz="2000" b="0">
                <a:solidFill>
                  <a:srgbClr val="F2F4FF"/>
                </a:solidFill>
                <a:latin typeface="Readex Pro"/>
                <a:ea typeface="Readex Pro"/>
                <a:cs typeface="Readex Pro"/>
                <a:sym typeface="Readex Pro"/>
              </a:rPr>
              <a:t>محتوى آمن للطفل بالتصميم</a:t>
            </a:r>
          </a:p>
        </p:txBody>
      </p:sp>
      <p:pic>
        <p:nvPicPr>
          <p:cNvPr id="576" name="Picture 575" descr="image.png"/>
          <p:cNvPicPr>
            <a:picLocks noChangeAspect="1"/>
          </p:cNvPicPr>
          <p:nvPr/>
        </p:nvPicPr>
        <p:blipFill>
          <a:blip r:embed="rId8"/>
          <a:stretch>
            <a:fillRect/>
          </a:stretch>
        </p:blipFill>
        <p:spPr>
          <a:xfrm>
            <a:off x="10684763" y="6464807"/>
            <a:ext cx="457200" cy="457200"/>
          </a:xfrm>
          <a:prstGeom prst="rect">
            <a:avLst/>
          </a:prstGeom>
        </p:spPr>
      </p:pic>
      <p:pic>
        <p:nvPicPr>
          <p:cNvPr id="577" name="Picture 576" descr="FaCircleHalfStroke-white.png"/>
          <p:cNvPicPr>
            <a:picLocks noChangeAspect="1"/>
          </p:cNvPicPr>
          <p:nvPr/>
        </p:nvPicPr>
        <p:blipFill>
          <a:blip r:embed="rId12"/>
          <a:stretch>
            <a:fillRect/>
          </a:stretch>
        </p:blipFill>
        <p:spPr>
          <a:xfrm>
            <a:off x="7968995" y="6464807"/>
            <a:ext cx="457200" cy="457200"/>
          </a:xfrm>
          <a:prstGeom prst="rect">
            <a:avLst/>
          </a:prstGeom>
        </p:spPr>
      </p:pic>
      <p:pic>
        <p:nvPicPr>
          <p:cNvPr id="578" name="Picture 577" descr="FaCircleXmark-muted.png"/>
          <p:cNvPicPr>
            <a:picLocks noChangeAspect="1"/>
          </p:cNvPicPr>
          <p:nvPr/>
        </p:nvPicPr>
        <p:blipFill>
          <a:blip r:embed="rId11"/>
          <a:stretch>
            <a:fillRect/>
          </a:stretch>
        </p:blipFill>
        <p:spPr>
          <a:xfrm>
            <a:off x="5253227" y="6464807"/>
            <a:ext cx="457200" cy="457200"/>
          </a:xfrm>
          <a:prstGeom prst="rect">
            <a:avLst/>
          </a:prstGeom>
        </p:spPr>
      </p:pic>
      <p:pic>
        <p:nvPicPr>
          <p:cNvPr id="579" name="Picture 578" descr="FaCircleXmark-muted.png"/>
          <p:cNvPicPr>
            <a:picLocks noChangeAspect="1"/>
          </p:cNvPicPr>
          <p:nvPr/>
        </p:nvPicPr>
        <p:blipFill>
          <a:blip r:embed="rId11"/>
          <a:stretch>
            <a:fillRect/>
          </a:stretch>
        </p:blipFill>
        <p:spPr>
          <a:xfrm>
            <a:off x="2537459" y="6464807"/>
            <a:ext cx="457200" cy="457200"/>
          </a:xfrm>
          <a:prstGeom prst="rect">
            <a:avLst/>
          </a:prstGeom>
        </p:spPr>
      </p:pic>
      <p:sp>
        <p:nvSpPr>
          <p:cNvPr id="580" name="Rectangle 579"/>
          <p:cNvSpPr/>
          <p:nvPr/>
        </p:nvSpPr>
        <p:spPr>
          <a:xfrm>
            <a:off x="1408176" y="7077456"/>
            <a:ext cx="15435072" cy="18288"/>
          </a:xfrm>
          <a:prstGeom prst="rect">
            <a:avLst/>
          </a:prstGeom>
          <a:solidFill>
            <a:srgbClr val="4A5590"/>
          </a:solidFill>
          <a:ln w="12700">
            <a:noFill/>
          </a:ln>
        </p:spPr>
        <p:txBody>
          <a:bodyPr rtlCol="0" anchor="ctr"/>
          <a:lstStyle/>
          <a:p/>
        </p:txBody>
      </p:sp>
      <p:sp>
        <p:nvSpPr>
          <p:cNvPr id="581" name="TextBox 580"/>
          <p:cNvSpPr txBox="1"/>
          <p:nvPr/>
        </p:nvSpPr>
        <p:spPr>
          <a:xfrm>
            <a:off x="12271248" y="7040880"/>
            <a:ext cx="4389120" cy="694944"/>
          </a:xfrm>
          <a:prstGeom prst="rect">
            <a:avLst/>
          </a:prstGeom>
          <a:noFill/>
        </p:spPr>
        <p:txBody>
          <a:bodyPr wrap="square" lIns="0" rIns="0" tIns="0" bIns="0" anchor="ctr">
            <a:spAutoFit/>
          </a:bodyPr>
          <a:lstStyle/>
          <a:p>
            <a:pPr algn="r" rtl="1"/>
            <a:r>
              <a:rPr lang="ar-SA" sz="2000" b="0">
                <a:solidFill>
                  <a:srgbClr val="F2F4FF"/>
                </a:solidFill>
                <a:latin typeface="Readex Pro"/>
                <a:ea typeface="Readex Pro"/>
                <a:cs typeface="Readex Pro"/>
                <a:sym typeface="Readex Pro"/>
              </a:rPr>
              <a:t>ملخصات وتنبيهات للوالدين</a:t>
            </a:r>
          </a:p>
        </p:txBody>
      </p:sp>
      <p:pic>
        <p:nvPicPr>
          <p:cNvPr id="582" name="Picture 581" descr="image.png"/>
          <p:cNvPicPr>
            <a:picLocks noChangeAspect="1"/>
          </p:cNvPicPr>
          <p:nvPr/>
        </p:nvPicPr>
        <p:blipFill>
          <a:blip r:embed="rId8"/>
          <a:stretch>
            <a:fillRect/>
          </a:stretch>
        </p:blipFill>
        <p:spPr>
          <a:xfrm>
            <a:off x="10684763" y="7159752"/>
            <a:ext cx="457200" cy="457200"/>
          </a:xfrm>
          <a:prstGeom prst="rect">
            <a:avLst/>
          </a:prstGeom>
        </p:spPr>
      </p:pic>
      <p:pic>
        <p:nvPicPr>
          <p:cNvPr id="583" name="Picture 582" descr="FaCircleHalfStroke-white.png"/>
          <p:cNvPicPr>
            <a:picLocks noChangeAspect="1"/>
          </p:cNvPicPr>
          <p:nvPr/>
        </p:nvPicPr>
        <p:blipFill>
          <a:blip r:embed="rId12"/>
          <a:stretch>
            <a:fillRect/>
          </a:stretch>
        </p:blipFill>
        <p:spPr>
          <a:xfrm>
            <a:off x="7968995" y="7159752"/>
            <a:ext cx="457200" cy="457200"/>
          </a:xfrm>
          <a:prstGeom prst="rect">
            <a:avLst/>
          </a:prstGeom>
        </p:spPr>
      </p:pic>
      <p:pic>
        <p:nvPicPr>
          <p:cNvPr id="584" name="Picture 583" descr="FaCircleXmark-muted.png"/>
          <p:cNvPicPr>
            <a:picLocks noChangeAspect="1"/>
          </p:cNvPicPr>
          <p:nvPr/>
        </p:nvPicPr>
        <p:blipFill>
          <a:blip r:embed="rId11"/>
          <a:stretch>
            <a:fillRect/>
          </a:stretch>
        </p:blipFill>
        <p:spPr>
          <a:xfrm>
            <a:off x="5253227" y="7159752"/>
            <a:ext cx="457200" cy="457200"/>
          </a:xfrm>
          <a:prstGeom prst="rect">
            <a:avLst/>
          </a:prstGeom>
        </p:spPr>
      </p:pic>
      <p:pic>
        <p:nvPicPr>
          <p:cNvPr id="585" name="Picture 584" descr="FaCircleXmark-muted.png"/>
          <p:cNvPicPr>
            <a:picLocks noChangeAspect="1"/>
          </p:cNvPicPr>
          <p:nvPr/>
        </p:nvPicPr>
        <p:blipFill>
          <a:blip r:embed="rId11"/>
          <a:stretch>
            <a:fillRect/>
          </a:stretch>
        </p:blipFill>
        <p:spPr>
          <a:xfrm>
            <a:off x="2537459" y="7159752"/>
            <a:ext cx="457200" cy="457200"/>
          </a:xfrm>
          <a:prstGeom prst="rect">
            <a:avLst/>
          </a:prstGeom>
        </p:spPr>
      </p:pic>
      <p:sp>
        <p:nvSpPr>
          <p:cNvPr id="586" name="Rectangle 585"/>
          <p:cNvSpPr/>
          <p:nvPr/>
        </p:nvSpPr>
        <p:spPr>
          <a:xfrm>
            <a:off x="1408176" y="7772400"/>
            <a:ext cx="15435072" cy="18288"/>
          </a:xfrm>
          <a:prstGeom prst="rect">
            <a:avLst/>
          </a:prstGeom>
          <a:solidFill>
            <a:srgbClr val="4A5590"/>
          </a:solidFill>
          <a:ln w="12700">
            <a:noFill/>
          </a:ln>
        </p:spPr>
        <p:txBody>
          <a:bodyPr rtlCol="0" anchor="ctr"/>
          <a:lstStyle/>
          <a:p/>
        </p:txBody>
      </p:sp>
      <p:sp>
        <p:nvSpPr>
          <p:cNvPr id="587" name="TextBox 586"/>
          <p:cNvSpPr txBox="1"/>
          <p:nvPr/>
        </p:nvSpPr>
        <p:spPr>
          <a:xfrm>
            <a:off x="12271248" y="7735824"/>
            <a:ext cx="4389120" cy="694944"/>
          </a:xfrm>
          <a:prstGeom prst="rect">
            <a:avLst/>
          </a:prstGeom>
          <a:noFill/>
        </p:spPr>
        <p:txBody>
          <a:bodyPr wrap="square" lIns="0" rIns="0" tIns="0" bIns="0" anchor="ctr">
            <a:spAutoFit/>
          </a:bodyPr>
          <a:lstStyle/>
          <a:p>
            <a:pPr algn="r" rtl="1"/>
            <a:r>
              <a:rPr lang="ar-SA" sz="2000" b="0">
                <a:solidFill>
                  <a:srgbClr val="F2F4FF"/>
                </a:solidFill>
                <a:latin typeface="Readex Pro"/>
                <a:ea typeface="Readex Pro"/>
                <a:cs typeface="Readex Pro"/>
                <a:sym typeface="Readex Pro"/>
              </a:rPr>
              <a:t>تعلّم القيم باللعب</a:t>
            </a:r>
          </a:p>
        </p:txBody>
      </p:sp>
      <p:pic>
        <p:nvPicPr>
          <p:cNvPr id="588" name="Picture 587" descr="image.png"/>
          <p:cNvPicPr>
            <a:picLocks noChangeAspect="1"/>
          </p:cNvPicPr>
          <p:nvPr/>
        </p:nvPicPr>
        <p:blipFill>
          <a:blip r:embed="rId8"/>
          <a:stretch>
            <a:fillRect/>
          </a:stretch>
        </p:blipFill>
        <p:spPr>
          <a:xfrm>
            <a:off x="10684763" y="7854696"/>
            <a:ext cx="457200" cy="457200"/>
          </a:xfrm>
          <a:prstGeom prst="rect">
            <a:avLst/>
          </a:prstGeom>
        </p:spPr>
      </p:pic>
      <p:pic>
        <p:nvPicPr>
          <p:cNvPr id="589" name="Picture 588" descr="FaCircleXmark-muted.png"/>
          <p:cNvPicPr>
            <a:picLocks noChangeAspect="1"/>
          </p:cNvPicPr>
          <p:nvPr/>
        </p:nvPicPr>
        <p:blipFill>
          <a:blip r:embed="rId11"/>
          <a:stretch>
            <a:fillRect/>
          </a:stretch>
        </p:blipFill>
        <p:spPr>
          <a:xfrm>
            <a:off x="7968995" y="7854696"/>
            <a:ext cx="457200" cy="457200"/>
          </a:xfrm>
          <a:prstGeom prst="rect">
            <a:avLst/>
          </a:prstGeom>
        </p:spPr>
      </p:pic>
      <p:pic>
        <p:nvPicPr>
          <p:cNvPr id="590" name="Picture 589" descr="FaCircleXmark-muted.png"/>
          <p:cNvPicPr>
            <a:picLocks noChangeAspect="1"/>
          </p:cNvPicPr>
          <p:nvPr/>
        </p:nvPicPr>
        <p:blipFill>
          <a:blip r:embed="rId11"/>
          <a:stretch>
            <a:fillRect/>
          </a:stretch>
        </p:blipFill>
        <p:spPr>
          <a:xfrm>
            <a:off x="5253227" y="7854696"/>
            <a:ext cx="457200" cy="457200"/>
          </a:xfrm>
          <a:prstGeom prst="rect">
            <a:avLst/>
          </a:prstGeom>
        </p:spPr>
      </p:pic>
      <p:pic>
        <p:nvPicPr>
          <p:cNvPr id="591" name="Picture 590" descr="FaCircleXmark-muted.png"/>
          <p:cNvPicPr>
            <a:picLocks noChangeAspect="1"/>
          </p:cNvPicPr>
          <p:nvPr/>
        </p:nvPicPr>
        <p:blipFill>
          <a:blip r:embed="rId11"/>
          <a:stretch>
            <a:fillRect/>
          </a:stretch>
        </p:blipFill>
        <p:spPr>
          <a:xfrm>
            <a:off x="2537459" y="7854696"/>
            <a:ext cx="457200" cy="457200"/>
          </a:xfrm>
          <a:prstGeom prst="rect">
            <a:avLst/>
          </a:prstGeom>
        </p:spPr>
      </p:pic>
      <p:sp>
        <p:nvSpPr>
          <p:cNvPr id="592" name="TextBox 591"/>
          <p:cNvSpPr txBox="1"/>
          <p:nvPr/>
        </p:nvSpPr>
        <p:spPr>
          <a:xfrm>
            <a:off x="1408176" y="8641080"/>
            <a:ext cx="15435072" cy="457200"/>
          </a:xfrm>
          <a:prstGeom prst="rect">
            <a:avLst/>
          </a:prstGeom>
          <a:noFill/>
        </p:spPr>
        <p:txBody>
          <a:bodyPr wrap="square" lIns="0" rIns="0" tIns="0" bIns="0" anchor="t">
            <a:spAutoFit/>
          </a:bodyPr>
          <a:lstStyle/>
          <a:p>
            <a:pPr algn="r" rtl="1"/>
            <a:r>
              <a:rPr lang="ar-SA" sz="1800" b="0">
                <a:solidFill>
                  <a:srgbClr val="8E99CC"/>
                </a:solidFill>
                <a:latin typeface="Readex Pro"/>
                <a:ea typeface="Readex Pro"/>
                <a:cs typeface="Readex Pro"/>
                <a:sym typeface="Readex Pro"/>
              </a:rPr>
              <a:t>◐ جزئي · حسب الشروط والميزات المعلنة حتى أكتوبر 2026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83F"/>
        </a:solidFill>
        <a:effectLst/>
      </p:bgPr>
    </p:bg>
    <p:spTree>
      <p:nvGrpSpPr>
        <p:cNvPr id="1" name=""/>
        <p:cNvGrpSpPr/>
        <p:nvPr/>
      </p:nvGrpSpPr>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09 · الأثر المتوقع · معيار تحقيق النفع</a:t>
            </a: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الأثر الذي نتوقعه</a:t>
            </a:r>
          </a:p>
        </p:txBody>
      </p:sp>
      <p:sp>
        <p:nvSpPr>
          <p:cNvPr id="539" name="Google Shape;539;p1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أثر متوقع نقيسه في تجربة مع الأسر، لا نتيجة مقيسة بعد</a:t>
            </a: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a:t>
            </a:fld>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9">
            <a:alphaModFix/>
          </a:blip>
          <a:srcRect/>
          <a:stretch/>
        </p:blipFill>
        <p:spPr>
          <a:xfrm>
            <a:off x="1066800" y="693967"/>
            <a:ext cx="3429002" cy="879015"/>
          </a:xfrm>
          <a:prstGeom prst="rect">
            <a:avLst/>
          </a:prstGeom>
          <a:noFill/>
          <a:ln>
            <a:noFill/>
          </a:ln>
        </p:spPr>
      </p:pic>
      <p:sp>
        <p:nvSpPr>
          <p:cNvPr id="551" name="Rounded Rectangle 550"/>
          <p:cNvSpPr/>
          <p:nvPr/>
        </p:nvSpPr>
        <p:spPr>
          <a:xfrm>
            <a:off x="12362688" y="3657600"/>
            <a:ext cx="4480560" cy="3794760"/>
          </a:xfrm>
          <a:prstGeom prst="roundRect">
            <a:avLst>
              <a:gd name="adj" fmla="val 7000"/>
            </a:avLst>
          </a:prstGeom>
          <a:solidFill>
            <a:srgbClr val="161D48"/>
          </a:solidFill>
          <a:ln w="12700">
            <a:solidFill>
              <a:srgbClr val="4A5590"/>
            </a:solidFill>
          </a:ln>
        </p:spPr>
        <p:txBody>
          <a:bodyPr rtlCol="0" anchor="ctr"/>
          <a:lstStyle/>
          <a:p/>
        </p:txBody>
      </p:sp>
      <p:sp>
        <p:nvSpPr>
          <p:cNvPr id="552" name="Oval 551"/>
          <p:cNvSpPr/>
          <p:nvPr/>
        </p:nvSpPr>
        <p:spPr>
          <a:xfrm>
            <a:off x="14054328" y="3886200"/>
            <a:ext cx="1097280" cy="1097280"/>
          </a:xfrm>
          <a:prstGeom prst="ellipse">
            <a:avLst/>
          </a:prstGeom>
          <a:solidFill>
            <a:srgbClr val="2EF2C2">
              <a:alpha val="14000"/>
            </a:srgbClr>
          </a:solidFill>
          <a:ln w="12700">
            <a:noFill/>
          </a:ln>
        </p:spPr>
        <p:txBody>
          <a:bodyPr rtlCol="0" anchor="ctr"/>
          <a:lstStyle/>
          <a:p/>
        </p:txBody>
      </p:sp>
      <p:pic>
        <p:nvPicPr>
          <p:cNvPr id="553" name="Picture 552" descr="image.png"/>
          <p:cNvPicPr>
            <a:picLocks noChangeAspect="1"/>
          </p:cNvPicPr>
          <p:nvPr/>
        </p:nvPicPr>
        <p:blipFill>
          <a:blip r:embed="rId2"/>
          <a:stretch>
            <a:fillRect/>
          </a:stretch>
        </p:blipFill>
        <p:spPr>
          <a:xfrm>
            <a:off x="14350594" y="4182466"/>
            <a:ext cx="504749" cy="504749"/>
          </a:xfrm>
          <a:prstGeom prst="rect">
            <a:avLst/>
          </a:prstGeom>
        </p:spPr>
      </p:pic>
      <p:sp>
        <p:nvSpPr>
          <p:cNvPr id="554" name="TextBox 553"/>
          <p:cNvSpPr txBox="1"/>
          <p:nvPr/>
        </p:nvSpPr>
        <p:spPr>
          <a:xfrm>
            <a:off x="12545568" y="5074920"/>
            <a:ext cx="4114800" cy="594360"/>
          </a:xfrm>
          <a:prstGeom prst="rect">
            <a:avLst/>
          </a:prstGeom>
          <a:noFill/>
        </p:spPr>
        <p:txBody>
          <a:bodyPr wrap="square" lIns="0" rIns="0" tIns="0" bIns="0" anchor="t">
            <a:spAutoFit/>
          </a:bodyPr>
          <a:lstStyle/>
          <a:p>
            <a:pPr algn="ctr" rtl="1"/>
            <a:r>
              <a:rPr lang="ar-SA" sz="2600" b="1">
                <a:solidFill>
                  <a:srgbClr val="2EF2C2"/>
                </a:solidFill>
                <a:latin typeface="Readex Pro"/>
                <a:ea typeface="Readex Pro"/>
                <a:cs typeface="Readex Pro"/>
                <a:sym typeface="Readex Pro"/>
              </a:rPr>
              <a:t>الطفل</a:t>
            </a:r>
          </a:p>
        </p:txBody>
      </p:sp>
      <p:sp>
        <p:nvSpPr>
          <p:cNvPr id="555" name="TextBox 554"/>
          <p:cNvSpPr txBox="1"/>
          <p:nvPr/>
        </p:nvSpPr>
        <p:spPr>
          <a:xfrm>
            <a:off x="12637008" y="5760720"/>
            <a:ext cx="3931920" cy="1645920"/>
          </a:xfrm>
          <a:prstGeom prst="rect">
            <a:avLst/>
          </a:prstGeom>
          <a:noFill/>
        </p:spPr>
        <p:txBody>
          <a:bodyPr wrap="square" lIns="0" rIns="0" tIns="0" bIns="0" anchor="t">
            <a:spAutoFit/>
          </a:bodyPr>
          <a:lstStyle/>
          <a:p>
            <a:pPr algn="ctr" rtl="1"/>
            <a:r>
              <a:rPr lang="ar-SA" sz="1800" b="0">
                <a:solidFill>
                  <a:srgbClr val="F2F4FF"/>
                </a:solidFill>
                <a:latin typeface="Readex Pro"/>
                <a:ea typeface="Readex Pro"/>
                <a:cs typeface="Readex Pro"/>
                <a:sym typeface="Readex Pro"/>
              </a:rPr>
              <a:t>يسأل بأمان عن كل شيء</a:t>
            </a:r>
          </a:p>
          <a:p>
            <a:pPr algn="ctr" rtl="1"/>
            <a:r>
              <a:rPr lang="ar-SA" sz="1800" b="0">
                <a:solidFill>
                  <a:srgbClr val="F2F4FF"/>
                </a:solidFill>
                <a:latin typeface="Readex Pro"/>
                <a:ea typeface="Readex Pro"/>
                <a:cs typeface="Readex Pro"/>
                <a:sym typeface="Readex Pro"/>
              </a:rPr>
              <a:t>يمارس قيمة كل يوم</a:t>
            </a:r>
          </a:p>
          <a:p>
            <a:pPr algn="ctr" rtl="1"/>
            <a:r>
              <a:rPr lang="ar-SA" sz="1800" b="0">
                <a:solidFill>
                  <a:srgbClr val="F2F4FF"/>
                </a:solidFill>
                <a:latin typeface="Readex Pro"/>
                <a:ea typeface="Readex Pro"/>
                <a:cs typeface="Readex Pro"/>
                <a:sym typeface="Readex Pro"/>
              </a:rPr>
              <a:t>يعرف مصدر ما يتعلمه</a:t>
            </a:r>
          </a:p>
        </p:txBody>
      </p:sp>
      <p:sp>
        <p:nvSpPr>
          <p:cNvPr id="556" name="Rounded Rectangle 555"/>
          <p:cNvSpPr/>
          <p:nvPr/>
        </p:nvSpPr>
        <p:spPr>
          <a:xfrm>
            <a:off x="6885432" y="3657600"/>
            <a:ext cx="4480560" cy="3794760"/>
          </a:xfrm>
          <a:prstGeom prst="roundRect">
            <a:avLst>
              <a:gd name="adj" fmla="val 7000"/>
            </a:avLst>
          </a:prstGeom>
          <a:solidFill>
            <a:srgbClr val="161D48"/>
          </a:solidFill>
          <a:ln w="12700">
            <a:solidFill>
              <a:srgbClr val="2EF2C2"/>
            </a:solidFill>
          </a:ln>
        </p:spPr>
        <p:txBody>
          <a:bodyPr rtlCol="0" anchor="ctr"/>
          <a:lstStyle/>
          <a:p/>
        </p:txBody>
      </p:sp>
      <p:sp>
        <p:nvSpPr>
          <p:cNvPr id="557" name="Oval 556"/>
          <p:cNvSpPr/>
          <p:nvPr/>
        </p:nvSpPr>
        <p:spPr>
          <a:xfrm>
            <a:off x="8577072" y="3886200"/>
            <a:ext cx="1097280" cy="1097280"/>
          </a:xfrm>
          <a:prstGeom prst="ellipse">
            <a:avLst/>
          </a:prstGeom>
          <a:solidFill>
            <a:srgbClr val="2EF2C2">
              <a:alpha val="14000"/>
            </a:srgbClr>
          </a:solidFill>
          <a:ln w="12700">
            <a:noFill/>
          </a:ln>
        </p:spPr>
        <p:txBody>
          <a:bodyPr rtlCol="0" anchor="ctr"/>
          <a:lstStyle/>
          <a:p/>
        </p:txBody>
      </p:sp>
      <p:pic>
        <p:nvPicPr>
          <p:cNvPr id="558" name="Picture 557" descr="image.png"/>
          <p:cNvPicPr>
            <a:picLocks noChangeAspect="1"/>
          </p:cNvPicPr>
          <p:nvPr/>
        </p:nvPicPr>
        <p:blipFill>
          <a:blip r:embed="rId11"/>
          <a:stretch>
            <a:fillRect/>
          </a:stretch>
        </p:blipFill>
        <p:spPr>
          <a:xfrm>
            <a:off x="8873338" y="4182466"/>
            <a:ext cx="504749" cy="504749"/>
          </a:xfrm>
          <a:prstGeom prst="rect">
            <a:avLst/>
          </a:prstGeom>
        </p:spPr>
      </p:pic>
      <p:sp>
        <p:nvSpPr>
          <p:cNvPr id="559" name="TextBox 558"/>
          <p:cNvSpPr txBox="1"/>
          <p:nvPr/>
        </p:nvSpPr>
        <p:spPr>
          <a:xfrm>
            <a:off x="7068312" y="5074920"/>
            <a:ext cx="4114800" cy="594360"/>
          </a:xfrm>
          <a:prstGeom prst="rect">
            <a:avLst/>
          </a:prstGeom>
          <a:noFill/>
        </p:spPr>
        <p:txBody>
          <a:bodyPr wrap="square" lIns="0" rIns="0" tIns="0" bIns="0" anchor="t">
            <a:spAutoFit/>
          </a:bodyPr>
          <a:lstStyle/>
          <a:p>
            <a:pPr algn="ctr" rtl="1"/>
            <a:r>
              <a:rPr lang="ar-SA" sz="2600" b="1">
                <a:solidFill>
                  <a:srgbClr val="2EF2C2"/>
                </a:solidFill>
                <a:latin typeface="Readex Pro"/>
                <a:ea typeface="Readex Pro"/>
                <a:cs typeface="Readex Pro"/>
                <a:sym typeface="Readex Pro"/>
              </a:rPr>
              <a:t>الأسرة</a:t>
            </a:r>
          </a:p>
        </p:txBody>
      </p:sp>
      <p:sp>
        <p:nvSpPr>
          <p:cNvPr id="560" name="TextBox 559"/>
          <p:cNvSpPr txBox="1"/>
          <p:nvPr/>
        </p:nvSpPr>
        <p:spPr>
          <a:xfrm>
            <a:off x="7159752" y="5760720"/>
            <a:ext cx="3931920" cy="1645920"/>
          </a:xfrm>
          <a:prstGeom prst="rect">
            <a:avLst/>
          </a:prstGeom>
          <a:noFill/>
        </p:spPr>
        <p:txBody>
          <a:bodyPr wrap="square" lIns="0" rIns="0" tIns="0" bIns="0" anchor="t">
            <a:spAutoFit/>
          </a:bodyPr>
          <a:lstStyle/>
          <a:p>
            <a:pPr algn="ctr" rtl="1"/>
            <a:r>
              <a:rPr lang="ar-SA" sz="1800" b="0">
                <a:solidFill>
                  <a:srgbClr val="F2F4FF"/>
                </a:solidFill>
                <a:latin typeface="Readex Pro"/>
                <a:ea typeface="Readex Pro"/>
                <a:cs typeface="Readex Pro"/>
                <a:sym typeface="Readex Pro"/>
              </a:rPr>
              <a:t>حوار أكثر مع الوالدين</a:t>
            </a:r>
          </a:p>
          <a:p>
            <a:pPr algn="ctr" rtl="1"/>
            <a:r>
              <a:rPr lang="ar-SA" sz="1800" b="0">
                <a:solidFill>
                  <a:srgbClr val="F2F4FF"/>
                </a:solidFill>
                <a:latin typeface="Readex Pro"/>
                <a:ea typeface="Readex Pro"/>
                <a:cs typeface="Readex Pro"/>
                <a:sym typeface="Readex Pro"/>
              </a:rPr>
              <a:t>والدان مطمئنان بلا تجسس</a:t>
            </a:r>
          </a:p>
          <a:p>
            <a:pPr algn="ctr" rtl="1"/>
            <a:r>
              <a:rPr lang="ar-SA" sz="1800" b="0">
                <a:solidFill>
                  <a:srgbClr val="F2F4FF"/>
                </a:solidFill>
                <a:latin typeface="Readex Pro"/>
                <a:ea typeface="Readex Pro"/>
                <a:cs typeface="Readex Pro"/>
                <a:sym typeface="Readex Pro"/>
              </a:rPr>
              <a:t>مهام يشارك فيها الوالدان</a:t>
            </a:r>
          </a:p>
        </p:txBody>
      </p:sp>
      <p:sp>
        <p:nvSpPr>
          <p:cNvPr id="561" name="Left Arrow 560"/>
          <p:cNvSpPr/>
          <p:nvPr/>
        </p:nvSpPr>
        <p:spPr>
          <a:xfrm>
            <a:off x="11530584" y="5349240"/>
            <a:ext cx="667512" cy="411480"/>
          </a:xfrm>
          <a:prstGeom prst="leftArrow">
            <a:avLst/>
          </a:prstGeom>
          <a:solidFill>
            <a:srgbClr val="2EF2C2">
              <a:alpha val="80000"/>
            </a:srgbClr>
          </a:solidFill>
          <a:ln w="12700">
            <a:noFill/>
          </a:ln>
        </p:spPr>
        <p:txBody>
          <a:bodyPr rtlCol="0" anchor="ctr"/>
          <a:lstStyle/>
          <a:p>
            <a:pPr algn="ctr"/>
          </a:p>
        </p:txBody>
      </p:sp>
      <p:sp>
        <p:nvSpPr>
          <p:cNvPr id="562" name="Rounded Rectangle 561"/>
          <p:cNvSpPr/>
          <p:nvPr/>
        </p:nvSpPr>
        <p:spPr>
          <a:xfrm>
            <a:off x="1408176" y="3657600"/>
            <a:ext cx="4480560" cy="3794760"/>
          </a:xfrm>
          <a:prstGeom prst="roundRect">
            <a:avLst>
              <a:gd name="adj" fmla="val 7000"/>
            </a:avLst>
          </a:prstGeom>
          <a:solidFill>
            <a:srgbClr val="161D48"/>
          </a:solidFill>
          <a:ln w="12700">
            <a:solidFill>
              <a:srgbClr val="4A5590"/>
            </a:solidFill>
          </a:ln>
        </p:spPr>
        <p:txBody>
          <a:bodyPr rtlCol="0" anchor="ctr"/>
          <a:lstStyle/>
          <a:p/>
        </p:txBody>
      </p:sp>
      <p:sp>
        <p:nvSpPr>
          <p:cNvPr id="563" name="Oval 562"/>
          <p:cNvSpPr/>
          <p:nvPr/>
        </p:nvSpPr>
        <p:spPr>
          <a:xfrm>
            <a:off x="3099816" y="3886200"/>
            <a:ext cx="1097280" cy="1097280"/>
          </a:xfrm>
          <a:prstGeom prst="ellipse">
            <a:avLst/>
          </a:prstGeom>
          <a:solidFill>
            <a:srgbClr val="2EF2C2">
              <a:alpha val="14000"/>
            </a:srgbClr>
          </a:solidFill>
          <a:ln w="12700">
            <a:noFill/>
          </a:ln>
        </p:spPr>
        <p:txBody>
          <a:bodyPr rtlCol="0" anchor="ctr"/>
          <a:lstStyle/>
          <a:p/>
        </p:txBody>
      </p:sp>
      <p:pic>
        <p:nvPicPr>
          <p:cNvPr id="564" name="Picture 563" descr="image.png"/>
          <p:cNvPicPr>
            <a:picLocks noChangeAspect="1"/>
          </p:cNvPicPr>
          <p:nvPr/>
        </p:nvPicPr>
        <p:blipFill>
          <a:blip r:embed="rId12"/>
          <a:stretch>
            <a:fillRect/>
          </a:stretch>
        </p:blipFill>
        <p:spPr>
          <a:xfrm>
            <a:off x="3396082" y="4182466"/>
            <a:ext cx="504749" cy="504749"/>
          </a:xfrm>
          <a:prstGeom prst="rect">
            <a:avLst/>
          </a:prstGeom>
        </p:spPr>
      </p:pic>
      <p:sp>
        <p:nvSpPr>
          <p:cNvPr id="565" name="TextBox 564"/>
          <p:cNvSpPr txBox="1"/>
          <p:nvPr/>
        </p:nvSpPr>
        <p:spPr>
          <a:xfrm>
            <a:off x="1591056" y="5074920"/>
            <a:ext cx="4114800" cy="594360"/>
          </a:xfrm>
          <a:prstGeom prst="rect">
            <a:avLst/>
          </a:prstGeom>
          <a:noFill/>
        </p:spPr>
        <p:txBody>
          <a:bodyPr wrap="square" lIns="0" rIns="0" tIns="0" bIns="0" anchor="t">
            <a:spAutoFit/>
          </a:bodyPr>
          <a:lstStyle/>
          <a:p>
            <a:pPr algn="ctr" rtl="1"/>
            <a:r>
              <a:rPr lang="ar-SA" sz="2600" b="1">
                <a:solidFill>
                  <a:srgbClr val="2EF2C2"/>
                </a:solidFill>
                <a:latin typeface="Readex Pro"/>
                <a:ea typeface="Readex Pro"/>
                <a:cs typeface="Readex Pro"/>
                <a:sym typeface="Readex Pro"/>
              </a:rPr>
              <a:t>المجتمع</a:t>
            </a:r>
          </a:p>
        </p:txBody>
      </p:sp>
      <p:sp>
        <p:nvSpPr>
          <p:cNvPr id="566" name="TextBox 565"/>
          <p:cNvSpPr txBox="1"/>
          <p:nvPr/>
        </p:nvSpPr>
        <p:spPr>
          <a:xfrm>
            <a:off x="1682496" y="5760720"/>
            <a:ext cx="3931920" cy="1645920"/>
          </a:xfrm>
          <a:prstGeom prst="rect">
            <a:avLst/>
          </a:prstGeom>
          <a:noFill/>
        </p:spPr>
        <p:txBody>
          <a:bodyPr wrap="square" lIns="0" rIns="0" tIns="0" bIns="0" anchor="t">
            <a:spAutoFit/>
          </a:bodyPr>
          <a:lstStyle/>
          <a:p>
            <a:pPr algn="ctr" rtl="1"/>
            <a:r>
              <a:rPr lang="ar-SA" sz="1800" b="0">
                <a:solidFill>
                  <a:srgbClr val="F2F4FF"/>
                </a:solidFill>
                <a:latin typeface="Readex Pro"/>
                <a:ea typeface="Readex Pro"/>
                <a:cs typeface="Readex Pro"/>
                <a:sym typeface="Readex Pro"/>
              </a:rPr>
              <a:t>جيل يتحقق من المصدر</a:t>
            </a:r>
          </a:p>
          <a:p>
            <a:pPr algn="ctr" rtl="1"/>
            <a:r>
              <a:rPr lang="ar-SA" sz="1800" b="0">
                <a:solidFill>
                  <a:srgbClr val="F2F4FF"/>
                </a:solidFill>
                <a:latin typeface="Readex Pro"/>
                <a:ea typeface="Readex Pro"/>
                <a:cs typeface="Readex Pro"/>
                <a:sym typeface="Readex Pro"/>
              </a:rPr>
              <a:t>محتوى إسلامي موثوق للأطفال</a:t>
            </a:r>
          </a:p>
          <a:p>
            <a:pPr algn="ctr" rtl="1"/>
            <a:r>
              <a:rPr lang="ar-SA" sz="1800" b="0">
                <a:solidFill>
                  <a:srgbClr val="F2F4FF"/>
                </a:solidFill>
                <a:latin typeface="Readex Pro"/>
                <a:ea typeface="Readex Pro"/>
                <a:cs typeface="Readex Pro"/>
                <a:sym typeface="Readex Pro"/>
              </a:rPr>
              <a:t>بديل آمن عن الرفقاء العامين</a:t>
            </a:r>
          </a:p>
        </p:txBody>
      </p:sp>
      <p:sp>
        <p:nvSpPr>
          <p:cNvPr id="567" name="Left Arrow 566"/>
          <p:cNvSpPr/>
          <p:nvPr/>
        </p:nvSpPr>
        <p:spPr>
          <a:xfrm>
            <a:off x="6053328" y="5349240"/>
            <a:ext cx="667512" cy="411480"/>
          </a:xfrm>
          <a:prstGeom prst="leftArrow">
            <a:avLst/>
          </a:prstGeom>
          <a:solidFill>
            <a:srgbClr val="2EF2C2">
              <a:alpha val="80000"/>
            </a:srgbClr>
          </a:solidFill>
          <a:ln w="12700">
            <a:noFill/>
          </a:ln>
        </p:spPr>
        <p:txBody>
          <a:bodyPr rtlCol="0" anchor="ctr"/>
          <a:lstStyle/>
          <a:p>
            <a:pPr algn="ctr"/>
          </a:p>
        </p:txBody>
      </p:sp>
      <p:sp>
        <p:nvSpPr>
          <p:cNvPr id="568" name="Rounded Rectangle 567"/>
          <p:cNvSpPr/>
          <p:nvPr/>
        </p:nvSpPr>
        <p:spPr>
          <a:xfrm>
            <a:off x="1408176" y="7772400"/>
            <a:ext cx="15435072" cy="914400"/>
          </a:xfrm>
          <a:prstGeom prst="roundRect">
            <a:avLst>
              <a:gd name="adj" fmla="val 20000"/>
            </a:avLst>
          </a:prstGeom>
          <a:solidFill>
            <a:srgbClr val="6150EA">
              <a:alpha val="25000"/>
            </a:srgbClr>
          </a:solidFill>
          <a:ln w="12700">
            <a:solidFill>
              <a:srgbClr val="6150EA"/>
            </a:solidFill>
          </a:ln>
        </p:spPr>
        <p:txBody>
          <a:bodyPr rtlCol="0" anchor="ctr"/>
          <a:lstStyle/>
          <a:p/>
        </p:txBody>
      </p:sp>
      <p:sp>
        <p:nvSpPr>
          <p:cNvPr id="569" name="TextBox 568"/>
          <p:cNvSpPr txBox="1"/>
          <p:nvPr/>
        </p:nvSpPr>
        <p:spPr>
          <a:xfrm>
            <a:off x="1773936" y="7772400"/>
            <a:ext cx="14703552" cy="914400"/>
          </a:xfrm>
          <a:prstGeom prst="rect">
            <a:avLst/>
          </a:prstGeom>
          <a:noFill/>
        </p:spPr>
        <p:txBody>
          <a:bodyPr wrap="square" lIns="0" rIns="0" tIns="0" bIns="0" anchor="ctr">
            <a:spAutoFit/>
          </a:bodyPr>
          <a:lstStyle/>
          <a:p>
            <a:pPr algn="ctr" rtl="1"/>
            <a:r>
              <a:rPr lang="ar-SA" sz="2000" b="1">
                <a:solidFill>
                  <a:srgbClr val="2EF2C2"/>
                </a:solidFill>
                <a:latin typeface="Readex Pro"/>
                <a:ea typeface="Readex Pro"/>
                <a:cs typeface="Readex Pro"/>
                <a:sym typeface="Readex Pro"/>
              </a:rPr>
              <a:t>كيف سنقيسه: </a:t>
            </a:r>
            <a:r>
              <a:rPr lang="ar-SA" sz="2000" b="0">
                <a:solidFill>
                  <a:srgbClr val="F2F4FF"/>
                </a:solidFill>
                <a:latin typeface="Readex Pro"/>
                <a:ea typeface="Readex Pro"/>
                <a:cs typeface="Readex Pro"/>
                <a:sym typeface="Readex Pro"/>
              </a:rPr>
              <a:t>القيم التي يمارسها الطفل، والمهام التي يؤكدها الوالدان، والحوارات التي يبدؤونها</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2EF2C2"/>
      </a:hlink>
      <a:folHlink>
        <a:srgbClr val="2EF2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41</Slides>
  <Notes>20</Notes>
  <HiddenSlides>0</HiddenSlide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الصديق الصدوق</vt:lpstr>
      <vt:lpstr>أين تجد كل معيار؟</vt:lpstr>
      <vt:lpstr>الطفل يسأل الذكاء الاصطناعي عن كل شيء</vt:lpstr>
      <vt:lpstr>الحل: الصديق الصدوق</vt:lpstr>
      <vt:lpstr>ما المميز ؟</vt:lpstr>
      <vt:lpstr>تجربة الطفل: يتكلم، فيسمع الصديق ويرد</vt:lpstr>
      <vt:lpstr>بطاقة المصدر: ما يراه الطفل حين يسأل</vt:lpstr>
      <vt:lpstr>الوالدان يريان ما رآه طفلهما</vt:lpstr>
      <vt:lpstr>كل خصائص الصديق، بلمحة</vt:lpstr>
      <vt:lpstr>38 قيمة يعيشها الطفل</vt:lpstr>
      <vt:lpstr>لا مصدر، لا جواب ولا فتوى، ولا نص يكتب من ذاكرة الAI</vt:lpstr>
      <vt:lpstr>مصادر معتمدة فقط: 273 عنصرا مراجعا من طالب علم</vt:lpstr>
      <vt:lpstr>كيف يعمل الصديق؟</vt:lpstr>
      <vt:lpstr>التقنية: مكونات مجربة، وضوابط بنيناها</vt:lpstr>
      <vt:lpstr>السلامة: الطفل أولا</vt:lpstr>
      <vt:lpstr>النتائج: مصدر حين يُطلب، وصدق حين لا يوجد</vt:lpstr>
      <vt:lpstr>ما بنيناه في 3 أيام</vt:lpstr>
      <vt:lpstr>جاهز للتشغيل، بتكلفة معروفة</vt:lpstr>
      <vt:lpstr>ما نعرف أنه ناقص، وما بعده</vt:lpstr>
      <vt:lpstr>حسابات الأسرة، وحسابات جاهزة للجنة</vt:lpstr>
      <vt:lpstr>فريق العمل</vt:lpstr>
      <vt:lpstr>تحقق بنفسك</vt:lpstr>
      <vt:lpstr>شكراً لكم</vt:lpstr>
      <vt:lpstr>الأدلة التفصيلية</vt:lpstr>
      <vt:lpstr>كيف يعمل الصديق؟</vt:lpstr>
      <vt:lpstr>البنية التقنية للوكيل الصوتي</vt:lpstr>
      <vt:lpstr>بنك المحتوى: مصدر معتمد لكل عنصر</vt:lpstr>
      <vt:lpstr>منهج المحتوى والسلامة</vt:lpstr>
      <vt:lpstr>سير مراجعة المحتوى</vt:lpstr>
      <vt:lpstr>شخصية تسمع وتفكر وتتكلم</vt:lpstr>
      <vt:lpstr>سهل للطفل، ومتاح بلغتين</vt:lpstr>
      <vt:lpstr>توقيت المصدر: الجدول الكامل</vt:lpstr>
      <vt:lpstr>دقة تنبيه الوالدين</vt:lpstr>
      <vt:lpstr>نتائج مقيسة: قبل العمل وبعده</vt:lpstr>
      <vt:lpstr>بوابة جودة المحادثة: قبل وبعد</vt:lpstr>
      <vt:lpstr>مؤشر القائد التقريبي: الدرس حين يطلبه الطفل فقط</vt:lpstr>
      <vt:lpstr>التشغيل والتكلفة</vt:lpstr>
      <vt:lpstr>تقدير التكلفة: الجلسة الواحدة</vt:lpstr>
      <vt:lpstr>تقدير التكلفة: الشهر والافتراضات</vt:lpstr>
      <vt:lpstr>ما كان موجودا، وما بنيناه في التحدي</vt:lpstr>
      <vt:lpstr>خارطة الطريق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الصديق الصدوق</dc:title>
  <dc:subject>تحدي الذكاء الاصطناعي في خدمة المحتوى الإسلامي</dc:subject>
  <cp:lastModifiedBy>python-pptx</cp:lastModifiedBy>
  <cp:revision>178</cp:revision>
  <dcterms:modified xsi:type="dcterms:W3CDTF">2026-10-06T19:04:10Z</dcterms:modified>
</cp:coreProperties>
</file>